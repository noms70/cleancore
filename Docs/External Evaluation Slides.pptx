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3" r:id="rId8"/>
    <p:sldId id="264" r:id="rId9"/>
    <p:sldId id="265" r:id="rId10"/>
    <p:sldId id="266" r:id="rId11"/>
    <p:sldId id="268" r:id="rId12"/>
    <p:sldId id="269" r:id="rId13"/>
    <p:sldId id="270" r:id="rId14"/>
    <p:sldId id="271" r:id="rId15"/>
    <p:sldId id="272" r:id="rId16"/>
    <p:sldId id="276" r:id="rId17"/>
    <p:sldId id="277"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92" d="100"/>
          <a:sy n="92" d="100"/>
        </p:scale>
        <p:origin x="307"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Distance (km/day)</c:v>
                </c:pt>
              </c:strCache>
            </c:strRef>
          </c:tx>
          <c:spPr>
            <a:solidFill>
              <a:srgbClr val="028090"/>
            </a:solidFill>
            <a:effectLst/>
          </c:spPr>
          <c:invertIfNegative val="0"/>
          <c:dLbls>
            <c:numFmt formatCode="#,##0" sourceLinked="0"/>
            <c:spPr>
              <a:noFill/>
              <a:ln>
                <a:noFill/>
              </a:ln>
              <a:effectLst/>
            </c:spPr>
            <c:txPr>
              <a:bodyPr/>
              <a:lstStyle/>
              <a:p>
                <a:pPr>
                  <a:defRPr sz="1000" b="0" i="0" u="none" strike="noStrike">
                    <a:solidFill>
                      <a:srgbClr val="0B1F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Fixed Route</c:v>
                </c:pt>
                <c:pt idx="1">
                  <c:v>Demand-Driven</c:v>
                </c:pt>
              </c:strCache>
            </c:strRef>
          </c:cat>
          <c:val>
            <c:numRef>
              <c:f>Sheet1!$B$2:$B$3</c:f>
              <c:numCache>
                <c:formatCode>General</c:formatCode>
                <c:ptCount val="2"/>
                <c:pt idx="0">
                  <c:v>180</c:v>
                </c:pt>
                <c:pt idx="1">
                  <c:v>118</c:v>
                </c:pt>
              </c:numCache>
            </c:numRef>
          </c:val>
          <c:extLst>
            <c:ext xmlns:c16="http://schemas.microsoft.com/office/drawing/2014/chart" uri="{C3380CC4-5D6E-409C-BE32-E72D297353CC}">
              <c16:uniqueId val="{00000000-B932-4084-B2A7-D8E164A7258B}"/>
            </c:ext>
          </c:extLst>
        </c:ser>
        <c:ser>
          <c:idx val="1"/>
          <c:order val="1"/>
          <c:tx>
            <c:strRef>
              <c:f>Sheet1!$C$1</c:f>
              <c:strCache>
                <c:ptCount val="1"/>
                <c:pt idx="0">
                  <c:v>CO₂ (kg/day)</c:v>
                </c:pt>
              </c:strCache>
            </c:strRef>
          </c:tx>
          <c:spPr>
            <a:solidFill>
              <a:srgbClr val="00A896"/>
            </a:solidFill>
            <a:effectLst/>
          </c:spPr>
          <c:invertIfNegative val="0"/>
          <c:dLbls>
            <c:numFmt formatCode="#,##0" sourceLinked="0"/>
            <c:spPr>
              <a:noFill/>
              <a:ln>
                <a:noFill/>
              </a:ln>
              <a:effectLst/>
            </c:spPr>
            <c:txPr>
              <a:bodyPr/>
              <a:lstStyle/>
              <a:p>
                <a:pPr>
                  <a:defRPr sz="1000" b="0" i="0" u="none" strike="noStrike">
                    <a:solidFill>
                      <a:srgbClr val="0B1F2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Fixed Route</c:v>
                </c:pt>
                <c:pt idx="1">
                  <c:v>Demand-Driven</c:v>
                </c:pt>
              </c:strCache>
            </c:strRef>
          </c:cat>
          <c:val>
            <c:numRef>
              <c:f>Sheet1!$C$2:$C$3</c:f>
              <c:numCache>
                <c:formatCode>General</c:formatCode>
                <c:ptCount val="2"/>
                <c:pt idx="0">
                  <c:v>171</c:v>
                </c:pt>
                <c:pt idx="1">
                  <c:v>112</c:v>
                </c:pt>
              </c:numCache>
            </c:numRef>
          </c:val>
          <c:extLst>
            <c:ext xmlns:c16="http://schemas.microsoft.com/office/drawing/2014/chart" uri="{C3380CC4-5D6E-409C-BE32-E72D297353CC}">
              <c16:uniqueId val="{00000001-B932-4084-B2A7-D8E164A7258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C6B73"/>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3"/>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100">
              <a:solidFill>
                <a:srgbClr val="5C6B73"/>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5763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Ayesha Nadeem and Ayesha Noman, presenting CleanCore — an end-to-end platform that uses computer vision and route optimisation to make municipal waste collection smarter. Over the next 25 minutes I will walk you through the problem, the architecture, the engineering decisions, and a live demo.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Conventional municipal waste collection runs on fixed schedules — trucks roll whether bins are full or empty. The dispatcher has no visibility into actual fill state, the worker has no route intelligence, and the city has no audit trail. This is the operational gap CleanCore closes.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not selling a moonshot. Demand-driven waste collection is a proven optimisation in European municipal pilots. What is missing in our region is an affordable, integrated platform — CleanCore is that platform.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collapses to four verbs. Everything else in this deck is how we make those four verbs reliable, real-time, and compliant.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boxes, three protocols. Admin and worker tiers do not talk to each other directly — they coordinate exclusively through Firestore. FastAPI is invoked for the heavy lifting: AI inference, route generation, and batch recomputation. Notice Firestore sits at the center as the single shared state.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tier picks the framework where it is strongest: React for a data-dense admin UI, FastAPI for low-latency ML serving, Flutter for a single mobile codebase. Firestore is the glue.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one-worker-per-area rule is not enforced in the UI alone — it lives in the FastAPI create-user endpoint, which queries Firestore for any active worker on that area before writing. The UI just surfaces the server-side error.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admin never types the fill level — they confirm what the model reports. This keeps data entry consistent across bins. The model's confidence score is shown so the admin can override low-confidence cases.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run two specialised models instead of one multi-task model so each can be retrained independently — the waste classifier evolves with new categories without disturbing the fill regressor. The hot-swap endpoint means the admin can upgrade a model without redeploying the backend.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the platform feels alive. The admin is in a browser, the worker is on a phone in the field, and a policy change propagates end-to-end in well under a second without either side polling.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Greedy alone is fast but suboptimal; 2-opt alone is too slow from a random start. Greedy gives 2-opt a good starting point, so convergence is fast in practice. The atomic lock prevents two workers from racing to the same critical bin — Firestore's transaction primitive does the heavy lifting.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chose to encode the German municipal noise regulation specifically because it is a real, citable rule that proves the architecture can carry domain regulation. The same pattern extends to any jurisdiction-specific constraint.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notification channels look redundant but they are not — push handles backgrounded apps, the snackbar handles the foregrounded case where the OS suppresses push. Idempotency keys make it safe to receive both.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workers see things the photo at registration time cannot capture — a bin physically blocked by parked cars, a hazardous chemical spill. This closes the feedback loop back to the dispatcher.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logs are append-only and serve two audiences — operations review for the dispatcher, and forensic audit for compliance. The before/after diff means a missed pickup can always be traced to a specific decision.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model already supports most of these — collaborative routing only needs the lock to become a shared list, and dynamic re-optimisation only needs a trigger from the FCM event into a re-plan. The hard product question is which of these a real municipality would pay for first.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ready to take questions on any of these areas, or on anything else from the deck or demo.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786384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 name="Shape 1"/>
          <p:cNvSpPr/>
          <p:nvPr/>
        </p:nvSpPr>
        <p:spPr>
          <a:xfrm>
            <a:off x="827532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 name="Shape 2"/>
          <p:cNvSpPr/>
          <p:nvPr/>
        </p:nvSpPr>
        <p:spPr>
          <a:xfrm>
            <a:off x="868680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 name="Shape 3"/>
          <p:cNvSpPr/>
          <p:nvPr/>
        </p:nvSpPr>
        <p:spPr>
          <a:xfrm>
            <a:off x="909828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 name="Shape 4"/>
          <p:cNvSpPr/>
          <p:nvPr/>
        </p:nvSpPr>
        <p:spPr>
          <a:xfrm>
            <a:off x="950976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 name="Shape 5"/>
          <p:cNvSpPr/>
          <p:nvPr/>
        </p:nvSpPr>
        <p:spPr>
          <a:xfrm>
            <a:off x="992124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8" name="Shape 6"/>
          <p:cNvSpPr/>
          <p:nvPr/>
        </p:nvSpPr>
        <p:spPr>
          <a:xfrm>
            <a:off x="1033272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9" name="Shape 7"/>
          <p:cNvSpPr/>
          <p:nvPr/>
        </p:nvSpPr>
        <p:spPr>
          <a:xfrm>
            <a:off x="1074420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0" name="Shape 8"/>
          <p:cNvSpPr/>
          <p:nvPr/>
        </p:nvSpPr>
        <p:spPr>
          <a:xfrm>
            <a:off x="1115568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1" name="Shape 9"/>
          <p:cNvSpPr/>
          <p:nvPr/>
        </p:nvSpPr>
        <p:spPr>
          <a:xfrm>
            <a:off x="786384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2" name="Shape 10"/>
          <p:cNvSpPr/>
          <p:nvPr/>
        </p:nvSpPr>
        <p:spPr>
          <a:xfrm>
            <a:off x="827532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3" name="Shape 11"/>
          <p:cNvSpPr/>
          <p:nvPr/>
        </p:nvSpPr>
        <p:spPr>
          <a:xfrm>
            <a:off x="868680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4" name="Shape 12"/>
          <p:cNvSpPr/>
          <p:nvPr/>
        </p:nvSpPr>
        <p:spPr>
          <a:xfrm>
            <a:off x="909828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5" name="Shape 13"/>
          <p:cNvSpPr/>
          <p:nvPr/>
        </p:nvSpPr>
        <p:spPr>
          <a:xfrm>
            <a:off x="950976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6" name="Shape 14"/>
          <p:cNvSpPr/>
          <p:nvPr/>
        </p:nvSpPr>
        <p:spPr>
          <a:xfrm>
            <a:off x="992124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7" name="Shape 15"/>
          <p:cNvSpPr/>
          <p:nvPr/>
        </p:nvSpPr>
        <p:spPr>
          <a:xfrm>
            <a:off x="1033272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8" name="Shape 16"/>
          <p:cNvSpPr/>
          <p:nvPr/>
        </p:nvSpPr>
        <p:spPr>
          <a:xfrm>
            <a:off x="1074420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9" name="Shape 17"/>
          <p:cNvSpPr/>
          <p:nvPr/>
        </p:nvSpPr>
        <p:spPr>
          <a:xfrm>
            <a:off x="1115568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0" name="Shape 18"/>
          <p:cNvSpPr/>
          <p:nvPr/>
        </p:nvSpPr>
        <p:spPr>
          <a:xfrm>
            <a:off x="786384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1" name="Shape 19"/>
          <p:cNvSpPr/>
          <p:nvPr/>
        </p:nvSpPr>
        <p:spPr>
          <a:xfrm>
            <a:off x="827532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2" name="Shape 20"/>
          <p:cNvSpPr/>
          <p:nvPr/>
        </p:nvSpPr>
        <p:spPr>
          <a:xfrm>
            <a:off x="868680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3" name="Shape 21"/>
          <p:cNvSpPr/>
          <p:nvPr/>
        </p:nvSpPr>
        <p:spPr>
          <a:xfrm>
            <a:off x="909828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4" name="Shape 22"/>
          <p:cNvSpPr/>
          <p:nvPr/>
        </p:nvSpPr>
        <p:spPr>
          <a:xfrm>
            <a:off x="950976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5" name="Shape 23"/>
          <p:cNvSpPr/>
          <p:nvPr/>
        </p:nvSpPr>
        <p:spPr>
          <a:xfrm>
            <a:off x="992124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6" name="Shape 24"/>
          <p:cNvSpPr/>
          <p:nvPr/>
        </p:nvSpPr>
        <p:spPr>
          <a:xfrm>
            <a:off x="1033272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7" name="Shape 25"/>
          <p:cNvSpPr/>
          <p:nvPr/>
        </p:nvSpPr>
        <p:spPr>
          <a:xfrm>
            <a:off x="1074420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8" name="Shape 26"/>
          <p:cNvSpPr/>
          <p:nvPr/>
        </p:nvSpPr>
        <p:spPr>
          <a:xfrm>
            <a:off x="1115568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9" name="Shape 27"/>
          <p:cNvSpPr/>
          <p:nvPr/>
        </p:nvSpPr>
        <p:spPr>
          <a:xfrm>
            <a:off x="786384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0" name="Shape 28"/>
          <p:cNvSpPr/>
          <p:nvPr/>
        </p:nvSpPr>
        <p:spPr>
          <a:xfrm>
            <a:off x="827532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1" name="Shape 29"/>
          <p:cNvSpPr/>
          <p:nvPr/>
        </p:nvSpPr>
        <p:spPr>
          <a:xfrm>
            <a:off x="868680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2" name="Shape 30"/>
          <p:cNvSpPr/>
          <p:nvPr/>
        </p:nvSpPr>
        <p:spPr>
          <a:xfrm>
            <a:off x="909828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3" name="Shape 31"/>
          <p:cNvSpPr/>
          <p:nvPr/>
        </p:nvSpPr>
        <p:spPr>
          <a:xfrm>
            <a:off x="950976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4" name="Shape 32"/>
          <p:cNvSpPr/>
          <p:nvPr/>
        </p:nvSpPr>
        <p:spPr>
          <a:xfrm>
            <a:off x="992124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5" name="Shape 33"/>
          <p:cNvSpPr/>
          <p:nvPr/>
        </p:nvSpPr>
        <p:spPr>
          <a:xfrm>
            <a:off x="1033272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6" name="Shape 34"/>
          <p:cNvSpPr/>
          <p:nvPr/>
        </p:nvSpPr>
        <p:spPr>
          <a:xfrm>
            <a:off x="1074420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7" name="Shape 35"/>
          <p:cNvSpPr/>
          <p:nvPr/>
        </p:nvSpPr>
        <p:spPr>
          <a:xfrm>
            <a:off x="1115568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8" name="Shape 36"/>
          <p:cNvSpPr/>
          <p:nvPr/>
        </p:nvSpPr>
        <p:spPr>
          <a:xfrm>
            <a:off x="786384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9" name="Shape 37"/>
          <p:cNvSpPr/>
          <p:nvPr/>
        </p:nvSpPr>
        <p:spPr>
          <a:xfrm>
            <a:off x="827532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0" name="Shape 38"/>
          <p:cNvSpPr/>
          <p:nvPr/>
        </p:nvSpPr>
        <p:spPr>
          <a:xfrm>
            <a:off x="868680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1" name="Shape 39"/>
          <p:cNvSpPr/>
          <p:nvPr/>
        </p:nvSpPr>
        <p:spPr>
          <a:xfrm>
            <a:off x="909828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2" name="Shape 40"/>
          <p:cNvSpPr/>
          <p:nvPr/>
        </p:nvSpPr>
        <p:spPr>
          <a:xfrm>
            <a:off x="950976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3" name="Shape 41"/>
          <p:cNvSpPr/>
          <p:nvPr/>
        </p:nvSpPr>
        <p:spPr>
          <a:xfrm>
            <a:off x="992124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4" name="Shape 42"/>
          <p:cNvSpPr/>
          <p:nvPr/>
        </p:nvSpPr>
        <p:spPr>
          <a:xfrm>
            <a:off x="1033272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5" name="Shape 43"/>
          <p:cNvSpPr/>
          <p:nvPr/>
        </p:nvSpPr>
        <p:spPr>
          <a:xfrm>
            <a:off x="1074420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6" name="Shape 44"/>
          <p:cNvSpPr/>
          <p:nvPr/>
        </p:nvSpPr>
        <p:spPr>
          <a:xfrm>
            <a:off x="1115568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7" name="Shape 45"/>
          <p:cNvSpPr/>
          <p:nvPr/>
        </p:nvSpPr>
        <p:spPr>
          <a:xfrm>
            <a:off x="786384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8" name="Shape 46"/>
          <p:cNvSpPr/>
          <p:nvPr/>
        </p:nvSpPr>
        <p:spPr>
          <a:xfrm>
            <a:off x="827532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9" name="Shape 47"/>
          <p:cNvSpPr/>
          <p:nvPr/>
        </p:nvSpPr>
        <p:spPr>
          <a:xfrm>
            <a:off x="868680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0" name="Shape 48"/>
          <p:cNvSpPr/>
          <p:nvPr/>
        </p:nvSpPr>
        <p:spPr>
          <a:xfrm>
            <a:off x="909828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1" name="Shape 49"/>
          <p:cNvSpPr/>
          <p:nvPr/>
        </p:nvSpPr>
        <p:spPr>
          <a:xfrm>
            <a:off x="950976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2" name="Shape 50"/>
          <p:cNvSpPr/>
          <p:nvPr/>
        </p:nvSpPr>
        <p:spPr>
          <a:xfrm>
            <a:off x="992124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3" name="Shape 51"/>
          <p:cNvSpPr/>
          <p:nvPr/>
        </p:nvSpPr>
        <p:spPr>
          <a:xfrm>
            <a:off x="1033272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4" name="Shape 52"/>
          <p:cNvSpPr/>
          <p:nvPr/>
        </p:nvSpPr>
        <p:spPr>
          <a:xfrm>
            <a:off x="1074420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5" name="Shape 53"/>
          <p:cNvSpPr/>
          <p:nvPr/>
        </p:nvSpPr>
        <p:spPr>
          <a:xfrm>
            <a:off x="1115568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6" name="Shape 54"/>
          <p:cNvSpPr/>
          <p:nvPr/>
        </p:nvSpPr>
        <p:spPr>
          <a:xfrm>
            <a:off x="786384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7" name="Shape 55"/>
          <p:cNvSpPr/>
          <p:nvPr/>
        </p:nvSpPr>
        <p:spPr>
          <a:xfrm>
            <a:off x="827532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8" name="Shape 56"/>
          <p:cNvSpPr/>
          <p:nvPr/>
        </p:nvSpPr>
        <p:spPr>
          <a:xfrm>
            <a:off x="868680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9" name="Shape 57"/>
          <p:cNvSpPr/>
          <p:nvPr/>
        </p:nvSpPr>
        <p:spPr>
          <a:xfrm>
            <a:off x="909828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0" name="Shape 58"/>
          <p:cNvSpPr/>
          <p:nvPr/>
        </p:nvSpPr>
        <p:spPr>
          <a:xfrm>
            <a:off x="950976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1" name="Shape 59"/>
          <p:cNvSpPr/>
          <p:nvPr/>
        </p:nvSpPr>
        <p:spPr>
          <a:xfrm>
            <a:off x="992124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2" name="Shape 60"/>
          <p:cNvSpPr/>
          <p:nvPr/>
        </p:nvSpPr>
        <p:spPr>
          <a:xfrm>
            <a:off x="1033272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3" name="Shape 61"/>
          <p:cNvSpPr/>
          <p:nvPr/>
        </p:nvSpPr>
        <p:spPr>
          <a:xfrm>
            <a:off x="1074420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4" name="Shape 62"/>
          <p:cNvSpPr/>
          <p:nvPr/>
        </p:nvSpPr>
        <p:spPr>
          <a:xfrm>
            <a:off x="1115568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5" name="Shape 63"/>
          <p:cNvSpPr/>
          <p:nvPr/>
        </p:nvSpPr>
        <p:spPr>
          <a:xfrm>
            <a:off x="786384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6" name="Shape 64"/>
          <p:cNvSpPr/>
          <p:nvPr/>
        </p:nvSpPr>
        <p:spPr>
          <a:xfrm>
            <a:off x="827532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7" name="Shape 65"/>
          <p:cNvSpPr/>
          <p:nvPr/>
        </p:nvSpPr>
        <p:spPr>
          <a:xfrm>
            <a:off x="868680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8" name="Shape 66"/>
          <p:cNvSpPr/>
          <p:nvPr/>
        </p:nvSpPr>
        <p:spPr>
          <a:xfrm>
            <a:off x="909828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9" name="Shape 67"/>
          <p:cNvSpPr/>
          <p:nvPr/>
        </p:nvSpPr>
        <p:spPr>
          <a:xfrm>
            <a:off x="950976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0" name="Shape 68"/>
          <p:cNvSpPr/>
          <p:nvPr/>
        </p:nvSpPr>
        <p:spPr>
          <a:xfrm>
            <a:off x="992124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1" name="Shape 69"/>
          <p:cNvSpPr/>
          <p:nvPr/>
        </p:nvSpPr>
        <p:spPr>
          <a:xfrm>
            <a:off x="1033272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2" name="Shape 70"/>
          <p:cNvSpPr/>
          <p:nvPr/>
        </p:nvSpPr>
        <p:spPr>
          <a:xfrm>
            <a:off x="1074420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3" name="Shape 71"/>
          <p:cNvSpPr/>
          <p:nvPr/>
        </p:nvSpPr>
        <p:spPr>
          <a:xfrm>
            <a:off x="1115568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4" name="Shape 72"/>
          <p:cNvSpPr/>
          <p:nvPr/>
        </p:nvSpPr>
        <p:spPr>
          <a:xfrm>
            <a:off x="786384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5" name="Shape 73"/>
          <p:cNvSpPr/>
          <p:nvPr/>
        </p:nvSpPr>
        <p:spPr>
          <a:xfrm>
            <a:off x="827532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6" name="Shape 74"/>
          <p:cNvSpPr/>
          <p:nvPr/>
        </p:nvSpPr>
        <p:spPr>
          <a:xfrm>
            <a:off x="868680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7" name="Shape 75"/>
          <p:cNvSpPr/>
          <p:nvPr/>
        </p:nvSpPr>
        <p:spPr>
          <a:xfrm>
            <a:off x="909828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8" name="Shape 76"/>
          <p:cNvSpPr/>
          <p:nvPr/>
        </p:nvSpPr>
        <p:spPr>
          <a:xfrm>
            <a:off x="950976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9" name="Shape 77"/>
          <p:cNvSpPr/>
          <p:nvPr/>
        </p:nvSpPr>
        <p:spPr>
          <a:xfrm>
            <a:off x="992124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80" name="Shape 78"/>
          <p:cNvSpPr/>
          <p:nvPr/>
        </p:nvSpPr>
        <p:spPr>
          <a:xfrm>
            <a:off x="1033272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81" name="Shape 79"/>
          <p:cNvSpPr/>
          <p:nvPr/>
        </p:nvSpPr>
        <p:spPr>
          <a:xfrm>
            <a:off x="1074420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82" name="Shape 80"/>
          <p:cNvSpPr/>
          <p:nvPr/>
        </p:nvSpPr>
        <p:spPr>
          <a:xfrm>
            <a:off x="1115568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83" name="Shape 81"/>
          <p:cNvSpPr/>
          <p:nvPr/>
        </p:nvSpPr>
        <p:spPr>
          <a:xfrm>
            <a:off x="548640" y="548640"/>
            <a:ext cx="1463040" cy="292608"/>
          </a:xfrm>
          <a:prstGeom prst="rect">
            <a:avLst/>
          </a:prstGeom>
          <a:solidFill>
            <a:srgbClr val="028090"/>
          </a:solidFill>
          <a:ln w="12700">
            <a:solidFill>
              <a:srgbClr val="028090"/>
            </a:solidFill>
            <a:prstDash val="solid"/>
          </a:ln>
        </p:spPr>
        <p:txBody>
          <a:bodyPr/>
          <a:lstStyle/>
          <a:p>
            <a:endParaRPr lang="en-US"/>
          </a:p>
        </p:txBody>
      </p:sp>
      <p:sp>
        <p:nvSpPr>
          <p:cNvPr id="84" name="Text 82"/>
          <p:cNvSpPr/>
          <p:nvPr/>
        </p:nvSpPr>
        <p:spPr>
          <a:xfrm>
            <a:off x="548640" y="548640"/>
            <a:ext cx="1463040" cy="292608"/>
          </a:xfrm>
          <a:prstGeom prst="rect">
            <a:avLst/>
          </a:prstGeom>
          <a:noFill/>
          <a:ln/>
        </p:spPr>
        <p:txBody>
          <a:bodyPr wrap="square" lIns="0" tIns="0" rIns="0" bIns="0" rtlCol="0" anchor="ctr"/>
          <a:lstStyle/>
          <a:p>
            <a:pPr marL="0" indent="0" algn="ctr">
              <a:buNone/>
            </a:pPr>
            <a:r>
              <a:rPr lang="en-US" sz="1000" b="1" kern="0" spc="400" dirty="0">
                <a:solidFill>
                  <a:srgbClr val="FFFFFF"/>
                </a:solidFill>
                <a:latin typeface="Calibri" pitchFamily="34" charset="0"/>
                <a:ea typeface="Calibri" pitchFamily="34" charset="-122"/>
                <a:cs typeface="Calibri" pitchFamily="34" charset="-120"/>
              </a:rPr>
              <a:t>CLEANCORE</a:t>
            </a:r>
            <a:endParaRPr lang="en-US" sz="1000" dirty="0"/>
          </a:p>
        </p:txBody>
      </p:sp>
      <p:sp>
        <p:nvSpPr>
          <p:cNvPr id="85" name="Text 83"/>
          <p:cNvSpPr/>
          <p:nvPr/>
        </p:nvSpPr>
        <p:spPr>
          <a:xfrm>
            <a:off x="548640" y="1645920"/>
            <a:ext cx="8229600" cy="86868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AI-Powered Smart</a:t>
            </a:r>
            <a:endParaRPr lang="en-US" sz="5200" dirty="0"/>
          </a:p>
        </p:txBody>
      </p:sp>
      <p:sp>
        <p:nvSpPr>
          <p:cNvPr id="86" name="Text 84"/>
          <p:cNvSpPr/>
          <p:nvPr/>
        </p:nvSpPr>
        <p:spPr>
          <a:xfrm>
            <a:off x="548640" y="2468880"/>
            <a:ext cx="8229600" cy="868680"/>
          </a:xfrm>
          <a:prstGeom prst="rect">
            <a:avLst/>
          </a:prstGeom>
          <a:noFill/>
          <a:ln/>
        </p:spPr>
        <p:txBody>
          <a:bodyPr wrap="square" lIns="0" tIns="0" rIns="0" bIns="0" rtlCol="0" anchor="ctr"/>
          <a:lstStyle/>
          <a:p>
            <a:pPr marL="0" indent="0">
              <a:buNone/>
            </a:pPr>
            <a:r>
              <a:rPr lang="en-US" sz="5200" b="1" dirty="0">
                <a:solidFill>
                  <a:srgbClr val="00A896"/>
                </a:solidFill>
                <a:latin typeface="Calibri" pitchFamily="34" charset="0"/>
                <a:ea typeface="Calibri" pitchFamily="34" charset="-122"/>
                <a:cs typeface="Calibri" pitchFamily="34" charset="-120"/>
              </a:rPr>
              <a:t>Waste Management Platform</a:t>
            </a:r>
            <a:endParaRPr lang="en-US" sz="5200" dirty="0"/>
          </a:p>
        </p:txBody>
      </p:sp>
      <p:sp>
        <p:nvSpPr>
          <p:cNvPr id="87" name="Shape 85"/>
          <p:cNvSpPr/>
          <p:nvPr/>
        </p:nvSpPr>
        <p:spPr>
          <a:xfrm>
            <a:off x="548640" y="3611880"/>
            <a:ext cx="548640" cy="54864"/>
          </a:xfrm>
          <a:prstGeom prst="rect">
            <a:avLst/>
          </a:prstGeom>
          <a:solidFill>
            <a:srgbClr val="F4A261"/>
          </a:solidFill>
          <a:ln w="12700">
            <a:solidFill>
              <a:srgbClr val="F4A261"/>
            </a:solidFill>
            <a:prstDash val="solid"/>
          </a:ln>
        </p:spPr>
        <p:txBody>
          <a:bodyPr/>
          <a:lstStyle/>
          <a:p>
            <a:endParaRPr lang="en-US"/>
          </a:p>
        </p:txBody>
      </p:sp>
      <p:sp>
        <p:nvSpPr>
          <p:cNvPr id="88" name="Text 86"/>
          <p:cNvSpPr/>
          <p:nvPr/>
        </p:nvSpPr>
        <p:spPr>
          <a:xfrm>
            <a:off x="548640" y="3749040"/>
            <a:ext cx="8229600" cy="320040"/>
          </a:xfrm>
          <a:prstGeom prst="rect">
            <a:avLst/>
          </a:prstGeom>
          <a:noFill/>
          <a:ln/>
        </p:spPr>
        <p:txBody>
          <a:bodyPr wrap="square" lIns="0" tIns="0" rIns="0" bIns="0" rtlCol="0" anchor="ctr"/>
          <a:lstStyle/>
          <a:p>
            <a:pPr marL="0" indent="0">
              <a:buNone/>
            </a:pPr>
            <a:r>
              <a:rPr lang="en-US" sz="1400" dirty="0">
                <a:solidFill>
                  <a:srgbClr val="9FB3BA"/>
                </a:solidFill>
                <a:latin typeface="Calibri" pitchFamily="34" charset="0"/>
                <a:ea typeface="Calibri" pitchFamily="34" charset="-122"/>
                <a:cs typeface="Calibri" pitchFamily="34" charset="-120"/>
              </a:rPr>
              <a:t>Final Year Project  ·  External Evaluation  ·  May 2026</a:t>
            </a:r>
            <a:endParaRPr lang="en-US" sz="1400" dirty="0"/>
          </a:p>
        </p:txBody>
      </p:sp>
      <p:sp>
        <p:nvSpPr>
          <p:cNvPr id="89" name="Text 87"/>
          <p:cNvSpPr/>
          <p:nvPr/>
        </p:nvSpPr>
        <p:spPr>
          <a:xfrm>
            <a:off x="548640" y="4480560"/>
            <a:ext cx="5486400" cy="1371600"/>
          </a:xfrm>
          <a:prstGeom prst="rect">
            <a:avLst/>
          </a:prstGeom>
          <a:noFill/>
          <a:ln/>
        </p:spPr>
        <p:txBody>
          <a:bodyPr wrap="square" lIns="0" tIns="0" rIns="0" bIns="0" rtlCol="0" anchor="t"/>
          <a:lstStyle/>
          <a:p>
            <a:pPr marL="0" indent="0">
              <a:buNone/>
            </a:pPr>
            <a:r>
              <a:rPr lang="en-US" sz="1100" b="1" kern="0" spc="300" dirty="0">
                <a:solidFill>
                  <a:srgbClr val="00A896"/>
                </a:solidFill>
                <a:latin typeface="Calibri" pitchFamily="34" charset="0"/>
                <a:ea typeface="Calibri" pitchFamily="34" charset="-122"/>
                <a:cs typeface="Calibri" pitchFamily="34" charset="-120"/>
              </a:rPr>
              <a:t>Presenters
</a:t>
            </a:r>
            <a:r>
              <a:rPr lang="en-US" sz="1600" b="1" dirty="0">
                <a:solidFill>
                  <a:srgbClr val="FFFFFF"/>
                </a:solidFill>
                <a:latin typeface="Calibri" pitchFamily="34" charset="0"/>
                <a:ea typeface="Calibri" pitchFamily="34" charset="-122"/>
                <a:cs typeface="Calibri" pitchFamily="34" charset="-120"/>
              </a:rPr>
              <a:t>Ayesha Nadeem  </a:t>
            </a:r>
            <a:r>
              <a:rPr lang="en-US" sz="1400" dirty="0">
                <a:solidFill>
                  <a:srgbClr val="9FB3BA"/>
                </a:solidFill>
                <a:latin typeface="Calibri" pitchFamily="34" charset="0"/>
                <a:ea typeface="Calibri" pitchFamily="34" charset="-122"/>
                <a:cs typeface="Calibri" pitchFamily="34" charset="-120"/>
              </a:rPr>
              <a:t>FA22-BCS-020
</a:t>
            </a:r>
            <a:r>
              <a:rPr lang="en-US" sz="1600" b="1" dirty="0">
                <a:solidFill>
                  <a:srgbClr val="FFFFFF"/>
                </a:solidFill>
                <a:latin typeface="Calibri" pitchFamily="34" charset="0"/>
                <a:ea typeface="Calibri" pitchFamily="34" charset="-122"/>
                <a:cs typeface="Calibri" pitchFamily="34" charset="-120"/>
              </a:rPr>
              <a:t>Ayesha Noman   </a:t>
            </a:r>
            <a:r>
              <a:rPr lang="en-US" sz="1400" dirty="0">
                <a:solidFill>
                  <a:srgbClr val="9FB3BA"/>
                </a:solidFill>
                <a:latin typeface="Calibri" pitchFamily="34" charset="0"/>
                <a:ea typeface="Calibri" pitchFamily="34" charset="-122"/>
                <a:cs typeface="Calibri" pitchFamily="34" charset="-120"/>
              </a:rPr>
              <a:t>FA22-BCS-009</a:t>
            </a:r>
            <a:endParaRPr lang="en-US" sz="1100" dirty="0"/>
          </a:p>
        </p:txBody>
      </p:sp>
      <p:sp>
        <p:nvSpPr>
          <p:cNvPr id="90" name="Text 88"/>
          <p:cNvSpPr/>
          <p:nvPr/>
        </p:nvSpPr>
        <p:spPr>
          <a:xfrm>
            <a:off x="6400800" y="4480560"/>
            <a:ext cx="4572000" cy="731520"/>
          </a:xfrm>
          <a:prstGeom prst="rect">
            <a:avLst/>
          </a:prstGeom>
          <a:noFill/>
          <a:ln/>
        </p:spPr>
        <p:txBody>
          <a:bodyPr wrap="square" lIns="0" tIns="0" rIns="0" bIns="0" rtlCol="0" anchor="t"/>
          <a:lstStyle/>
          <a:p>
            <a:pPr marL="0" indent="0">
              <a:buNone/>
            </a:pPr>
            <a:r>
              <a:rPr lang="en-US" sz="1100" b="1" kern="0" spc="300" dirty="0">
                <a:solidFill>
                  <a:srgbClr val="00A896"/>
                </a:solidFill>
                <a:latin typeface="Calibri" pitchFamily="34" charset="0"/>
                <a:ea typeface="Calibri" pitchFamily="34" charset="-122"/>
                <a:cs typeface="Calibri" pitchFamily="34" charset="-120"/>
              </a:rPr>
              <a:t>Supervisor
</a:t>
            </a:r>
            <a:r>
              <a:rPr lang="en-US" sz="1600" b="1" dirty="0">
                <a:solidFill>
                  <a:srgbClr val="FFFFFF"/>
                </a:solidFill>
                <a:latin typeface="Calibri" pitchFamily="34" charset="0"/>
                <a:ea typeface="Calibri" pitchFamily="34" charset="-122"/>
                <a:cs typeface="Calibri" pitchFamily="34" charset="-120"/>
              </a:rPr>
              <a:t>Ms. Maha Rasheed</a:t>
            </a:r>
            <a:endParaRPr lang="en-US" sz="1100" dirty="0"/>
          </a:p>
        </p:txBody>
      </p:sp>
      <p:sp>
        <p:nvSpPr>
          <p:cNvPr id="91" name="Text 89"/>
          <p:cNvSpPr/>
          <p:nvPr/>
        </p:nvSpPr>
        <p:spPr>
          <a:xfrm>
            <a:off x="548640" y="6217920"/>
            <a:ext cx="9144000" cy="274320"/>
          </a:xfrm>
          <a:prstGeom prst="rect">
            <a:avLst/>
          </a:prstGeom>
          <a:noFill/>
          <a:ln/>
        </p:spPr>
        <p:txBody>
          <a:bodyPr wrap="square" lIns="0" tIns="0" rIns="0" bIns="0" rtlCol="0" anchor="ctr"/>
          <a:lstStyle/>
          <a:p>
            <a:pPr marL="0" indent="0">
              <a:buNone/>
            </a:pPr>
            <a:r>
              <a:rPr lang="en-US" sz="1100" dirty="0">
                <a:solidFill>
                  <a:srgbClr val="9FB3BA"/>
                </a:solidFill>
                <a:latin typeface="Calibri" pitchFamily="34" charset="0"/>
                <a:ea typeface="Calibri" pitchFamily="34" charset="-122"/>
                <a:cs typeface="Calibri" pitchFamily="34" charset="-120"/>
              </a:rPr>
              <a:t>COMSATS University Islamabad — Wah Campus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THE PROBLEM</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Municipal collection is blind, wasteful, unaccountable</a:t>
            </a:r>
            <a:endParaRPr lang="en-US" sz="3000" dirty="0"/>
          </a:p>
        </p:txBody>
      </p:sp>
      <p:sp>
        <p:nvSpPr>
          <p:cNvPr id="4" name="Text 2"/>
          <p:cNvSpPr/>
          <p:nvPr/>
        </p:nvSpPr>
        <p:spPr>
          <a:xfrm>
            <a:off x="548640" y="1783080"/>
            <a:ext cx="6400800" cy="4572000"/>
          </a:xfrm>
          <a:prstGeom prst="rect">
            <a:avLst/>
          </a:prstGeom>
          <a:noFill/>
          <a:ln/>
        </p:spPr>
        <p:txBody>
          <a:bodyPr wrap="square" rtlCol="0" anchor="t"/>
          <a:lstStyle/>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Bins overflow before trucks are dispatched</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Fixed routes burn fuel on empty bins</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Dispatchers cannot see real-time fill state</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No audit trail for missed pickups or breaches</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Workers receive static routes, not live updates</a:t>
            </a:r>
            <a:endParaRPr lang="en-US" sz="1600" dirty="0"/>
          </a:p>
        </p:txBody>
      </p:sp>
      <p:sp>
        <p:nvSpPr>
          <p:cNvPr id="5" name="Shape 3"/>
          <p:cNvSpPr/>
          <p:nvPr/>
        </p:nvSpPr>
        <p:spPr>
          <a:xfrm>
            <a:off x="7315200" y="1783080"/>
            <a:ext cx="4297680" cy="1965960"/>
          </a:xfrm>
          <a:prstGeom prst="rect">
            <a:avLst/>
          </a:prstGeom>
          <a:solidFill>
            <a:srgbClr val="F4F7F8"/>
          </a:solidFill>
          <a:ln w="9525">
            <a:solidFill>
              <a:srgbClr val="D6DEE2"/>
            </a:solidFill>
            <a:prstDash val="solid"/>
          </a:ln>
        </p:spPr>
        <p:txBody>
          <a:bodyPr/>
          <a:lstStyle/>
          <a:p>
            <a:endParaRPr lang="en-US"/>
          </a:p>
        </p:txBody>
      </p:sp>
      <p:sp>
        <p:nvSpPr>
          <p:cNvPr id="6" name="Shape 4"/>
          <p:cNvSpPr/>
          <p:nvPr/>
        </p:nvSpPr>
        <p:spPr>
          <a:xfrm>
            <a:off x="7315200" y="1783080"/>
            <a:ext cx="91440" cy="1965960"/>
          </a:xfrm>
          <a:prstGeom prst="rect">
            <a:avLst/>
          </a:prstGeom>
          <a:solidFill>
            <a:srgbClr val="D62828"/>
          </a:solidFill>
          <a:ln w="12700">
            <a:solidFill>
              <a:srgbClr val="D62828"/>
            </a:solidFill>
            <a:prstDash val="solid"/>
          </a:ln>
        </p:spPr>
        <p:txBody>
          <a:bodyPr/>
          <a:lstStyle/>
          <a:p>
            <a:endParaRPr lang="en-US"/>
          </a:p>
        </p:txBody>
      </p:sp>
      <p:sp>
        <p:nvSpPr>
          <p:cNvPr id="7" name="Text 5"/>
          <p:cNvSpPr/>
          <p:nvPr/>
        </p:nvSpPr>
        <p:spPr>
          <a:xfrm>
            <a:off x="7589520" y="1874520"/>
            <a:ext cx="3931920" cy="320040"/>
          </a:xfrm>
          <a:prstGeom prst="rect">
            <a:avLst/>
          </a:prstGeom>
          <a:noFill/>
          <a:ln/>
        </p:spPr>
        <p:txBody>
          <a:bodyPr wrap="square" lIns="0" tIns="0" rIns="0" bIns="0" rtlCol="0" anchor="ctr"/>
          <a:lstStyle/>
          <a:p>
            <a:pPr marL="0" indent="0">
              <a:buNone/>
            </a:pPr>
            <a:r>
              <a:rPr lang="en-US" sz="1100" b="1" kern="0" spc="300" dirty="0">
                <a:solidFill>
                  <a:srgbClr val="D62828"/>
                </a:solidFill>
                <a:latin typeface="Calibri" pitchFamily="34" charset="0"/>
                <a:ea typeface="Calibri" pitchFamily="34" charset="-122"/>
                <a:cs typeface="Calibri" pitchFamily="34" charset="-120"/>
              </a:rPr>
              <a:t>Status quo</a:t>
            </a:r>
            <a:endParaRPr lang="en-US" sz="1100" dirty="0"/>
          </a:p>
        </p:txBody>
      </p:sp>
      <p:sp>
        <p:nvSpPr>
          <p:cNvPr id="8" name="Text 6"/>
          <p:cNvSpPr/>
          <p:nvPr/>
        </p:nvSpPr>
        <p:spPr>
          <a:xfrm>
            <a:off x="7589520" y="2240280"/>
            <a:ext cx="3931920" cy="1371600"/>
          </a:xfrm>
          <a:prstGeom prst="rect">
            <a:avLst/>
          </a:prstGeom>
          <a:noFill/>
          <a:ln/>
        </p:spPr>
        <p:txBody>
          <a:bodyPr wrap="square" lIns="0" tIns="0" rIns="0" bIns="0" rtlCol="0" anchor="t"/>
          <a:lstStyle/>
          <a:p>
            <a:pPr marL="0" indent="0">
              <a:buNone/>
            </a:pPr>
            <a:r>
              <a:rPr lang="en-US" sz="1400" dirty="0">
                <a:solidFill>
                  <a:srgbClr val="0B1F2A"/>
                </a:solidFill>
                <a:latin typeface="Calibri" pitchFamily="34" charset="0"/>
                <a:ea typeface="Calibri" pitchFamily="34" charset="-122"/>
                <a:cs typeface="Calibri" pitchFamily="34" charset="-120"/>
              </a:rPr>
              <a:t>Fixed schedules · static routes · no telemetry · no compliance log</a:t>
            </a:r>
            <a:endParaRPr lang="en-US" sz="1400" dirty="0"/>
          </a:p>
        </p:txBody>
      </p:sp>
      <p:sp>
        <p:nvSpPr>
          <p:cNvPr id="9" name="Shape 7"/>
          <p:cNvSpPr/>
          <p:nvPr/>
        </p:nvSpPr>
        <p:spPr>
          <a:xfrm>
            <a:off x="7315200" y="3886200"/>
            <a:ext cx="4297680" cy="1965960"/>
          </a:xfrm>
          <a:prstGeom prst="rect">
            <a:avLst/>
          </a:prstGeom>
          <a:solidFill>
            <a:srgbClr val="F4F7F8"/>
          </a:solidFill>
          <a:ln w="9525">
            <a:solidFill>
              <a:srgbClr val="D6DEE2"/>
            </a:solidFill>
            <a:prstDash val="solid"/>
          </a:ln>
        </p:spPr>
        <p:txBody>
          <a:bodyPr/>
          <a:lstStyle/>
          <a:p>
            <a:endParaRPr lang="en-US"/>
          </a:p>
        </p:txBody>
      </p:sp>
      <p:sp>
        <p:nvSpPr>
          <p:cNvPr id="10" name="Shape 8"/>
          <p:cNvSpPr/>
          <p:nvPr/>
        </p:nvSpPr>
        <p:spPr>
          <a:xfrm>
            <a:off x="7315200" y="3886200"/>
            <a:ext cx="91440" cy="1965960"/>
          </a:xfrm>
          <a:prstGeom prst="rect">
            <a:avLst/>
          </a:prstGeom>
          <a:solidFill>
            <a:srgbClr val="028090"/>
          </a:solidFill>
          <a:ln w="12700">
            <a:solidFill>
              <a:srgbClr val="028090"/>
            </a:solidFill>
            <a:prstDash val="solid"/>
          </a:ln>
        </p:spPr>
        <p:txBody>
          <a:bodyPr/>
          <a:lstStyle/>
          <a:p>
            <a:endParaRPr lang="en-US"/>
          </a:p>
        </p:txBody>
      </p:sp>
      <p:sp>
        <p:nvSpPr>
          <p:cNvPr id="11" name="Text 9"/>
          <p:cNvSpPr/>
          <p:nvPr/>
        </p:nvSpPr>
        <p:spPr>
          <a:xfrm>
            <a:off x="7589520" y="3977640"/>
            <a:ext cx="3931920" cy="32004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CleanCore</a:t>
            </a:r>
            <a:endParaRPr lang="en-US" sz="1100" dirty="0"/>
          </a:p>
        </p:txBody>
      </p:sp>
      <p:sp>
        <p:nvSpPr>
          <p:cNvPr id="12" name="Text 10"/>
          <p:cNvSpPr/>
          <p:nvPr/>
        </p:nvSpPr>
        <p:spPr>
          <a:xfrm>
            <a:off x="7589520" y="4343400"/>
            <a:ext cx="3931920" cy="1371600"/>
          </a:xfrm>
          <a:prstGeom prst="rect">
            <a:avLst/>
          </a:prstGeom>
          <a:noFill/>
          <a:ln/>
        </p:spPr>
        <p:txBody>
          <a:bodyPr wrap="square" lIns="0" tIns="0" rIns="0" bIns="0" rtlCol="0" anchor="t"/>
          <a:lstStyle/>
          <a:p>
            <a:pPr marL="0" indent="0">
              <a:buNone/>
            </a:pPr>
            <a:r>
              <a:rPr lang="en-US" sz="1400" dirty="0">
                <a:solidFill>
                  <a:srgbClr val="0B1F2A"/>
                </a:solidFill>
                <a:latin typeface="Calibri" pitchFamily="34" charset="0"/>
                <a:ea typeface="Calibri" pitchFamily="34" charset="-122"/>
                <a:cs typeface="Calibri" pitchFamily="34" charset="-120"/>
              </a:rPr>
              <a:t>Demand-driven · AI-classified · live state · auditable</a:t>
            </a:r>
            <a:endParaRPr lang="en-US" sz="1400" dirty="0"/>
          </a:p>
        </p:txBody>
      </p:sp>
      <p:sp>
        <p:nvSpPr>
          <p:cNvPr id="13" name="Text 11"/>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14" name="Text 12"/>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02 / 22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THE OPPORTUNITY</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The cost of dispatching blind</a:t>
            </a:r>
            <a:endParaRPr lang="en-US" sz="3000" dirty="0"/>
          </a:p>
        </p:txBody>
      </p:sp>
      <p:sp>
        <p:nvSpPr>
          <p:cNvPr id="4" name="Text 2"/>
          <p:cNvSpPr/>
          <p:nvPr/>
        </p:nvSpPr>
        <p:spPr>
          <a:xfrm>
            <a:off x="548640" y="1783080"/>
            <a:ext cx="5760720" cy="4572000"/>
          </a:xfrm>
          <a:prstGeom prst="rect">
            <a:avLst/>
          </a:prstGeom>
          <a:noFill/>
          <a:ln/>
        </p:spPr>
        <p:txBody>
          <a:bodyPr wrap="square" rtlCol="0" anchor="t"/>
          <a:lstStyle/>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Mid-size city: 40–60 collection vehicles daily</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Fixed-route fleets waste ~30–40% of distance</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Each kilometre emits ~0.95 kg CO₂ (diesel)</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Missed pickups → complaints, fines, lost trust</a:t>
            </a:r>
            <a:endParaRPr lang="en-US" sz="1600" dirty="0"/>
          </a:p>
          <a:p>
            <a:pPr marL="342900" indent="-342900">
              <a:spcAft>
                <a:spcPts val="800"/>
              </a:spcAft>
              <a:buSzPct val="100000"/>
              <a:buChar char="■"/>
            </a:pPr>
            <a:r>
              <a:rPr lang="en-US" sz="1600" dirty="0">
                <a:solidFill>
                  <a:srgbClr val="0B1F2A"/>
                </a:solidFill>
                <a:latin typeface="Calibri" pitchFamily="34" charset="0"/>
                <a:ea typeface="Calibri" pitchFamily="34" charset="-122"/>
                <a:cs typeface="Calibri" pitchFamily="34" charset="-120"/>
              </a:rPr>
              <a:t>Demand-driven routing: proven in EU pilots</a:t>
            </a:r>
            <a:endParaRPr lang="en-US" sz="1600" dirty="0"/>
          </a:p>
        </p:txBody>
      </p:sp>
      <p:graphicFrame>
        <p:nvGraphicFramePr>
          <p:cNvPr id="5" name="Chart 0"/>
          <p:cNvGraphicFramePr/>
          <p:nvPr/>
        </p:nvGraphicFramePr>
        <p:xfrm>
          <a:off x="6583680" y="1783080"/>
          <a:ext cx="51206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583680" y="5989320"/>
            <a:ext cx="5120640" cy="274320"/>
          </a:xfrm>
          <a:prstGeom prst="rect">
            <a:avLst/>
          </a:prstGeom>
          <a:noFill/>
          <a:ln/>
        </p:spPr>
        <p:txBody>
          <a:bodyPr wrap="square" lIns="0" tIns="0" rIns="0" bIns="0" rtlCol="0" anchor="ctr"/>
          <a:lstStyle/>
          <a:p>
            <a:pPr marL="0" indent="0" algn="ctr">
              <a:buNone/>
            </a:pPr>
            <a:r>
              <a:rPr lang="en-US" sz="900" i="1" dirty="0">
                <a:solidFill>
                  <a:srgbClr val="5C6B73"/>
                </a:solidFill>
                <a:latin typeface="Calibri" pitchFamily="34" charset="0"/>
                <a:ea typeface="Calibri" pitchFamily="34" charset="-122"/>
                <a:cs typeface="Calibri" pitchFamily="34" charset="-120"/>
              </a:rPr>
              <a:t>Illustrative comparison · baseline from EU municipal pilots</a:t>
            </a:r>
            <a:endParaRPr lang="en-US" sz="900" dirty="0"/>
          </a:p>
        </p:txBody>
      </p:sp>
      <p:sp>
        <p:nvSpPr>
          <p:cNvPr id="7" name="Text 4"/>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8" name="Text 5"/>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03 / 22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THE SOLUTION</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One platform: see every bin, route every worker, audit every pickup</a:t>
            </a:r>
            <a:endParaRPr lang="en-US" sz="3000" dirty="0"/>
          </a:p>
        </p:txBody>
      </p:sp>
      <p:sp>
        <p:nvSpPr>
          <p:cNvPr id="4" name="Shape 2"/>
          <p:cNvSpPr/>
          <p:nvPr/>
        </p:nvSpPr>
        <p:spPr>
          <a:xfrm>
            <a:off x="678028" y="2286000"/>
            <a:ext cx="2468880" cy="2560320"/>
          </a:xfrm>
          <a:prstGeom prst="rect">
            <a:avLst/>
          </a:prstGeom>
          <a:solidFill>
            <a:srgbClr val="F4F7F8"/>
          </a:solidFill>
          <a:ln w="9525">
            <a:solidFill>
              <a:srgbClr val="D6DEE2"/>
            </a:solidFill>
            <a:prstDash val="solid"/>
          </a:ln>
        </p:spPr>
        <p:txBody>
          <a:bodyPr/>
          <a:lstStyle/>
          <a:p>
            <a:endParaRPr lang="en-US"/>
          </a:p>
        </p:txBody>
      </p:sp>
      <p:sp>
        <p:nvSpPr>
          <p:cNvPr id="5" name="Shape 3"/>
          <p:cNvSpPr/>
          <p:nvPr/>
        </p:nvSpPr>
        <p:spPr>
          <a:xfrm>
            <a:off x="1546708" y="2606040"/>
            <a:ext cx="731520" cy="731520"/>
          </a:xfrm>
          <a:prstGeom prst="ellipse">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1546708" y="260604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1</a:t>
            </a:r>
            <a:endParaRPr lang="en-US" sz="2800" dirty="0"/>
          </a:p>
        </p:txBody>
      </p:sp>
      <p:sp>
        <p:nvSpPr>
          <p:cNvPr id="7" name="Text 5"/>
          <p:cNvSpPr/>
          <p:nvPr/>
        </p:nvSpPr>
        <p:spPr>
          <a:xfrm>
            <a:off x="678028" y="3520440"/>
            <a:ext cx="2468880" cy="365760"/>
          </a:xfrm>
          <a:prstGeom prst="rect">
            <a:avLst/>
          </a:prstGeom>
          <a:noFill/>
          <a:ln/>
        </p:spPr>
        <p:txBody>
          <a:bodyPr wrap="square" lIns="0" tIns="0" rIns="0" bIns="0" rtlCol="0" anchor="ctr"/>
          <a:lstStyle/>
          <a:p>
            <a:pPr marL="0" indent="0" algn="ctr">
              <a:buNone/>
            </a:pPr>
            <a:r>
              <a:rPr lang="en-US" sz="1300" b="1" kern="0" spc="300" dirty="0">
                <a:solidFill>
                  <a:srgbClr val="028090"/>
                </a:solidFill>
                <a:latin typeface="Calibri" pitchFamily="34" charset="0"/>
                <a:ea typeface="Calibri" pitchFamily="34" charset="-122"/>
                <a:cs typeface="Calibri" pitchFamily="34" charset="-120"/>
              </a:rPr>
              <a:t>SCAN</a:t>
            </a:r>
            <a:endParaRPr lang="en-US" sz="1300" dirty="0"/>
          </a:p>
        </p:txBody>
      </p:sp>
      <p:sp>
        <p:nvSpPr>
          <p:cNvPr id="8" name="Text 6"/>
          <p:cNvSpPr/>
          <p:nvPr/>
        </p:nvSpPr>
        <p:spPr>
          <a:xfrm>
            <a:off x="860908" y="3931920"/>
            <a:ext cx="2103120" cy="822960"/>
          </a:xfrm>
          <a:prstGeom prst="rect">
            <a:avLst/>
          </a:prstGeom>
          <a:noFill/>
          <a:ln/>
        </p:spPr>
        <p:txBody>
          <a:bodyPr wrap="square" lIns="0" tIns="0" rIns="0" bIns="0" rtlCol="0" anchor="ctr"/>
          <a:lstStyle/>
          <a:p>
            <a:pPr marL="0" indent="0" algn="ctr">
              <a:buNone/>
            </a:pPr>
            <a:r>
              <a:rPr lang="en-US" sz="1300" dirty="0">
                <a:solidFill>
                  <a:srgbClr val="0B1F2A"/>
                </a:solidFill>
                <a:latin typeface="Calibri" pitchFamily="34" charset="0"/>
                <a:ea typeface="Calibri" pitchFamily="34" charset="-122"/>
                <a:cs typeface="Calibri" pitchFamily="34" charset="-120"/>
              </a:rPr>
              <a:t>Admin captures bin photo and GPS</a:t>
            </a:r>
            <a:endParaRPr lang="en-US" sz="1300" dirty="0"/>
          </a:p>
        </p:txBody>
      </p:sp>
      <p:sp>
        <p:nvSpPr>
          <p:cNvPr id="9" name="Text 7"/>
          <p:cNvSpPr/>
          <p:nvPr/>
        </p:nvSpPr>
        <p:spPr>
          <a:xfrm>
            <a:off x="3165196" y="3337560"/>
            <a:ext cx="283464" cy="457200"/>
          </a:xfrm>
          <a:prstGeom prst="rect">
            <a:avLst/>
          </a:prstGeom>
          <a:noFill/>
          <a:ln/>
        </p:spPr>
        <p:txBody>
          <a:bodyPr wrap="square" lIns="0" tIns="0" rIns="0" bIns="0" rtlCol="0" anchor="ctr"/>
          <a:lstStyle/>
          <a:p>
            <a:pPr marL="0" indent="0" algn="ctr">
              <a:buNone/>
            </a:pPr>
            <a:r>
              <a:rPr lang="en-US" sz="2400" b="1" dirty="0">
                <a:solidFill>
                  <a:srgbClr val="00A896"/>
                </a:solidFill>
                <a:latin typeface="Calibri" pitchFamily="34" charset="0"/>
                <a:ea typeface="Calibri" pitchFamily="34" charset="-122"/>
                <a:cs typeface="Calibri" pitchFamily="34" charset="-120"/>
              </a:rPr>
              <a:t>&gt;</a:t>
            </a:r>
            <a:endParaRPr lang="en-US" sz="2400" dirty="0"/>
          </a:p>
        </p:txBody>
      </p:sp>
      <p:sp>
        <p:nvSpPr>
          <p:cNvPr id="10" name="Shape 8"/>
          <p:cNvSpPr/>
          <p:nvPr/>
        </p:nvSpPr>
        <p:spPr>
          <a:xfrm>
            <a:off x="3466948" y="2286000"/>
            <a:ext cx="2468880" cy="2560320"/>
          </a:xfrm>
          <a:prstGeom prst="rect">
            <a:avLst/>
          </a:prstGeom>
          <a:solidFill>
            <a:srgbClr val="F4F7F8"/>
          </a:solidFill>
          <a:ln w="9525">
            <a:solidFill>
              <a:srgbClr val="D6DEE2"/>
            </a:solidFill>
            <a:prstDash val="solid"/>
          </a:ln>
        </p:spPr>
        <p:txBody>
          <a:bodyPr/>
          <a:lstStyle/>
          <a:p>
            <a:endParaRPr lang="en-US"/>
          </a:p>
        </p:txBody>
      </p:sp>
      <p:sp>
        <p:nvSpPr>
          <p:cNvPr id="11" name="Shape 9"/>
          <p:cNvSpPr/>
          <p:nvPr/>
        </p:nvSpPr>
        <p:spPr>
          <a:xfrm>
            <a:off x="4335628" y="2606040"/>
            <a:ext cx="731520" cy="731520"/>
          </a:xfrm>
          <a:prstGeom prst="ellipse">
            <a:avLst/>
          </a:prstGeom>
          <a:solidFill>
            <a:srgbClr val="028090"/>
          </a:solidFill>
          <a:ln w="12700">
            <a:solidFill>
              <a:srgbClr val="028090"/>
            </a:solidFill>
            <a:prstDash val="solid"/>
          </a:ln>
        </p:spPr>
        <p:txBody>
          <a:bodyPr/>
          <a:lstStyle/>
          <a:p>
            <a:endParaRPr lang="en-US"/>
          </a:p>
        </p:txBody>
      </p:sp>
      <p:sp>
        <p:nvSpPr>
          <p:cNvPr id="12" name="Text 10"/>
          <p:cNvSpPr/>
          <p:nvPr/>
        </p:nvSpPr>
        <p:spPr>
          <a:xfrm>
            <a:off x="4335628" y="260604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2</a:t>
            </a:r>
            <a:endParaRPr lang="en-US" sz="2800" dirty="0"/>
          </a:p>
        </p:txBody>
      </p:sp>
      <p:sp>
        <p:nvSpPr>
          <p:cNvPr id="13" name="Text 11"/>
          <p:cNvSpPr/>
          <p:nvPr/>
        </p:nvSpPr>
        <p:spPr>
          <a:xfrm>
            <a:off x="3466948" y="3520440"/>
            <a:ext cx="2468880" cy="365760"/>
          </a:xfrm>
          <a:prstGeom prst="rect">
            <a:avLst/>
          </a:prstGeom>
          <a:noFill/>
          <a:ln/>
        </p:spPr>
        <p:txBody>
          <a:bodyPr wrap="square" lIns="0" tIns="0" rIns="0" bIns="0" rtlCol="0" anchor="ctr"/>
          <a:lstStyle/>
          <a:p>
            <a:pPr marL="0" indent="0" algn="ctr">
              <a:buNone/>
            </a:pPr>
            <a:r>
              <a:rPr lang="en-US" sz="1300" b="1" kern="0" spc="300" dirty="0">
                <a:solidFill>
                  <a:srgbClr val="028090"/>
                </a:solidFill>
                <a:latin typeface="Calibri" pitchFamily="34" charset="0"/>
                <a:ea typeface="Calibri" pitchFamily="34" charset="-122"/>
                <a:cs typeface="Calibri" pitchFamily="34" charset="-120"/>
              </a:rPr>
              <a:t>CLASSIFY</a:t>
            </a:r>
            <a:endParaRPr lang="en-US" sz="1300" dirty="0"/>
          </a:p>
        </p:txBody>
      </p:sp>
      <p:sp>
        <p:nvSpPr>
          <p:cNvPr id="14" name="Text 12"/>
          <p:cNvSpPr/>
          <p:nvPr/>
        </p:nvSpPr>
        <p:spPr>
          <a:xfrm>
            <a:off x="3649828" y="3931920"/>
            <a:ext cx="2103120" cy="822960"/>
          </a:xfrm>
          <a:prstGeom prst="rect">
            <a:avLst/>
          </a:prstGeom>
          <a:noFill/>
          <a:ln/>
        </p:spPr>
        <p:txBody>
          <a:bodyPr wrap="square" lIns="0" tIns="0" rIns="0" bIns="0" rtlCol="0" anchor="ctr"/>
          <a:lstStyle/>
          <a:p>
            <a:pPr marL="0" indent="0" algn="ctr">
              <a:buNone/>
            </a:pPr>
            <a:r>
              <a:rPr lang="en-US" sz="1300" dirty="0">
                <a:solidFill>
                  <a:srgbClr val="0B1F2A"/>
                </a:solidFill>
                <a:latin typeface="Calibri" pitchFamily="34" charset="0"/>
                <a:ea typeface="Calibri" pitchFamily="34" charset="-122"/>
                <a:cs typeface="Calibri" pitchFamily="34" charset="-120"/>
              </a:rPr>
              <a:t>YOLO detects fill % &amp; waste type</a:t>
            </a:r>
            <a:endParaRPr lang="en-US" sz="1300" dirty="0"/>
          </a:p>
        </p:txBody>
      </p:sp>
      <p:sp>
        <p:nvSpPr>
          <p:cNvPr id="15" name="Text 13"/>
          <p:cNvSpPr/>
          <p:nvPr/>
        </p:nvSpPr>
        <p:spPr>
          <a:xfrm>
            <a:off x="5954116" y="3337560"/>
            <a:ext cx="283464" cy="457200"/>
          </a:xfrm>
          <a:prstGeom prst="rect">
            <a:avLst/>
          </a:prstGeom>
          <a:noFill/>
          <a:ln/>
        </p:spPr>
        <p:txBody>
          <a:bodyPr wrap="square" lIns="0" tIns="0" rIns="0" bIns="0" rtlCol="0" anchor="ctr"/>
          <a:lstStyle/>
          <a:p>
            <a:pPr marL="0" indent="0" algn="ctr">
              <a:buNone/>
            </a:pPr>
            <a:r>
              <a:rPr lang="en-US" sz="2400" b="1" dirty="0">
                <a:solidFill>
                  <a:srgbClr val="00A896"/>
                </a:solidFill>
                <a:latin typeface="Calibri" pitchFamily="34" charset="0"/>
                <a:ea typeface="Calibri" pitchFamily="34" charset="-122"/>
                <a:cs typeface="Calibri" pitchFamily="34" charset="-120"/>
              </a:rPr>
              <a:t>&gt;</a:t>
            </a:r>
            <a:endParaRPr lang="en-US" sz="2400" dirty="0"/>
          </a:p>
        </p:txBody>
      </p:sp>
      <p:sp>
        <p:nvSpPr>
          <p:cNvPr id="16" name="Shape 14"/>
          <p:cNvSpPr/>
          <p:nvPr/>
        </p:nvSpPr>
        <p:spPr>
          <a:xfrm>
            <a:off x="6255868" y="2286000"/>
            <a:ext cx="2468880" cy="2560320"/>
          </a:xfrm>
          <a:prstGeom prst="rect">
            <a:avLst/>
          </a:prstGeom>
          <a:solidFill>
            <a:srgbClr val="F4F7F8"/>
          </a:solidFill>
          <a:ln w="9525">
            <a:solidFill>
              <a:srgbClr val="D6DEE2"/>
            </a:solidFill>
            <a:prstDash val="solid"/>
          </a:ln>
        </p:spPr>
        <p:txBody>
          <a:bodyPr/>
          <a:lstStyle/>
          <a:p>
            <a:endParaRPr lang="en-US"/>
          </a:p>
        </p:txBody>
      </p:sp>
      <p:sp>
        <p:nvSpPr>
          <p:cNvPr id="17" name="Shape 15"/>
          <p:cNvSpPr/>
          <p:nvPr/>
        </p:nvSpPr>
        <p:spPr>
          <a:xfrm>
            <a:off x="7124548" y="2606040"/>
            <a:ext cx="731520" cy="731520"/>
          </a:xfrm>
          <a:prstGeom prst="ellipse">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7124548" y="260604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3</a:t>
            </a:r>
            <a:endParaRPr lang="en-US" sz="2800" dirty="0"/>
          </a:p>
        </p:txBody>
      </p:sp>
      <p:sp>
        <p:nvSpPr>
          <p:cNvPr id="19" name="Text 17"/>
          <p:cNvSpPr/>
          <p:nvPr/>
        </p:nvSpPr>
        <p:spPr>
          <a:xfrm>
            <a:off x="6255868" y="3520440"/>
            <a:ext cx="2468880" cy="365760"/>
          </a:xfrm>
          <a:prstGeom prst="rect">
            <a:avLst/>
          </a:prstGeom>
          <a:noFill/>
          <a:ln/>
        </p:spPr>
        <p:txBody>
          <a:bodyPr wrap="square" lIns="0" tIns="0" rIns="0" bIns="0" rtlCol="0" anchor="ctr"/>
          <a:lstStyle/>
          <a:p>
            <a:pPr marL="0" indent="0" algn="ctr">
              <a:buNone/>
            </a:pPr>
            <a:r>
              <a:rPr lang="en-US" sz="1300" b="1" kern="0" spc="300" dirty="0">
                <a:solidFill>
                  <a:srgbClr val="028090"/>
                </a:solidFill>
                <a:latin typeface="Calibri" pitchFamily="34" charset="0"/>
                <a:ea typeface="Calibri" pitchFamily="34" charset="-122"/>
                <a:cs typeface="Calibri" pitchFamily="34" charset="-120"/>
              </a:rPr>
              <a:t>ROUTE</a:t>
            </a:r>
            <a:endParaRPr lang="en-US" sz="1300" dirty="0"/>
          </a:p>
        </p:txBody>
      </p:sp>
      <p:sp>
        <p:nvSpPr>
          <p:cNvPr id="20" name="Text 18"/>
          <p:cNvSpPr/>
          <p:nvPr/>
        </p:nvSpPr>
        <p:spPr>
          <a:xfrm>
            <a:off x="6438748" y="3931920"/>
            <a:ext cx="2103120" cy="822960"/>
          </a:xfrm>
          <a:prstGeom prst="rect">
            <a:avLst/>
          </a:prstGeom>
          <a:noFill/>
          <a:ln/>
        </p:spPr>
        <p:txBody>
          <a:bodyPr wrap="square" lIns="0" tIns="0" rIns="0" bIns="0" rtlCol="0" anchor="ctr"/>
          <a:lstStyle/>
          <a:p>
            <a:pPr marL="0" indent="0" algn="ctr">
              <a:buNone/>
            </a:pPr>
            <a:r>
              <a:rPr lang="en-US" sz="1300" dirty="0">
                <a:solidFill>
                  <a:srgbClr val="0B1F2A"/>
                </a:solidFill>
                <a:latin typeface="Calibri" pitchFamily="34" charset="0"/>
                <a:ea typeface="Calibri" pitchFamily="34" charset="-122"/>
                <a:cs typeface="Calibri" pitchFamily="34" charset="-120"/>
              </a:rPr>
              <a:t>Optimiser builds shortest path per worker</a:t>
            </a:r>
            <a:endParaRPr lang="en-US" sz="1300" dirty="0"/>
          </a:p>
        </p:txBody>
      </p:sp>
      <p:sp>
        <p:nvSpPr>
          <p:cNvPr id="21" name="Text 19"/>
          <p:cNvSpPr/>
          <p:nvPr/>
        </p:nvSpPr>
        <p:spPr>
          <a:xfrm>
            <a:off x="8743036" y="3337560"/>
            <a:ext cx="283464" cy="457200"/>
          </a:xfrm>
          <a:prstGeom prst="rect">
            <a:avLst/>
          </a:prstGeom>
          <a:noFill/>
          <a:ln/>
        </p:spPr>
        <p:txBody>
          <a:bodyPr wrap="square" lIns="0" tIns="0" rIns="0" bIns="0" rtlCol="0" anchor="ctr"/>
          <a:lstStyle/>
          <a:p>
            <a:pPr marL="0" indent="0" algn="ctr">
              <a:buNone/>
            </a:pPr>
            <a:r>
              <a:rPr lang="en-US" sz="2400" b="1" dirty="0">
                <a:solidFill>
                  <a:srgbClr val="00A896"/>
                </a:solidFill>
                <a:latin typeface="Calibri" pitchFamily="34" charset="0"/>
                <a:ea typeface="Calibri" pitchFamily="34" charset="-122"/>
                <a:cs typeface="Calibri" pitchFamily="34" charset="-120"/>
              </a:rPr>
              <a:t>&gt;</a:t>
            </a:r>
            <a:endParaRPr lang="en-US" sz="2400" dirty="0"/>
          </a:p>
        </p:txBody>
      </p:sp>
      <p:sp>
        <p:nvSpPr>
          <p:cNvPr id="22" name="Shape 20"/>
          <p:cNvSpPr/>
          <p:nvPr/>
        </p:nvSpPr>
        <p:spPr>
          <a:xfrm>
            <a:off x="9044788" y="2286000"/>
            <a:ext cx="2468880" cy="2560320"/>
          </a:xfrm>
          <a:prstGeom prst="rect">
            <a:avLst/>
          </a:prstGeom>
          <a:solidFill>
            <a:srgbClr val="F4F7F8"/>
          </a:solidFill>
          <a:ln w="9525">
            <a:solidFill>
              <a:srgbClr val="D6DEE2"/>
            </a:solidFill>
            <a:prstDash val="solid"/>
          </a:ln>
        </p:spPr>
        <p:txBody>
          <a:bodyPr/>
          <a:lstStyle/>
          <a:p>
            <a:endParaRPr lang="en-US"/>
          </a:p>
        </p:txBody>
      </p:sp>
      <p:sp>
        <p:nvSpPr>
          <p:cNvPr id="23" name="Shape 21"/>
          <p:cNvSpPr/>
          <p:nvPr/>
        </p:nvSpPr>
        <p:spPr>
          <a:xfrm>
            <a:off x="9913468" y="2606040"/>
            <a:ext cx="731520" cy="731520"/>
          </a:xfrm>
          <a:prstGeom prst="ellipse">
            <a:avLst/>
          </a:prstGeom>
          <a:solidFill>
            <a:srgbClr val="028090"/>
          </a:solidFill>
          <a:ln w="12700">
            <a:solidFill>
              <a:srgbClr val="028090"/>
            </a:solidFill>
            <a:prstDash val="solid"/>
          </a:ln>
        </p:spPr>
        <p:txBody>
          <a:bodyPr/>
          <a:lstStyle/>
          <a:p>
            <a:endParaRPr lang="en-US"/>
          </a:p>
        </p:txBody>
      </p:sp>
      <p:sp>
        <p:nvSpPr>
          <p:cNvPr id="24" name="Text 22"/>
          <p:cNvSpPr/>
          <p:nvPr/>
        </p:nvSpPr>
        <p:spPr>
          <a:xfrm>
            <a:off x="9913468" y="2606040"/>
            <a:ext cx="731520" cy="73152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4</a:t>
            </a:r>
            <a:endParaRPr lang="en-US" sz="2800" dirty="0"/>
          </a:p>
        </p:txBody>
      </p:sp>
      <p:sp>
        <p:nvSpPr>
          <p:cNvPr id="25" name="Text 23"/>
          <p:cNvSpPr/>
          <p:nvPr/>
        </p:nvSpPr>
        <p:spPr>
          <a:xfrm>
            <a:off x="9044788" y="3520440"/>
            <a:ext cx="2468880" cy="365760"/>
          </a:xfrm>
          <a:prstGeom prst="rect">
            <a:avLst/>
          </a:prstGeom>
          <a:noFill/>
          <a:ln/>
        </p:spPr>
        <p:txBody>
          <a:bodyPr wrap="square" lIns="0" tIns="0" rIns="0" bIns="0" rtlCol="0" anchor="ctr"/>
          <a:lstStyle/>
          <a:p>
            <a:pPr marL="0" indent="0" algn="ctr">
              <a:buNone/>
            </a:pPr>
            <a:r>
              <a:rPr lang="en-US" sz="1300" b="1" kern="0" spc="300" dirty="0">
                <a:solidFill>
                  <a:srgbClr val="028090"/>
                </a:solidFill>
                <a:latin typeface="Calibri" pitchFamily="34" charset="0"/>
                <a:ea typeface="Calibri" pitchFamily="34" charset="-122"/>
                <a:cs typeface="Calibri" pitchFamily="34" charset="-120"/>
              </a:rPr>
              <a:t>COLLECT</a:t>
            </a:r>
            <a:endParaRPr lang="en-US" sz="1300" dirty="0"/>
          </a:p>
        </p:txBody>
      </p:sp>
      <p:sp>
        <p:nvSpPr>
          <p:cNvPr id="26" name="Text 24"/>
          <p:cNvSpPr/>
          <p:nvPr/>
        </p:nvSpPr>
        <p:spPr>
          <a:xfrm>
            <a:off x="9227668" y="3931920"/>
            <a:ext cx="2103120" cy="822960"/>
          </a:xfrm>
          <a:prstGeom prst="rect">
            <a:avLst/>
          </a:prstGeom>
          <a:noFill/>
          <a:ln/>
        </p:spPr>
        <p:txBody>
          <a:bodyPr wrap="square" lIns="0" tIns="0" rIns="0" bIns="0" rtlCol="0" anchor="ctr"/>
          <a:lstStyle/>
          <a:p>
            <a:pPr marL="0" indent="0" algn="ctr">
              <a:buNone/>
            </a:pPr>
            <a:r>
              <a:rPr lang="en-US" sz="1300" dirty="0">
                <a:solidFill>
                  <a:srgbClr val="0B1F2A"/>
                </a:solidFill>
                <a:latin typeface="Calibri" pitchFamily="34" charset="0"/>
                <a:ea typeface="Calibri" pitchFamily="34" charset="-122"/>
                <a:cs typeface="Calibri" pitchFamily="34" charset="-120"/>
              </a:rPr>
              <a:t>Worker app guides, confirms, logs each stop</a:t>
            </a:r>
            <a:endParaRPr lang="en-US" sz="1300" dirty="0"/>
          </a:p>
        </p:txBody>
      </p:sp>
      <p:sp>
        <p:nvSpPr>
          <p:cNvPr id="27" name="Text 25"/>
          <p:cNvSpPr/>
          <p:nvPr/>
        </p:nvSpPr>
        <p:spPr>
          <a:xfrm>
            <a:off x="548640" y="5212080"/>
            <a:ext cx="10972800" cy="365760"/>
          </a:xfrm>
          <a:prstGeom prst="rect">
            <a:avLst/>
          </a:prstGeom>
          <a:noFill/>
          <a:ln/>
        </p:spPr>
        <p:txBody>
          <a:bodyPr wrap="square" lIns="0" tIns="0" rIns="0" bIns="0" rtlCol="0" anchor="ctr"/>
          <a:lstStyle/>
          <a:p>
            <a:pPr marL="0" indent="0" algn="ctr">
              <a:buNone/>
            </a:pPr>
            <a:r>
              <a:rPr lang="en-US" sz="1400" i="1" dirty="0">
                <a:solidFill>
                  <a:srgbClr val="5C6B73"/>
                </a:solidFill>
                <a:latin typeface="Calibri" pitchFamily="34" charset="0"/>
                <a:ea typeface="Calibri" pitchFamily="34" charset="-122"/>
                <a:cs typeface="Calibri" pitchFamily="34" charset="-120"/>
              </a:rPr>
              <a:t>Four verbs. Everything else is the engineering to make them reliable, real-time, and compliant.</a:t>
            </a:r>
            <a:endParaRPr lang="en-US" sz="1400" dirty="0"/>
          </a:p>
        </p:txBody>
      </p:sp>
      <p:sp>
        <p:nvSpPr>
          <p:cNvPr id="28" name="Text 26"/>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29" name="Text 27"/>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04 / 22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SYSTEM ARCHITECTURE</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Three tiers, two real-time channels, one source of truth</a:t>
            </a:r>
            <a:endParaRPr lang="en-US" sz="3000" dirty="0"/>
          </a:p>
        </p:txBody>
      </p:sp>
      <p:sp>
        <p:nvSpPr>
          <p:cNvPr id="4" name="Shape 2"/>
          <p:cNvSpPr/>
          <p:nvPr/>
        </p:nvSpPr>
        <p:spPr>
          <a:xfrm>
            <a:off x="457200" y="1920240"/>
            <a:ext cx="2926080" cy="1280160"/>
          </a:xfrm>
          <a:prstGeom prst="rect">
            <a:avLst/>
          </a:prstGeom>
          <a:solidFill>
            <a:srgbClr val="F4F7F8"/>
          </a:solidFill>
          <a:ln w="12700">
            <a:solidFill>
              <a:srgbClr val="028090"/>
            </a:solidFill>
            <a:prstDash val="solid"/>
          </a:ln>
        </p:spPr>
        <p:txBody>
          <a:bodyPr/>
          <a:lstStyle/>
          <a:p>
            <a:endParaRPr lang="en-US"/>
          </a:p>
        </p:txBody>
      </p:sp>
      <p:sp>
        <p:nvSpPr>
          <p:cNvPr id="5" name="Text 3"/>
          <p:cNvSpPr/>
          <p:nvPr/>
        </p:nvSpPr>
        <p:spPr>
          <a:xfrm>
            <a:off x="594360" y="2057400"/>
            <a:ext cx="2651760" cy="365760"/>
          </a:xfrm>
          <a:prstGeom prst="rect">
            <a:avLst/>
          </a:prstGeom>
          <a:noFill/>
          <a:ln/>
        </p:spPr>
        <p:txBody>
          <a:bodyPr wrap="square" lIns="0" tIns="0" rIns="0" bIns="0" rtlCol="0" anchor="ctr"/>
          <a:lstStyle/>
          <a:p>
            <a:pPr marL="0" indent="0">
              <a:buNone/>
            </a:pPr>
            <a:r>
              <a:rPr lang="en-US" sz="1400" b="1" dirty="0">
                <a:solidFill>
                  <a:srgbClr val="0B1F2A"/>
                </a:solidFill>
                <a:latin typeface="Calibri" pitchFamily="34" charset="0"/>
                <a:ea typeface="Calibri" pitchFamily="34" charset="-122"/>
                <a:cs typeface="Calibri" pitchFamily="34" charset="-120"/>
              </a:rPr>
              <a:t>Admin Panel</a:t>
            </a:r>
            <a:endParaRPr lang="en-US" sz="1400" dirty="0"/>
          </a:p>
        </p:txBody>
      </p:sp>
      <p:sp>
        <p:nvSpPr>
          <p:cNvPr id="6" name="Text 4"/>
          <p:cNvSpPr/>
          <p:nvPr/>
        </p:nvSpPr>
        <p:spPr>
          <a:xfrm>
            <a:off x="594360" y="2423160"/>
            <a:ext cx="2651760" cy="685800"/>
          </a:xfrm>
          <a:prstGeom prst="rect">
            <a:avLst/>
          </a:prstGeom>
          <a:noFill/>
          <a:ln/>
        </p:spPr>
        <p:txBody>
          <a:bodyPr wrap="square" lIns="0" tIns="0" rIns="0" bIns="0" rtlCol="0" anchor="t"/>
          <a:lstStyle/>
          <a:p>
            <a:pPr marL="0" indent="0">
              <a:buNone/>
            </a:pPr>
            <a:r>
              <a:rPr lang="en-US" sz="1100" dirty="0">
                <a:solidFill>
                  <a:srgbClr val="5C6B73"/>
                </a:solidFill>
                <a:latin typeface="Calibri" pitchFamily="34" charset="0"/>
                <a:ea typeface="Calibri" pitchFamily="34" charset="-122"/>
                <a:cs typeface="Calibri" pitchFamily="34" charset="-120"/>
              </a:rPr>
              <a:t>React 18 + TypeScript</a:t>
            </a:r>
            <a:endParaRPr lang="en-US" sz="1100" dirty="0"/>
          </a:p>
          <a:p>
            <a:pPr marL="0" indent="0">
              <a:buNone/>
            </a:pPr>
            <a:r>
              <a:rPr lang="en-US" sz="1100" dirty="0">
                <a:solidFill>
                  <a:srgbClr val="5C6B73"/>
                </a:solidFill>
                <a:latin typeface="Calibri" pitchFamily="34" charset="0"/>
                <a:ea typeface="Calibri" pitchFamily="34" charset="-122"/>
                <a:cs typeface="Calibri" pitchFamily="34" charset="-120"/>
              </a:rPr>
              <a:t>Vite · Tailwind · Leaflet</a:t>
            </a:r>
            <a:endParaRPr lang="en-US" sz="1100" dirty="0"/>
          </a:p>
        </p:txBody>
      </p:sp>
      <p:sp>
        <p:nvSpPr>
          <p:cNvPr id="7" name="Shape 5"/>
          <p:cNvSpPr/>
          <p:nvPr/>
        </p:nvSpPr>
        <p:spPr>
          <a:xfrm>
            <a:off x="8823960" y="1920240"/>
            <a:ext cx="2926080" cy="1280160"/>
          </a:xfrm>
          <a:prstGeom prst="rect">
            <a:avLst/>
          </a:prstGeom>
          <a:solidFill>
            <a:srgbClr val="F4F7F8"/>
          </a:solidFill>
          <a:ln w="12700">
            <a:solidFill>
              <a:srgbClr val="028090"/>
            </a:solidFill>
            <a:prstDash val="solid"/>
          </a:ln>
        </p:spPr>
        <p:txBody>
          <a:bodyPr/>
          <a:lstStyle/>
          <a:p>
            <a:endParaRPr lang="en-US"/>
          </a:p>
        </p:txBody>
      </p:sp>
      <p:sp>
        <p:nvSpPr>
          <p:cNvPr id="8" name="Text 6"/>
          <p:cNvSpPr/>
          <p:nvPr/>
        </p:nvSpPr>
        <p:spPr>
          <a:xfrm>
            <a:off x="8961120" y="2057400"/>
            <a:ext cx="2651760" cy="365760"/>
          </a:xfrm>
          <a:prstGeom prst="rect">
            <a:avLst/>
          </a:prstGeom>
          <a:noFill/>
          <a:ln/>
        </p:spPr>
        <p:txBody>
          <a:bodyPr wrap="square" lIns="0" tIns="0" rIns="0" bIns="0" rtlCol="0" anchor="ctr"/>
          <a:lstStyle/>
          <a:p>
            <a:pPr marL="0" indent="0">
              <a:buNone/>
            </a:pPr>
            <a:r>
              <a:rPr lang="en-US" sz="1400" b="1" dirty="0">
                <a:solidFill>
                  <a:srgbClr val="0B1F2A"/>
                </a:solidFill>
                <a:latin typeface="Calibri" pitchFamily="34" charset="0"/>
                <a:ea typeface="Calibri" pitchFamily="34" charset="-122"/>
                <a:cs typeface="Calibri" pitchFamily="34" charset="-120"/>
              </a:rPr>
              <a:t>Worker App</a:t>
            </a:r>
            <a:endParaRPr lang="en-US" sz="1400" dirty="0"/>
          </a:p>
        </p:txBody>
      </p:sp>
      <p:sp>
        <p:nvSpPr>
          <p:cNvPr id="9" name="Text 7"/>
          <p:cNvSpPr/>
          <p:nvPr/>
        </p:nvSpPr>
        <p:spPr>
          <a:xfrm>
            <a:off x="8961120" y="2423160"/>
            <a:ext cx="2651760" cy="685800"/>
          </a:xfrm>
          <a:prstGeom prst="rect">
            <a:avLst/>
          </a:prstGeom>
          <a:noFill/>
          <a:ln/>
        </p:spPr>
        <p:txBody>
          <a:bodyPr wrap="square" lIns="0" tIns="0" rIns="0" bIns="0" rtlCol="0" anchor="t"/>
          <a:lstStyle/>
          <a:p>
            <a:pPr marL="0" indent="0">
              <a:buNone/>
            </a:pPr>
            <a:r>
              <a:rPr lang="en-US" sz="1100" dirty="0">
                <a:solidFill>
                  <a:srgbClr val="5C6B73"/>
                </a:solidFill>
                <a:latin typeface="Calibri" pitchFamily="34" charset="0"/>
                <a:ea typeface="Calibri" pitchFamily="34" charset="-122"/>
                <a:cs typeface="Calibri" pitchFamily="34" charset="-120"/>
              </a:rPr>
              <a:t>Flutter · Dart</a:t>
            </a:r>
            <a:endParaRPr lang="en-US" sz="1100" dirty="0"/>
          </a:p>
          <a:p>
            <a:pPr marL="0" indent="0">
              <a:buNone/>
            </a:pPr>
            <a:r>
              <a:rPr lang="en-US" sz="1100" dirty="0">
                <a:solidFill>
                  <a:srgbClr val="5C6B73"/>
                </a:solidFill>
                <a:latin typeface="Calibri" pitchFamily="34" charset="0"/>
                <a:ea typeface="Calibri" pitchFamily="34" charset="-122"/>
                <a:cs typeface="Calibri" pitchFamily="34" charset="-120"/>
              </a:rPr>
              <a:t>google_maps_flutter · FCM</a:t>
            </a:r>
            <a:endParaRPr lang="en-US" sz="1100" dirty="0"/>
          </a:p>
        </p:txBody>
      </p:sp>
      <p:sp>
        <p:nvSpPr>
          <p:cNvPr id="10" name="Shape 8"/>
          <p:cNvSpPr/>
          <p:nvPr/>
        </p:nvSpPr>
        <p:spPr>
          <a:xfrm>
            <a:off x="4206240" y="1920240"/>
            <a:ext cx="3749040" cy="1417320"/>
          </a:xfrm>
          <a:prstGeom prst="rect">
            <a:avLst/>
          </a:prstGeom>
          <a:solidFill>
            <a:srgbClr val="E6F4F5"/>
          </a:solidFill>
          <a:ln w="12700">
            <a:solidFill>
              <a:srgbClr val="028090"/>
            </a:solidFill>
            <a:prstDash val="solid"/>
          </a:ln>
        </p:spPr>
        <p:txBody>
          <a:bodyPr/>
          <a:lstStyle/>
          <a:p>
            <a:endParaRPr lang="en-US"/>
          </a:p>
        </p:txBody>
      </p:sp>
      <p:sp>
        <p:nvSpPr>
          <p:cNvPr id="11" name="Text 9"/>
          <p:cNvSpPr/>
          <p:nvPr/>
        </p:nvSpPr>
        <p:spPr>
          <a:xfrm>
            <a:off x="4343400" y="2057400"/>
            <a:ext cx="3474720" cy="365760"/>
          </a:xfrm>
          <a:prstGeom prst="rect">
            <a:avLst/>
          </a:prstGeom>
          <a:noFill/>
          <a:ln/>
        </p:spPr>
        <p:txBody>
          <a:bodyPr wrap="square" lIns="0" tIns="0" rIns="0" bIns="0" rtlCol="0" anchor="ctr"/>
          <a:lstStyle/>
          <a:p>
            <a:pPr marL="0" indent="0">
              <a:buNone/>
            </a:pPr>
            <a:r>
              <a:rPr lang="en-US" sz="1400" b="1" dirty="0">
                <a:solidFill>
                  <a:srgbClr val="0B1F2A"/>
                </a:solidFill>
                <a:latin typeface="Calibri" pitchFamily="34" charset="0"/>
                <a:ea typeface="Calibri" pitchFamily="34" charset="-122"/>
                <a:cs typeface="Calibri" pitchFamily="34" charset="-120"/>
              </a:rPr>
              <a:t>Firebase Firestore</a:t>
            </a:r>
            <a:endParaRPr lang="en-US" sz="1400" dirty="0"/>
          </a:p>
        </p:txBody>
      </p:sp>
      <p:sp>
        <p:nvSpPr>
          <p:cNvPr id="12" name="Text 10"/>
          <p:cNvSpPr/>
          <p:nvPr/>
        </p:nvSpPr>
        <p:spPr>
          <a:xfrm>
            <a:off x="4343400" y="2423160"/>
            <a:ext cx="3474720" cy="822960"/>
          </a:xfrm>
          <a:prstGeom prst="rect">
            <a:avLst/>
          </a:prstGeom>
          <a:noFill/>
          <a:ln/>
        </p:spPr>
        <p:txBody>
          <a:bodyPr wrap="square" lIns="0" tIns="0" rIns="0" bIns="0" rtlCol="0" anchor="t"/>
          <a:lstStyle/>
          <a:p>
            <a:pPr marL="0" indent="0">
              <a:buNone/>
            </a:pPr>
            <a:r>
              <a:rPr lang="en-US" sz="1100" dirty="0">
                <a:solidFill>
                  <a:srgbClr val="5C6B73"/>
                </a:solidFill>
                <a:latin typeface="Calibri" pitchFamily="34" charset="0"/>
                <a:ea typeface="Calibri" pitchFamily="34" charset="-122"/>
                <a:cs typeface="Calibri" pitchFamily="34" charset="-120"/>
              </a:rPr>
              <a:t>Source of truth · realtime snapshots</a:t>
            </a:r>
            <a:endParaRPr lang="en-US" sz="1100" dirty="0"/>
          </a:p>
          <a:p>
            <a:pPr marL="0" indent="0">
              <a:buNone/>
            </a:pPr>
            <a:r>
              <a:rPr lang="en-US" sz="1100" dirty="0">
                <a:solidFill>
                  <a:srgbClr val="5C6B73"/>
                </a:solidFill>
                <a:latin typeface="Calibri" pitchFamily="34" charset="0"/>
                <a:ea typeface="Calibri" pitchFamily="34" charset="-122"/>
                <a:cs typeface="Calibri" pitchFamily="34" charset="-120"/>
              </a:rPr>
              <a:t>users · bins · routes · settings ·</a:t>
            </a:r>
            <a:endParaRPr lang="en-US" sz="1100" dirty="0"/>
          </a:p>
          <a:p>
            <a:pPr marL="0" indent="0">
              <a:buNone/>
            </a:pPr>
            <a:r>
              <a:rPr lang="en-US" sz="1100" dirty="0">
                <a:solidFill>
                  <a:srgbClr val="5C6B73"/>
                </a:solidFill>
                <a:latin typeface="Calibri" pitchFamily="34" charset="0"/>
                <a:ea typeface="Calibri" pitchFamily="34" charset="-122"/>
                <a:cs typeface="Calibri" pitchFamily="34" charset="-120"/>
              </a:rPr>
              <a:t>shiftSchedules · anomalies · activityLogs</a:t>
            </a:r>
            <a:endParaRPr lang="en-US" sz="1100" dirty="0"/>
          </a:p>
        </p:txBody>
      </p:sp>
      <p:sp>
        <p:nvSpPr>
          <p:cNvPr id="13" name="Shape 11"/>
          <p:cNvSpPr/>
          <p:nvPr/>
        </p:nvSpPr>
        <p:spPr>
          <a:xfrm>
            <a:off x="4206240" y="4937760"/>
            <a:ext cx="3749040" cy="1280160"/>
          </a:xfrm>
          <a:prstGeom prst="rect">
            <a:avLst/>
          </a:prstGeom>
          <a:solidFill>
            <a:srgbClr val="0B1F2A"/>
          </a:solidFill>
          <a:ln w="12700">
            <a:solidFill>
              <a:srgbClr val="0B1F2A"/>
            </a:solidFill>
            <a:prstDash val="solid"/>
          </a:ln>
        </p:spPr>
        <p:txBody>
          <a:bodyPr/>
          <a:lstStyle/>
          <a:p>
            <a:endParaRPr lang="en-US"/>
          </a:p>
        </p:txBody>
      </p:sp>
      <p:sp>
        <p:nvSpPr>
          <p:cNvPr id="14" name="Text 12"/>
          <p:cNvSpPr/>
          <p:nvPr/>
        </p:nvSpPr>
        <p:spPr>
          <a:xfrm>
            <a:off x="4343400" y="5029200"/>
            <a:ext cx="34747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FastAPI Backend (Python 3.12)</a:t>
            </a:r>
            <a:endParaRPr lang="en-US" sz="1400" dirty="0"/>
          </a:p>
        </p:txBody>
      </p:sp>
      <p:sp>
        <p:nvSpPr>
          <p:cNvPr id="15" name="Text 13"/>
          <p:cNvSpPr/>
          <p:nvPr/>
        </p:nvSpPr>
        <p:spPr>
          <a:xfrm>
            <a:off x="4343400" y="5413248"/>
            <a:ext cx="3474720" cy="777240"/>
          </a:xfrm>
          <a:prstGeom prst="rect">
            <a:avLst/>
          </a:prstGeom>
          <a:noFill/>
          <a:ln/>
        </p:spPr>
        <p:txBody>
          <a:bodyPr wrap="square" lIns="0" tIns="0" rIns="0" bIns="0" rtlCol="0" anchor="t"/>
          <a:lstStyle/>
          <a:p>
            <a:pPr marL="0" indent="0">
              <a:buNone/>
            </a:pPr>
            <a:r>
              <a:rPr lang="en-US" sz="1100" dirty="0">
                <a:solidFill>
                  <a:srgbClr val="9FB3BA"/>
                </a:solidFill>
                <a:latin typeface="Calibri" pitchFamily="34" charset="0"/>
                <a:ea typeface="Calibri" pitchFamily="34" charset="-122"/>
                <a:cs typeface="Calibri" pitchFamily="34" charset="-120"/>
              </a:rPr>
              <a:t>YOLO fill model · YOLO waste-type model</a:t>
            </a:r>
            <a:endParaRPr lang="en-US" sz="1100" dirty="0"/>
          </a:p>
          <a:p>
            <a:pPr marL="0" indent="0">
              <a:buNone/>
            </a:pPr>
            <a:r>
              <a:rPr lang="en-US" sz="1100" dirty="0">
                <a:solidFill>
                  <a:srgbClr val="9FB3BA"/>
                </a:solidFill>
                <a:latin typeface="Calibri" pitchFamily="34" charset="0"/>
                <a:ea typeface="Calibri" pitchFamily="34" charset="-122"/>
                <a:cs typeface="Calibri" pitchFamily="34" charset="-120"/>
              </a:rPr>
              <a:t>Greedy NN + 2-opt · threshold recompute</a:t>
            </a:r>
            <a:endParaRPr lang="en-US" sz="1100" dirty="0"/>
          </a:p>
        </p:txBody>
      </p:sp>
      <p:sp>
        <p:nvSpPr>
          <p:cNvPr id="16" name="Text 14"/>
          <p:cNvSpPr/>
          <p:nvPr/>
        </p:nvSpPr>
        <p:spPr>
          <a:xfrm>
            <a:off x="3383280" y="2331720"/>
            <a:ext cx="822960" cy="27432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HTTPS · Firebase JS SDK</a:t>
            </a:r>
            <a:endParaRPr lang="en-US" sz="800" dirty="0"/>
          </a:p>
        </p:txBody>
      </p:sp>
      <p:sp>
        <p:nvSpPr>
          <p:cNvPr id="17" name="Shape 15"/>
          <p:cNvSpPr/>
          <p:nvPr/>
        </p:nvSpPr>
        <p:spPr>
          <a:xfrm>
            <a:off x="3429000" y="2651760"/>
            <a:ext cx="731520" cy="0"/>
          </a:xfrm>
          <a:prstGeom prst="line">
            <a:avLst/>
          </a:prstGeom>
          <a:noFill/>
          <a:ln w="25400">
            <a:solidFill>
              <a:srgbClr val="028090"/>
            </a:solidFill>
            <a:prstDash val="solid"/>
            <a:tailEnd type="triangle"/>
          </a:ln>
        </p:spPr>
        <p:txBody>
          <a:bodyPr/>
          <a:lstStyle/>
          <a:p>
            <a:endParaRPr lang="en-US"/>
          </a:p>
        </p:txBody>
      </p:sp>
      <p:sp>
        <p:nvSpPr>
          <p:cNvPr id="18" name="Text 16"/>
          <p:cNvSpPr/>
          <p:nvPr/>
        </p:nvSpPr>
        <p:spPr>
          <a:xfrm>
            <a:off x="8001000" y="2331720"/>
            <a:ext cx="777240" cy="274320"/>
          </a:xfrm>
          <a:prstGeom prst="rect">
            <a:avLst/>
          </a:prstGeom>
          <a:noFill/>
          <a:ln/>
        </p:spPr>
        <p:txBody>
          <a:bodyPr wrap="square" lIns="0" tIns="0" rIns="0" bIns="0" rtlCol="0" anchor="ctr"/>
          <a:lstStyle/>
          <a:p>
            <a:pPr marL="0" indent="0" algn="ctr">
              <a:buNone/>
            </a:pPr>
            <a:r>
              <a:rPr lang="en-US" sz="800" dirty="0">
                <a:solidFill>
                  <a:srgbClr val="5C6B73"/>
                </a:solidFill>
                <a:latin typeface="Calibri" pitchFamily="34" charset="0"/>
                <a:ea typeface="Calibri" pitchFamily="34" charset="-122"/>
                <a:cs typeface="Calibri" pitchFamily="34" charset="-120"/>
              </a:rPr>
              <a:t>Firestore · FCM</a:t>
            </a:r>
            <a:endParaRPr lang="en-US" sz="800" dirty="0"/>
          </a:p>
        </p:txBody>
      </p:sp>
      <p:sp>
        <p:nvSpPr>
          <p:cNvPr id="19" name="Shape 17"/>
          <p:cNvSpPr/>
          <p:nvPr/>
        </p:nvSpPr>
        <p:spPr>
          <a:xfrm>
            <a:off x="8001000" y="2651760"/>
            <a:ext cx="777240" cy="0"/>
          </a:xfrm>
          <a:prstGeom prst="line">
            <a:avLst/>
          </a:prstGeom>
          <a:noFill/>
          <a:ln w="25400">
            <a:solidFill>
              <a:srgbClr val="028090"/>
            </a:solidFill>
            <a:prstDash val="solid"/>
            <a:tailEnd type="triangle"/>
          </a:ln>
        </p:spPr>
        <p:txBody>
          <a:bodyPr/>
          <a:lstStyle/>
          <a:p>
            <a:endParaRPr lang="en-US"/>
          </a:p>
        </p:txBody>
      </p:sp>
      <p:sp>
        <p:nvSpPr>
          <p:cNvPr id="20" name="Shape 18"/>
          <p:cNvSpPr/>
          <p:nvPr/>
        </p:nvSpPr>
        <p:spPr>
          <a:xfrm>
            <a:off x="6080760" y="3337560"/>
            <a:ext cx="0" cy="1600200"/>
          </a:xfrm>
          <a:prstGeom prst="line">
            <a:avLst/>
          </a:prstGeom>
          <a:noFill/>
          <a:ln w="25400">
            <a:solidFill>
              <a:srgbClr val="028090"/>
            </a:solidFill>
            <a:prstDash val="solid"/>
            <a:headEnd type="triangle"/>
            <a:tailEnd type="triangle"/>
          </a:ln>
        </p:spPr>
        <p:txBody>
          <a:bodyPr/>
          <a:lstStyle/>
          <a:p>
            <a:endParaRPr lang="en-US"/>
          </a:p>
        </p:txBody>
      </p:sp>
      <p:sp>
        <p:nvSpPr>
          <p:cNvPr id="21" name="Text 19"/>
          <p:cNvSpPr/>
          <p:nvPr/>
        </p:nvSpPr>
        <p:spPr>
          <a:xfrm>
            <a:off x="6309360" y="3977640"/>
            <a:ext cx="2194560" cy="292608"/>
          </a:xfrm>
          <a:prstGeom prst="rect">
            <a:avLst/>
          </a:prstGeom>
          <a:noFill/>
          <a:ln/>
        </p:spPr>
        <p:txBody>
          <a:bodyPr wrap="square" lIns="0" tIns="0" rIns="0" bIns="0" rtlCol="0" anchor="ctr"/>
          <a:lstStyle/>
          <a:p>
            <a:pPr marL="0" indent="0" algn="l">
              <a:buNone/>
            </a:pPr>
            <a:r>
              <a:rPr lang="en-US" sz="900" dirty="0">
                <a:solidFill>
                  <a:srgbClr val="5C6B73"/>
                </a:solidFill>
                <a:latin typeface="Calibri" pitchFamily="34" charset="0"/>
                <a:ea typeface="Calibri" pitchFamily="34" charset="-122"/>
                <a:cs typeface="Calibri" pitchFamily="34" charset="-120"/>
              </a:rPr>
              <a:t>Firebase Admin SDK</a:t>
            </a:r>
            <a:endParaRPr lang="en-US" sz="900" dirty="0"/>
          </a:p>
        </p:txBody>
      </p:sp>
      <p:sp>
        <p:nvSpPr>
          <p:cNvPr id="22" name="Text 20"/>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23" name="Text 21"/>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05 / 22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TECH STACK</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Tools chosen for real-time and AI-first workloads</a:t>
            </a:r>
            <a:endParaRPr lang="en-US" sz="3000" dirty="0"/>
          </a:p>
        </p:txBody>
      </p:sp>
      <p:sp>
        <p:nvSpPr>
          <p:cNvPr id="4" name="Shape 2"/>
          <p:cNvSpPr/>
          <p:nvPr/>
        </p:nvSpPr>
        <p:spPr>
          <a:xfrm>
            <a:off x="472288" y="1828800"/>
            <a:ext cx="3566160" cy="4206240"/>
          </a:xfrm>
          <a:prstGeom prst="rect">
            <a:avLst/>
          </a:prstGeom>
          <a:solidFill>
            <a:srgbClr val="F4F7F8"/>
          </a:solidFill>
          <a:ln w="9525">
            <a:solidFill>
              <a:srgbClr val="D6DEE2"/>
            </a:solidFill>
            <a:prstDash val="solid"/>
          </a:ln>
        </p:spPr>
        <p:txBody>
          <a:bodyPr/>
          <a:lstStyle/>
          <a:p>
            <a:endParaRPr lang="en-US"/>
          </a:p>
        </p:txBody>
      </p:sp>
      <p:sp>
        <p:nvSpPr>
          <p:cNvPr id="5" name="Shape 3"/>
          <p:cNvSpPr/>
          <p:nvPr/>
        </p:nvSpPr>
        <p:spPr>
          <a:xfrm>
            <a:off x="472288" y="1828800"/>
            <a:ext cx="3566160" cy="502920"/>
          </a:xfrm>
          <a:prstGeom prst="rect">
            <a:avLst/>
          </a:prstGeom>
          <a:solidFill>
            <a:srgbClr val="028090"/>
          </a:solidFill>
          <a:ln w="12700">
            <a:solidFill>
              <a:srgbClr val="028090"/>
            </a:solidFill>
            <a:prstDash val="solid"/>
          </a:ln>
        </p:spPr>
        <p:txBody>
          <a:bodyPr/>
          <a:lstStyle/>
          <a:p>
            <a:endParaRPr lang="en-US"/>
          </a:p>
        </p:txBody>
      </p:sp>
      <p:sp>
        <p:nvSpPr>
          <p:cNvPr id="6" name="Text 4"/>
          <p:cNvSpPr/>
          <p:nvPr/>
        </p:nvSpPr>
        <p:spPr>
          <a:xfrm>
            <a:off x="472288" y="1828800"/>
            <a:ext cx="3566160" cy="50292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ADMIN PANEL</a:t>
            </a:r>
            <a:endParaRPr lang="en-US" sz="1300" dirty="0"/>
          </a:p>
        </p:txBody>
      </p:sp>
      <p:sp>
        <p:nvSpPr>
          <p:cNvPr id="7" name="Text 5"/>
          <p:cNvSpPr/>
          <p:nvPr/>
        </p:nvSpPr>
        <p:spPr>
          <a:xfrm>
            <a:off x="746608" y="2560320"/>
            <a:ext cx="3108960" cy="3291840"/>
          </a:xfrm>
          <a:prstGeom prst="rect">
            <a:avLst/>
          </a:prstGeom>
          <a:noFill/>
          <a:ln/>
        </p:spPr>
        <p:txBody>
          <a:bodyPr wrap="square" rtlCol="0" anchor="t"/>
          <a:lstStyle/>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React 18</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TypeScript</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Vite</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Tailwind CSS</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Leaflet</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Firebase JS SDK</a:t>
            </a:r>
            <a:endParaRPr lang="en-US" sz="1400" dirty="0"/>
          </a:p>
        </p:txBody>
      </p:sp>
      <p:sp>
        <p:nvSpPr>
          <p:cNvPr id="8" name="Shape 6"/>
          <p:cNvSpPr/>
          <p:nvPr/>
        </p:nvSpPr>
        <p:spPr>
          <a:xfrm>
            <a:off x="4312768" y="1828800"/>
            <a:ext cx="3566160" cy="4206240"/>
          </a:xfrm>
          <a:prstGeom prst="rect">
            <a:avLst/>
          </a:prstGeom>
          <a:solidFill>
            <a:srgbClr val="F4F7F8"/>
          </a:solidFill>
          <a:ln w="9525">
            <a:solidFill>
              <a:srgbClr val="D6DEE2"/>
            </a:solidFill>
            <a:prstDash val="solid"/>
          </a:ln>
        </p:spPr>
        <p:txBody>
          <a:bodyPr/>
          <a:lstStyle/>
          <a:p>
            <a:endParaRPr lang="en-US"/>
          </a:p>
        </p:txBody>
      </p:sp>
      <p:sp>
        <p:nvSpPr>
          <p:cNvPr id="9" name="Shape 7"/>
          <p:cNvSpPr/>
          <p:nvPr/>
        </p:nvSpPr>
        <p:spPr>
          <a:xfrm>
            <a:off x="4312768" y="1828800"/>
            <a:ext cx="3566160" cy="502920"/>
          </a:xfrm>
          <a:prstGeom prst="rect">
            <a:avLst/>
          </a:prstGeom>
          <a:solidFill>
            <a:srgbClr val="00A896"/>
          </a:solidFill>
          <a:ln w="12700">
            <a:solidFill>
              <a:srgbClr val="00A896"/>
            </a:solidFill>
            <a:prstDash val="solid"/>
          </a:ln>
        </p:spPr>
        <p:txBody>
          <a:bodyPr/>
          <a:lstStyle/>
          <a:p>
            <a:endParaRPr lang="en-US"/>
          </a:p>
        </p:txBody>
      </p:sp>
      <p:sp>
        <p:nvSpPr>
          <p:cNvPr id="10" name="Text 8"/>
          <p:cNvSpPr/>
          <p:nvPr/>
        </p:nvSpPr>
        <p:spPr>
          <a:xfrm>
            <a:off x="4312768" y="1828800"/>
            <a:ext cx="3566160" cy="50292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BACKEND</a:t>
            </a:r>
            <a:endParaRPr lang="en-US" sz="1300" dirty="0"/>
          </a:p>
        </p:txBody>
      </p:sp>
      <p:sp>
        <p:nvSpPr>
          <p:cNvPr id="11" name="Text 9"/>
          <p:cNvSpPr/>
          <p:nvPr/>
        </p:nvSpPr>
        <p:spPr>
          <a:xfrm>
            <a:off x="4587088" y="2560320"/>
            <a:ext cx="3108960" cy="3291840"/>
          </a:xfrm>
          <a:prstGeom prst="rect">
            <a:avLst/>
          </a:prstGeom>
          <a:noFill/>
          <a:ln/>
        </p:spPr>
        <p:txBody>
          <a:bodyPr wrap="square" rtlCol="0" anchor="t"/>
          <a:lstStyle/>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Python 3.12</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FastAPI · Uvicorn</a:t>
            </a:r>
            <a:endParaRPr lang="en-US" sz="1400" dirty="0"/>
          </a:p>
          <a:p>
            <a:pPr marL="342900" indent="-342900">
              <a:spcAft>
                <a:spcPts val="600"/>
              </a:spcAft>
              <a:buSzPct val="100000"/>
              <a:buChar char="■"/>
            </a:pPr>
            <a:r>
              <a:rPr lang="en-US" sz="1400" dirty="0" err="1">
                <a:solidFill>
                  <a:srgbClr val="0B1F2A"/>
                </a:solidFill>
                <a:latin typeface="Calibri" pitchFamily="34" charset="0"/>
                <a:ea typeface="Calibri" pitchFamily="34" charset="-122"/>
                <a:cs typeface="Calibri" pitchFamily="34" charset="-120"/>
              </a:rPr>
              <a:t>Ultralytics</a:t>
            </a:r>
            <a:r>
              <a:rPr lang="en-US" sz="1400" dirty="0">
                <a:solidFill>
                  <a:srgbClr val="0B1F2A"/>
                </a:solidFill>
                <a:latin typeface="Calibri" pitchFamily="34" charset="0"/>
                <a:ea typeface="Calibri" pitchFamily="34" charset="-122"/>
                <a:cs typeface="Calibri" pitchFamily="34" charset="-120"/>
              </a:rPr>
              <a:t> YOLO</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Firebase Admin SDK</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FCM (server send)</a:t>
            </a:r>
            <a:endParaRPr lang="en-US" sz="1400" dirty="0"/>
          </a:p>
        </p:txBody>
      </p:sp>
      <p:sp>
        <p:nvSpPr>
          <p:cNvPr id="12" name="Shape 10"/>
          <p:cNvSpPr/>
          <p:nvPr/>
        </p:nvSpPr>
        <p:spPr>
          <a:xfrm>
            <a:off x="8153248" y="1828800"/>
            <a:ext cx="3566160" cy="4206240"/>
          </a:xfrm>
          <a:prstGeom prst="rect">
            <a:avLst/>
          </a:prstGeom>
          <a:solidFill>
            <a:srgbClr val="F4F7F8"/>
          </a:solidFill>
          <a:ln w="9525">
            <a:solidFill>
              <a:srgbClr val="D6DEE2"/>
            </a:solidFill>
            <a:prstDash val="solid"/>
          </a:ln>
        </p:spPr>
        <p:txBody>
          <a:bodyPr/>
          <a:lstStyle/>
          <a:p>
            <a:endParaRPr lang="en-US"/>
          </a:p>
        </p:txBody>
      </p:sp>
      <p:sp>
        <p:nvSpPr>
          <p:cNvPr id="13" name="Shape 11"/>
          <p:cNvSpPr/>
          <p:nvPr/>
        </p:nvSpPr>
        <p:spPr>
          <a:xfrm>
            <a:off x="8153248" y="1828800"/>
            <a:ext cx="3566160" cy="502920"/>
          </a:xfrm>
          <a:prstGeom prst="rect">
            <a:avLst/>
          </a:prstGeom>
          <a:solidFill>
            <a:srgbClr val="F4A261"/>
          </a:solidFill>
          <a:ln w="12700">
            <a:solidFill>
              <a:srgbClr val="F4A261"/>
            </a:solidFill>
            <a:prstDash val="solid"/>
          </a:ln>
        </p:spPr>
        <p:txBody>
          <a:bodyPr/>
          <a:lstStyle/>
          <a:p>
            <a:endParaRPr lang="en-US"/>
          </a:p>
        </p:txBody>
      </p:sp>
      <p:sp>
        <p:nvSpPr>
          <p:cNvPr id="14" name="Text 12"/>
          <p:cNvSpPr/>
          <p:nvPr/>
        </p:nvSpPr>
        <p:spPr>
          <a:xfrm>
            <a:off x="8153248" y="1828800"/>
            <a:ext cx="3566160" cy="502920"/>
          </a:xfrm>
          <a:prstGeom prst="rect">
            <a:avLst/>
          </a:prstGeom>
          <a:noFill/>
          <a:ln/>
        </p:spPr>
        <p:txBody>
          <a:bodyPr wrap="square" lIns="0" tIns="0" rIns="0" bIns="0" rtlCol="0" anchor="ctr"/>
          <a:lstStyle/>
          <a:p>
            <a:pPr marL="0" indent="0" algn="ctr">
              <a:buNone/>
            </a:pPr>
            <a:r>
              <a:rPr lang="en-US" sz="1300" b="1" kern="0" spc="400" dirty="0">
                <a:solidFill>
                  <a:srgbClr val="FFFFFF"/>
                </a:solidFill>
                <a:latin typeface="Calibri" pitchFamily="34" charset="0"/>
                <a:ea typeface="Calibri" pitchFamily="34" charset="-122"/>
                <a:cs typeface="Calibri" pitchFamily="34" charset="-120"/>
              </a:rPr>
              <a:t>MOBILE</a:t>
            </a:r>
            <a:endParaRPr lang="en-US" sz="1300" dirty="0"/>
          </a:p>
        </p:txBody>
      </p:sp>
      <p:sp>
        <p:nvSpPr>
          <p:cNvPr id="15" name="Text 13"/>
          <p:cNvSpPr/>
          <p:nvPr/>
        </p:nvSpPr>
        <p:spPr>
          <a:xfrm>
            <a:off x="8427568" y="2560320"/>
            <a:ext cx="3108960" cy="3291840"/>
          </a:xfrm>
          <a:prstGeom prst="rect">
            <a:avLst/>
          </a:prstGeom>
          <a:noFill/>
          <a:ln/>
        </p:spPr>
        <p:txBody>
          <a:bodyPr wrap="square" rtlCol="0" anchor="t"/>
          <a:lstStyle/>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Flutter · Dart</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google_maps_flutter</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cloud_firestore</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firebase_auth</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geolocator</a:t>
            </a:r>
            <a:endParaRPr lang="en-US" sz="1400" dirty="0"/>
          </a:p>
          <a:p>
            <a:pPr marL="342900" indent="-342900">
              <a:spcAft>
                <a:spcPts val="600"/>
              </a:spcAft>
              <a:buSzPct val="100000"/>
              <a:buChar char="■"/>
            </a:pPr>
            <a:r>
              <a:rPr lang="en-US" sz="1400" dirty="0">
                <a:solidFill>
                  <a:srgbClr val="0B1F2A"/>
                </a:solidFill>
                <a:latin typeface="Calibri" pitchFamily="34" charset="0"/>
                <a:ea typeface="Calibri" pitchFamily="34" charset="-122"/>
                <a:cs typeface="Calibri" pitchFamily="34" charset="-120"/>
              </a:rPr>
              <a:t>FCM (client)</a:t>
            </a:r>
            <a:endParaRPr lang="en-US" sz="1400" dirty="0"/>
          </a:p>
        </p:txBody>
      </p:sp>
      <p:sp>
        <p:nvSpPr>
          <p:cNvPr id="16" name="Text 14"/>
          <p:cNvSpPr/>
          <p:nvPr/>
        </p:nvSpPr>
        <p:spPr>
          <a:xfrm>
            <a:off x="548640" y="6263640"/>
            <a:ext cx="10972800" cy="274320"/>
          </a:xfrm>
          <a:prstGeom prst="rect">
            <a:avLst/>
          </a:prstGeom>
          <a:noFill/>
          <a:ln/>
        </p:spPr>
        <p:txBody>
          <a:bodyPr wrap="square" lIns="0" tIns="0" rIns="0" bIns="0" rtlCol="0" anchor="ctr"/>
          <a:lstStyle/>
          <a:p>
            <a:pPr marL="0" indent="0" algn="ctr">
              <a:buNone/>
            </a:pPr>
            <a:r>
              <a:rPr lang="en-US" sz="1200" i="1" dirty="0">
                <a:solidFill>
                  <a:srgbClr val="5C6B73"/>
                </a:solidFill>
                <a:latin typeface="Calibri" pitchFamily="34" charset="0"/>
                <a:ea typeface="Calibri" pitchFamily="34" charset="-122"/>
                <a:cs typeface="Calibri" pitchFamily="34" charset="-120"/>
              </a:rPr>
              <a:t>Cross-tier glue: Firebase Firestore + Firebase Authentication</a:t>
            </a:r>
            <a:endParaRPr lang="en-US" sz="12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18" name="Text 16"/>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06 / 22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WALKTHROUGH · ADMIN</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Create worker — one-worker-per-area, enforced server-side</a:t>
            </a:r>
            <a:endParaRPr lang="en-US" sz="3000" dirty="0"/>
          </a:p>
        </p:txBody>
      </p:sp>
      <p:sp>
        <p:nvSpPr>
          <p:cNvPr id="4" name="Text 2"/>
          <p:cNvSpPr/>
          <p:nvPr/>
        </p:nvSpPr>
        <p:spPr>
          <a:xfrm>
            <a:off x="548640" y="1783080"/>
            <a:ext cx="502920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Admin opens 'Add User' → role = worker</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Selects area from canonical dropdown (no free text)</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Selects waste type — Plastic, Organic, Glass, Metal, Mixed</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FastAPI rejects if area already has an active worker</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User receives Firebase Auth invite by email</a:t>
            </a:r>
            <a:endParaRPr lang="en-US" sz="1400" dirty="0"/>
          </a:p>
        </p:txBody>
      </p:sp>
      <p:sp>
        <p:nvSpPr>
          <p:cNvPr id="5" name="Shape 3"/>
          <p:cNvSpPr/>
          <p:nvPr/>
        </p:nvSpPr>
        <p:spPr>
          <a:xfrm>
            <a:off x="6035040" y="1783080"/>
            <a:ext cx="5669280" cy="4572000"/>
          </a:xfrm>
          <a:prstGeom prst="rect">
            <a:avLst/>
          </a:prstGeom>
          <a:solidFill>
            <a:srgbClr val="FFFFFF"/>
          </a:solidFill>
          <a:ln w="12700">
            <a:solidFill>
              <a:srgbClr val="D6DEE2"/>
            </a:solidFill>
            <a:prstDash val="solid"/>
          </a:ln>
        </p:spPr>
        <p:txBody>
          <a:bodyPr/>
          <a:lstStyle/>
          <a:p>
            <a:endParaRPr lang="en-US"/>
          </a:p>
        </p:txBody>
      </p:sp>
      <p:sp>
        <p:nvSpPr>
          <p:cNvPr id="6" name="Shape 4"/>
          <p:cNvSpPr/>
          <p:nvPr/>
        </p:nvSpPr>
        <p:spPr>
          <a:xfrm>
            <a:off x="6035040" y="1783080"/>
            <a:ext cx="5669280" cy="457200"/>
          </a:xfrm>
          <a:prstGeom prst="rect">
            <a:avLst/>
          </a:prstGeom>
          <a:solidFill>
            <a:srgbClr val="0B1F2A"/>
          </a:solidFill>
          <a:ln w="12700">
            <a:solidFill>
              <a:srgbClr val="0B1F2A"/>
            </a:solidFill>
            <a:prstDash val="solid"/>
          </a:ln>
        </p:spPr>
        <p:txBody>
          <a:bodyPr/>
          <a:lstStyle/>
          <a:p>
            <a:endParaRPr lang="en-US"/>
          </a:p>
        </p:txBody>
      </p:sp>
      <p:sp>
        <p:nvSpPr>
          <p:cNvPr id="7" name="Text 5"/>
          <p:cNvSpPr/>
          <p:nvPr/>
        </p:nvSpPr>
        <p:spPr>
          <a:xfrm>
            <a:off x="6263640" y="1783080"/>
            <a:ext cx="365760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Add Worker</a:t>
            </a:r>
            <a:endParaRPr lang="en-US" sz="1200" dirty="0"/>
          </a:p>
        </p:txBody>
      </p:sp>
      <p:sp>
        <p:nvSpPr>
          <p:cNvPr id="8" name="Text 6"/>
          <p:cNvSpPr/>
          <p:nvPr/>
        </p:nvSpPr>
        <p:spPr>
          <a:xfrm>
            <a:off x="9692640" y="1783080"/>
            <a:ext cx="1828800" cy="457200"/>
          </a:xfrm>
          <a:prstGeom prst="rect">
            <a:avLst/>
          </a:prstGeom>
          <a:noFill/>
          <a:ln/>
        </p:spPr>
        <p:txBody>
          <a:bodyPr wrap="square" lIns="0" tIns="0" rIns="0" bIns="0" rtlCol="0" anchor="ctr"/>
          <a:lstStyle/>
          <a:p>
            <a:pPr marL="0" indent="0" algn="r">
              <a:buNone/>
            </a:pPr>
            <a:r>
              <a:rPr lang="en-US" sz="1000" dirty="0">
                <a:solidFill>
                  <a:srgbClr val="9FB3BA"/>
                </a:solidFill>
                <a:latin typeface="Calibri" pitchFamily="34" charset="0"/>
                <a:ea typeface="Calibri" pitchFamily="34" charset="-122"/>
                <a:cs typeface="Calibri" pitchFamily="34" charset="-120"/>
              </a:rPr>
              <a:t>admin.cleancore.app</a:t>
            </a:r>
            <a:endParaRPr lang="en-US" sz="1000" dirty="0"/>
          </a:p>
        </p:txBody>
      </p:sp>
      <p:sp>
        <p:nvSpPr>
          <p:cNvPr id="9" name="Text 7"/>
          <p:cNvSpPr/>
          <p:nvPr/>
        </p:nvSpPr>
        <p:spPr>
          <a:xfrm>
            <a:off x="6309360" y="2468880"/>
            <a:ext cx="2011680" cy="274320"/>
          </a:xfrm>
          <a:prstGeom prst="rect">
            <a:avLst/>
          </a:prstGeom>
          <a:noFill/>
          <a:ln/>
        </p:spPr>
        <p:txBody>
          <a:bodyPr wrap="square" lIns="0" tIns="0" rIns="0" bIns="0" rtlCol="0" anchor="ctr"/>
          <a:lstStyle/>
          <a:p>
            <a:pPr marL="0" indent="0">
              <a:buNone/>
            </a:pPr>
            <a:r>
              <a:rPr lang="en-US" sz="1000" b="1" kern="0" spc="200" dirty="0">
                <a:solidFill>
                  <a:srgbClr val="5C6B73"/>
                </a:solidFill>
                <a:latin typeface="Calibri" pitchFamily="34" charset="0"/>
                <a:ea typeface="Calibri" pitchFamily="34" charset="-122"/>
                <a:cs typeface="Calibri" pitchFamily="34" charset="-120"/>
              </a:rPr>
              <a:t>NAME</a:t>
            </a:r>
            <a:endParaRPr lang="en-US" sz="1000" dirty="0"/>
          </a:p>
        </p:txBody>
      </p:sp>
      <p:sp>
        <p:nvSpPr>
          <p:cNvPr id="10" name="Shape 8"/>
          <p:cNvSpPr/>
          <p:nvPr/>
        </p:nvSpPr>
        <p:spPr>
          <a:xfrm>
            <a:off x="6309360" y="2761488"/>
            <a:ext cx="5120640" cy="384048"/>
          </a:xfrm>
          <a:prstGeom prst="rect">
            <a:avLst/>
          </a:prstGeom>
          <a:solidFill>
            <a:srgbClr val="F4F7F8"/>
          </a:solidFill>
          <a:ln w="6350">
            <a:solidFill>
              <a:srgbClr val="D6DEE2"/>
            </a:solidFill>
            <a:prstDash val="solid"/>
          </a:ln>
        </p:spPr>
        <p:txBody>
          <a:bodyPr/>
          <a:lstStyle/>
          <a:p>
            <a:endParaRPr lang="en-US"/>
          </a:p>
        </p:txBody>
      </p:sp>
      <p:sp>
        <p:nvSpPr>
          <p:cNvPr id="11" name="Text 9"/>
          <p:cNvSpPr/>
          <p:nvPr/>
        </p:nvSpPr>
        <p:spPr>
          <a:xfrm>
            <a:off x="6446520" y="2761488"/>
            <a:ext cx="4846320" cy="384048"/>
          </a:xfrm>
          <a:prstGeom prst="rect">
            <a:avLst/>
          </a:prstGeom>
          <a:noFill/>
          <a:ln/>
        </p:spPr>
        <p:txBody>
          <a:bodyPr wrap="square" lIns="0" tIns="0" rIns="0" bIns="0" rtlCol="0" anchor="ctr"/>
          <a:lstStyle/>
          <a:p>
            <a:pPr marL="0" indent="0">
              <a:buNone/>
            </a:pPr>
            <a:r>
              <a:rPr lang="en-US" sz="1200" dirty="0">
                <a:solidFill>
                  <a:srgbClr val="0B1F2A"/>
                </a:solidFill>
                <a:latin typeface="Calibri" pitchFamily="34" charset="0"/>
                <a:ea typeface="Calibri" pitchFamily="34" charset="-122"/>
                <a:cs typeface="Calibri" pitchFamily="34" charset="-120"/>
              </a:rPr>
              <a:t>Bilal Ahmed</a:t>
            </a:r>
            <a:endParaRPr lang="en-US" sz="1200" dirty="0"/>
          </a:p>
        </p:txBody>
      </p:sp>
      <p:sp>
        <p:nvSpPr>
          <p:cNvPr id="12" name="Text 10"/>
          <p:cNvSpPr/>
          <p:nvPr/>
        </p:nvSpPr>
        <p:spPr>
          <a:xfrm>
            <a:off x="6309360" y="3200400"/>
            <a:ext cx="2011680" cy="274320"/>
          </a:xfrm>
          <a:prstGeom prst="rect">
            <a:avLst/>
          </a:prstGeom>
          <a:noFill/>
          <a:ln/>
        </p:spPr>
        <p:txBody>
          <a:bodyPr wrap="square" lIns="0" tIns="0" rIns="0" bIns="0" rtlCol="0" anchor="ctr"/>
          <a:lstStyle/>
          <a:p>
            <a:pPr marL="0" indent="0">
              <a:buNone/>
            </a:pPr>
            <a:r>
              <a:rPr lang="en-US" sz="1000" b="1" kern="0" spc="200" dirty="0">
                <a:solidFill>
                  <a:srgbClr val="5C6B73"/>
                </a:solidFill>
                <a:latin typeface="Calibri" pitchFamily="34" charset="0"/>
                <a:ea typeface="Calibri" pitchFamily="34" charset="-122"/>
                <a:cs typeface="Calibri" pitchFamily="34" charset="-120"/>
              </a:rPr>
              <a:t>EMAIL</a:t>
            </a:r>
            <a:endParaRPr lang="en-US" sz="1000" dirty="0"/>
          </a:p>
        </p:txBody>
      </p:sp>
      <p:sp>
        <p:nvSpPr>
          <p:cNvPr id="13" name="Shape 11"/>
          <p:cNvSpPr/>
          <p:nvPr/>
        </p:nvSpPr>
        <p:spPr>
          <a:xfrm>
            <a:off x="6309360" y="3493008"/>
            <a:ext cx="5120640" cy="384048"/>
          </a:xfrm>
          <a:prstGeom prst="rect">
            <a:avLst/>
          </a:prstGeom>
          <a:solidFill>
            <a:srgbClr val="F4F7F8"/>
          </a:solidFill>
          <a:ln w="6350">
            <a:solidFill>
              <a:srgbClr val="D6DEE2"/>
            </a:solidFill>
            <a:prstDash val="solid"/>
          </a:ln>
        </p:spPr>
        <p:txBody>
          <a:bodyPr/>
          <a:lstStyle/>
          <a:p>
            <a:endParaRPr lang="en-US"/>
          </a:p>
        </p:txBody>
      </p:sp>
      <p:sp>
        <p:nvSpPr>
          <p:cNvPr id="14" name="Text 12"/>
          <p:cNvSpPr/>
          <p:nvPr/>
        </p:nvSpPr>
        <p:spPr>
          <a:xfrm>
            <a:off x="6446520" y="3493008"/>
            <a:ext cx="4846320" cy="384048"/>
          </a:xfrm>
          <a:prstGeom prst="rect">
            <a:avLst/>
          </a:prstGeom>
          <a:noFill/>
          <a:ln/>
        </p:spPr>
        <p:txBody>
          <a:bodyPr wrap="square" lIns="0" tIns="0" rIns="0" bIns="0" rtlCol="0" anchor="ctr"/>
          <a:lstStyle/>
          <a:p>
            <a:pPr marL="0" indent="0">
              <a:buNone/>
            </a:pPr>
            <a:r>
              <a:rPr lang="en-US" sz="1200" dirty="0">
                <a:solidFill>
                  <a:srgbClr val="0B1F2A"/>
                </a:solidFill>
                <a:latin typeface="Calibri" pitchFamily="34" charset="0"/>
                <a:ea typeface="Calibri" pitchFamily="34" charset="-122"/>
                <a:cs typeface="Calibri" pitchFamily="34" charset="-120"/>
              </a:rPr>
              <a:t>bilal.ahmed@lhc.gov.pk</a:t>
            </a:r>
            <a:endParaRPr lang="en-US" sz="1200" dirty="0"/>
          </a:p>
        </p:txBody>
      </p:sp>
      <p:sp>
        <p:nvSpPr>
          <p:cNvPr id="15" name="Text 13"/>
          <p:cNvSpPr/>
          <p:nvPr/>
        </p:nvSpPr>
        <p:spPr>
          <a:xfrm>
            <a:off x="6309360" y="3931920"/>
            <a:ext cx="2011680" cy="274320"/>
          </a:xfrm>
          <a:prstGeom prst="rect">
            <a:avLst/>
          </a:prstGeom>
          <a:noFill/>
          <a:ln/>
        </p:spPr>
        <p:txBody>
          <a:bodyPr wrap="square" lIns="0" tIns="0" rIns="0" bIns="0" rtlCol="0" anchor="ctr"/>
          <a:lstStyle/>
          <a:p>
            <a:pPr marL="0" indent="0">
              <a:buNone/>
            </a:pPr>
            <a:r>
              <a:rPr lang="en-US" sz="1000" b="1" kern="0" spc="200" dirty="0">
                <a:solidFill>
                  <a:srgbClr val="5C6B73"/>
                </a:solidFill>
                <a:latin typeface="Calibri" pitchFamily="34" charset="0"/>
                <a:ea typeface="Calibri" pitchFamily="34" charset="-122"/>
                <a:cs typeface="Calibri" pitchFamily="34" charset="-120"/>
              </a:rPr>
              <a:t>ASSIGNED AREA</a:t>
            </a:r>
            <a:endParaRPr lang="en-US" sz="1000" dirty="0"/>
          </a:p>
        </p:txBody>
      </p:sp>
      <p:sp>
        <p:nvSpPr>
          <p:cNvPr id="16" name="Shape 14"/>
          <p:cNvSpPr/>
          <p:nvPr/>
        </p:nvSpPr>
        <p:spPr>
          <a:xfrm>
            <a:off x="6309360" y="4224528"/>
            <a:ext cx="5120640" cy="384048"/>
          </a:xfrm>
          <a:prstGeom prst="rect">
            <a:avLst/>
          </a:prstGeom>
          <a:solidFill>
            <a:srgbClr val="F4F7F8"/>
          </a:solidFill>
          <a:ln w="6350">
            <a:solidFill>
              <a:srgbClr val="D6DEE2"/>
            </a:solidFill>
            <a:prstDash val="solid"/>
          </a:ln>
        </p:spPr>
        <p:txBody>
          <a:bodyPr/>
          <a:lstStyle/>
          <a:p>
            <a:endParaRPr lang="en-US"/>
          </a:p>
        </p:txBody>
      </p:sp>
      <p:sp>
        <p:nvSpPr>
          <p:cNvPr id="17" name="Text 15"/>
          <p:cNvSpPr/>
          <p:nvPr/>
        </p:nvSpPr>
        <p:spPr>
          <a:xfrm>
            <a:off x="6446520" y="4224528"/>
            <a:ext cx="4846320" cy="384048"/>
          </a:xfrm>
          <a:prstGeom prst="rect">
            <a:avLst/>
          </a:prstGeom>
          <a:noFill/>
          <a:ln/>
        </p:spPr>
        <p:txBody>
          <a:bodyPr wrap="square" lIns="0" tIns="0" rIns="0" bIns="0" rtlCol="0" anchor="ctr"/>
          <a:lstStyle/>
          <a:p>
            <a:pPr marL="0" indent="0">
              <a:buNone/>
            </a:pPr>
            <a:r>
              <a:rPr lang="en-US" sz="1200" dirty="0">
                <a:solidFill>
                  <a:srgbClr val="0B1F2A"/>
                </a:solidFill>
                <a:latin typeface="Calibri" pitchFamily="34" charset="0"/>
                <a:ea typeface="Calibri" pitchFamily="34" charset="-122"/>
                <a:cs typeface="Calibri" pitchFamily="34" charset="-120"/>
              </a:rPr>
              <a:t>DHA, Lahore</a:t>
            </a:r>
            <a:endParaRPr lang="en-US" sz="1200" dirty="0"/>
          </a:p>
        </p:txBody>
      </p:sp>
      <p:sp>
        <p:nvSpPr>
          <p:cNvPr id="18" name="Text 16"/>
          <p:cNvSpPr/>
          <p:nvPr/>
        </p:nvSpPr>
        <p:spPr>
          <a:xfrm>
            <a:off x="6309360" y="4663440"/>
            <a:ext cx="2011680" cy="274320"/>
          </a:xfrm>
          <a:prstGeom prst="rect">
            <a:avLst/>
          </a:prstGeom>
          <a:noFill/>
          <a:ln/>
        </p:spPr>
        <p:txBody>
          <a:bodyPr wrap="square" lIns="0" tIns="0" rIns="0" bIns="0" rtlCol="0" anchor="ctr"/>
          <a:lstStyle/>
          <a:p>
            <a:pPr marL="0" indent="0">
              <a:buNone/>
            </a:pPr>
            <a:r>
              <a:rPr lang="en-US" sz="1000" b="1" kern="0" spc="200" dirty="0">
                <a:solidFill>
                  <a:srgbClr val="5C6B73"/>
                </a:solidFill>
                <a:latin typeface="Calibri" pitchFamily="34" charset="0"/>
                <a:ea typeface="Calibri" pitchFamily="34" charset="-122"/>
                <a:cs typeface="Calibri" pitchFamily="34" charset="-120"/>
              </a:rPr>
              <a:t>WASTE TYPE</a:t>
            </a:r>
            <a:endParaRPr lang="en-US" sz="1000" dirty="0"/>
          </a:p>
        </p:txBody>
      </p:sp>
      <p:sp>
        <p:nvSpPr>
          <p:cNvPr id="19" name="Shape 17"/>
          <p:cNvSpPr/>
          <p:nvPr/>
        </p:nvSpPr>
        <p:spPr>
          <a:xfrm>
            <a:off x="6309360" y="4956048"/>
            <a:ext cx="5120640" cy="384048"/>
          </a:xfrm>
          <a:prstGeom prst="rect">
            <a:avLst/>
          </a:prstGeom>
          <a:solidFill>
            <a:srgbClr val="F4F7F8"/>
          </a:solidFill>
          <a:ln w="6350">
            <a:solidFill>
              <a:srgbClr val="D6DEE2"/>
            </a:solidFill>
            <a:prstDash val="solid"/>
          </a:ln>
        </p:spPr>
        <p:txBody>
          <a:bodyPr/>
          <a:lstStyle/>
          <a:p>
            <a:endParaRPr lang="en-US"/>
          </a:p>
        </p:txBody>
      </p:sp>
      <p:sp>
        <p:nvSpPr>
          <p:cNvPr id="20" name="Text 18"/>
          <p:cNvSpPr/>
          <p:nvPr/>
        </p:nvSpPr>
        <p:spPr>
          <a:xfrm>
            <a:off x="6446520" y="4956048"/>
            <a:ext cx="4846320" cy="384048"/>
          </a:xfrm>
          <a:prstGeom prst="rect">
            <a:avLst/>
          </a:prstGeom>
          <a:noFill/>
          <a:ln/>
        </p:spPr>
        <p:txBody>
          <a:bodyPr wrap="square" lIns="0" tIns="0" rIns="0" bIns="0" rtlCol="0" anchor="ctr"/>
          <a:lstStyle/>
          <a:p>
            <a:pPr marL="0" indent="0">
              <a:buNone/>
            </a:pPr>
            <a:r>
              <a:rPr lang="en-US" sz="1200" dirty="0">
                <a:solidFill>
                  <a:srgbClr val="0B1F2A"/>
                </a:solidFill>
                <a:latin typeface="Calibri" pitchFamily="34" charset="0"/>
                <a:ea typeface="Calibri" pitchFamily="34" charset="-122"/>
                <a:cs typeface="Calibri" pitchFamily="34" charset="-120"/>
              </a:rPr>
              <a:t>Plastic</a:t>
            </a:r>
            <a:endParaRPr lang="en-US" sz="1200" dirty="0"/>
          </a:p>
        </p:txBody>
      </p:sp>
      <p:sp>
        <p:nvSpPr>
          <p:cNvPr id="21" name="Shape 19"/>
          <p:cNvSpPr/>
          <p:nvPr/>
        </p:nvSpPr>
        <p:spPr>
          <a:xfrm>
            <a:off x="6309360" y="5440680"/>
            <a:ext cx="5120640" cy="502920"/>
          </a:xfrm>
          <a:prstGeom prst="rect">
            <a:avLst/>
          </a:prstGeom>
          <a:solidFill>
            <a:srgbClr val="FEE2E2"/>
          </a:solidFill>
          <a:ln w="9525">
            <a:solidFill>
              <a:srgbClr val="D62828"/>
            </a:solidFill>
            <a:prstDash val="solid"/>
          </a:ln>
        </p:spPr>
        <p:txBody>
          <a:bodyPr/>
          <a:lstStyle/>
          <a:p>
            <a:endParaRPr lang="en-US"/>
          </a:p>
        </p:txBody>
      </p:sp>
      <p:sp>
        <p:nvSpPr>
          <p:cNvPr id="22" name="Text 20"/>
          <p:cNvSpPr/>
          <p:nvPr/>
        </p:nvSpPr>
        <p:spPr>
          <a:xfrm>
            <a:off x="6446520" y="5440680"/>
            <a:ext cx="4846320" cy="502920"/>
          </a:xfrm>
          <a:prstGeom prst="rect">
            <a:avLst/>
          </a:prstGeom>
          <a:noFill/>
          <a:ln/>
        </p:spPr>
        <p:txBody>
          <a:bodyPr wrap="square" lIns="0" tIns="0" rIns="0" bIns="0" rtlCol="0" anchor="ctr"/>
          <a:lstStyle/>
          <a:p>
            <a:pPr marL="0" indent="0">
              <a:buNone/>
            </a:pPr>
            <a:r>
              <a:rPr lang="en-US" sz="1200" b="1" dirty="0">
                <a:solidFill>
                  <a:srgbClr val="D62828"/>
                </a:solidFill>
                <a:latin typeface="Calibri" pitchFamily="34" charset="0"/>
                <a:ea typeface="Calibri" pitchFamily="34" charset="-122"/>
                <a:cs typeface="Calibri" pitchFamily="34" charset="-120"/>
              </a:rPr>
              <a:t>Area 'DHA, Lahore' already has an active worker.</a:t>
            </a:r>
            <a:endParaRPr lang="en-US" sz="12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24" name="Text 22"/>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08 / 22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WALKTHROUGH · ADMIN</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Register bin — photo + GPS, AI returns fill % and waste type</a:t>
            </a:r>
            <a:endParaRPr lang="en-US" sz="3000" dirty="0"/>
          </a:p>
        </p:txBody>
      </p:sp>
      <p:sp>
        <p:nvSpPr>
          <p:cNvPr id="4" name="Text 2"/>
          <p:cNvSpPr/>
          <p:nvPr/>
        </p:nvSpPr>
        <p:spPr>
          <a:xfrm>
            <a:off x="548640" y="1783080"/>
            <a:ext cx="429768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Admin drops a pin on the Leaflet map</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Uploads a bin photo from the device</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FastAPI runs both YOLO models in &lt;200ms</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Returned fill % and waste type pre-fill the form</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Admin confirms; bin is written to Firestore</a:t>
            </a:r>
            <a:endParaRPr lang="en-US" sz="1400" dirty="0"/>
          </a:p>
        </p:txBody>
      </p:sp>
      <p:sp>
        <p:nvSpPr>
          <p:cNvPr id="5" name="Shape 3"/>
          <p:cNvSpPr/>
          <p:nvPr/>
        </p:nvSpPr>
        <p:spPr>
          <a:xfrm>
            <a:off x="5212080" y="1783080"/>
            <a:ext cx="6492240" cy="4572000"/>
          </a:xfrm>
          <a:prstGeom prst="rect">
            <a:avLst/>
          </a:prstGeom>
          <a:solidFill>
            <a:srgbClr val="FFFFFF"/>
          </a:solidFill>
          <a:ln w="12700">
            <a:solidFill>
              <a:srgbClr val="D6DEE2"/>
            </a:solidFill>
            <a:prstDash val="solid"/>
          </a:ln>
        </p:spPr>
        <p:txBody>
          <a:bodyPr/>
          <a:lstStyle/>
          <a:p>
            <a:endParaRPr lang="en-US"/>
          </a:p>
        </p:txBody>
      </p:sp>
      <p:sp>
        <p:nvSpPr>
          <p:cNvPr id="6" name="Shape 4"/>
          <p:cNvSpPr/>
          <p:nvPr/>
        </p:nvSpPr>
        <p:spPr>
          <a:xfrm>
            <a:off x="5212080" y="1783080"/>
            <a:ext cx="6492240" cy="457200"/>
          </a:xfrm>
          <a:prstGeom prst="rect">
            <a:avLst/>
          </a:prstGeom>
          <a:solidFill>
            <a:srgbClr val="0B1F2A"/>
          </a:solidFill>
          <a:ln w="12700">
            <a:solidFill>
              <a:srgbClr val="0B1F2A"/>
            </a:solidFill>
            <a:prstDash val="solid"/>
          </a:ln>
        </p:spPr>
        <p:txBody>
          <a:bodyPr/>
          <a:lstStyle/>
          <a:p>
            <a:endParaRPr lang="en-US"/>
          </a:p>
        </p:txBody>
      </p:sp>
      <p:sp>
        <p:nvSpPr>
          <p:cNvPr id="7" name="Text 5"/>
          <p:cNvSpPr/>
          <p:nvPr/>
        </p:nvSpPr>
        <p:spPr>
          <a:xfrm>
            <a:off x="5440680" y="1783080"/>
            <a:ext cx="3657600" cy="45720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Register Bin</a:t>
            </a:r>
            <a:endParaRPr lang="en-US" sz="1200" dirty="0"/>
          </a:p>
        </p:txBody>
      </p:sp>
      <p:sp>
        <p:nvSpPr>
          <p:cNvPr id="8" name="Shape 6"/>
          <p:cNvSpPr/>
          <p:nvPr/>
        </p:nvSpPr>
        <p:spPr>
          <a:xfrm>
            <a:off x="5440680" y="2423160"/>
            <a:ext cx="3291840" cy="3200400"/>
          </a:xfrm>
          <a:prstGeom prst="rect">
            <a:avLst/>
          </a:prstGeom>
          <a:solidFill>
            <a:srgbClr val="E6F0EE"/>
          </a:solidFill>
          <a:ln w="6350">
            <a:solidFill>
              <a:srgbClr val="D6DEE2"/>
            </a:solidFill>
            <a:prstDash val="solid"/>
          </a:ln>
        </p:spPr>
        <p:txBody>
          <a:bodyPr/>
          <a:lstStyle/>
          <a:p>
            <a:endParaRPr lang="en-US"/>
          </a:p>
        </p:txBody>
      </p:sp>
      <p:sp>
        <p:nvSpPr>
          <p:cNvPr id="9" name="Shape 7"/>
          <p:cNvSpPr/>
          <p:nvPr/>
        </p:nvSpPr>
        <p:spPr>
          <a:xfrm>
            <a:off x="5532120" y="2880360"/>
            <a:ext cx="3108960" cy="0"/>
          </a:xfrm>
          <a:prstGeom prst="line">
            <a:avLst/>
          </a:prstGeom>
          <a:noFill/>
          <a:ln w="12700">
            <a:solidFill>
              <a:srgbClr val="C8D6CC"/>
            </a:solidFill>
            <a:prstDash val="solid"/>
          </a:ln>
        </p:spPr>
        <p:txBody>
          <a:bodyPr/>
          <a:lstStyle/>
          <a:p>
            <a:endParaRPr lang="en-US"/>
          </a:p>
        </p:txBody>
      </p:sp>
      <p:sp>
        <p:nvSpPr>
          <p:cNvPr id="10" name="Shape 8"/>
          <p:cNvSpPr/>
          <p:nvPr/>
        </p:nvSpPr>
        <p:spPr>
          <a:xfrm>
            <a:off x="5532120" y="3429000"/>
            <a:ext cx="3108960" cy="0"/>
          </a:xfrm>
          <a:prstGeom prst="line">
            <a:avLst/>
          </a:prstGeom>
          <a:noFill/>
          <a:ln w="12700">
            <a:solidFill>
              <a:srgbClr val="C8D6CC"/>
            </a:solidFill>
            <a:prstDash val="solid"/>
          </a:ln>
        </p:spPr>
        <p:txBody>
          <a:bodyPr/>
          <a:lstStyle/>
          <a:p>
            <a:endParaRPr lang="en-US"/>
          </a:p>
        </p:txBody>
      </p:sp>
      <p:sp>
        <p:nvSpPr>
          <p:cNvPr id="11" name="Shape 9"/>
          <p:cNvSpPr/>
          <p:nvPr/>
        </p:nvSpPr>
        <p:spPr>
          <a:xfrm>
            <a:off x="5532120" y="3977640"/>
            <a:ext cx="3108960" cy="0"/>
          </a:xfrm>
          <a:prstGeom prst="line">
            <a:avLst/>
          </a:prstGeom>
          <a:noFill/>
          <a:ln w="12700">
            <a:solidFill>
              <a:srgbClr val="C8D6CC"/>
            </a:solidFill>
            <a:prstDash val="solid"/>
          </a:ln>
        </p:spPr>
        <p:txBody>
          <a:bodyPr/>
          <a:lstStyle/>
          <a:p>
            <a:endParaRPr lang="en-US"/>
          </a:p>
        </p:txBody>
      </p:sp>
      <p:sp>
        <p:nvSpPr>
          <p:cNvPr id="12" name="Shape 10"/>
          <p:cNvSpPr/>
          <p:nvPr/>
        </p:nvSpPr>
        <p:spPr>
          <a:xfrm>
            <a:off x="5532120" y="4526280"/>
            <a:ext cx="3108960" cy="0"/>
          </a:xfrm>
          <a:prstGeom prst="line">
            <a:avLst/>
          </a:prstGeom>
          <a:noFill/>
          <a:ln w="12700">
            <a:solidFill>
              <a:srgbClr val="C8D6CC"/>
            </a:solidFill>
            <a:prstDash val="solid"/>
          </a:ln>
        </p:spPr>
        <p:txBody>
          <a:bodyPr/>
          <a:lstStyle/>
          <a:p>
            <a:endParaRPr lang="en-US"/>
          </a:p>
        </p:txBody>
      </p:sp>
      <p:sp>
        <p:nvSpPr>
          <p:cNvPr id="13" name="Shape 11"/>
          <p:cNvSpPr/>
          <p:nvPr/>
        </p:nvSpPr>
        <p:spPr>
          <a:xfrm>
            <a:off x="5532120" y="5074920"/>
            <a:ext cx="3108960" cy="0"/>
          </a:xfrm>
          <a:prstGeom prst="line">
            <a:avLst/>
          </a:prstGeom>
          <a:noFill/>
          <a:ln w="12700">
            <a:solidFill>
              <a:srgbClr val="C8D6CC"/>
            </a:solidFill>
            <a:prstDash val="solid"/>
          </a:ln>
        </p:spPr>
        <p:txBody>
          <a:bodyPr/>
          <a:lstStyle/>
          <a:p>
            <a:endParaRPr lang="en-US"/>
          </a:p>
        </p:txBody>
      </p:sp>
      <p:sp>
        <p:nvSpPr>
          <p:cNvPr id="14" name="Shape 12"/>
          <p:cNvSpPr/>
          <p:nvPr/>
        </p:nvSpPr>
        <p:spPr>
          <a:xfrm>
            <a:off x="5897880" y="2514600"/>
            <a:ext cx="0" cy="3017520"/>
          </a:xfrm>
          <a:prstGeom prst="line">
            <a:avLst/>
          </a:prstGeom>
          <a:noFill/>
          <a:ln w="12700">
            <a:solidFill>
              <a:srgbClr val="C8D6CC"/>
            </a:solidFill>
            <a:prstDash val="solid"/>
          </a:ln>
        </p:spPr>
        <p:txBody>
          <a:bodyPr/>
          <a:lstStyle/>
          <a:p>
            <a:endParaRPr lang="en-US"/>
          </a:p>
        </p:txBody>
      </p:sp>
      <p:sp>
        <p:nvSpPr>
          <p:cNvPr id="15" name="Shape 13"/>
          <p:cNvSpPr/>
          <p:nvPr/>
        </p:nvSpPr>
        <p:spPr>
          <a:xfrm>
            <a:off x="6446520" y="2514600"/>
            <a:ext cx="0" cy="3017520"/>
          </a:xfrm>
          <a:prstGeom prst="line">
            <a:avLst/>
          </a:prstGeom>
          <a:noFill/>
          <a:ln w="12700">
            <a:solidFill>
              <a:srgbClr val="C8D6CC"/>
            </a:solidFill>
            <a:prstDash val="solid"/>
          </a:ln>
        </p:spPr>
        <p:txBody>
          <a:bodyPr/>
          <a:lstStyle/>
          <a:p>
            <a:endParaRPr lang="en-US"/>
          </a:p>
        </p:txBody>
      </p:sp>
      <p:sp>
        <p:nvSpPr>
          <p:cNvPr id="16" name="Shape 14"/>
          <p:cNvSpPr/>
          <p:nvPr/>
        </p:nvSpPr>
        <p:spPr>
          <a:xfrm>
            <a:off x="6995160" y="2514600"/>
            <a:ext cx="0" cy="3017520"/>
          </a:xfrm>
          <a:prstGeom prst="line">
            <a:avLst/>
          </a:prstGeom>
          <a:noFill/>
          <a:ln w="12700">
            <a:solidFill>
              <a:srgbClr val="C8D6CC"/>
            </a:solidFill>
            <a:prstDash val="solid"/>
          </a:ln>
        </p:spPr>
        <p:txBody>
          <a:bodyPr/>
          <a:lstStyle/>
          <a:p>
            <a:endParaRPr lang="en-US"/>
          </a:p>
        </p:txBody>
      </p:sp>
      <p:sp>
        <p:nvSpPr>
          <p:cNvPr id="17" name="Shape 15"/>
          <p:cNvSpPr/>
          <p:nvPr/>
        </p:nvSpPr>
        <p:spPr>
          <a:xfrm>
            <a:off x="7543800" y="2514600"/>
            <a:ext cx="0" cy="3017520"/>
          </a:xfrm>
          <a:prstGeom prst="line">
            <a:avLst/>
          </a:prstGeom>
          <a:noFill/>
          <a:ln w="12700">
            <a:solidFill>
              <a:srgbClr val="C8D6CC"/>
            </a:solidFill>
            <a:prstDash val="solid"/>
          </a:ln>
        </p:spPr>
        <p:txBody>
          <a:bodyPr/>
          <a:lstStyle/>
          <a:p>
            <a:endParaRPr lang="en-US"/>
          </a:p>
        </p:txBody>
      </p:sp>
      <p:sp>
        <p:nvSpPr>
          <p:cNvPr id="18" name="Shape 16"/>
          <p:cNvSpPr/>
          <p:nvPr/>
        </p:nvSpPr>
        <p:spPr>
          <a:xfrm>
            <a:off x="8092440" y="2514600"/>
            <a:ext cx="0" cy="3017520"/>
          </a:xfrm>
          <a:prstGeom prst="line">
            <a:avLst/>
          </a:prstGeom>
          <a:noFill/>
          <a:ln w="12700">
            <a:solidFill>
              <a:srgbClr val="C8D6CC"/>
            </a:solidFill>
            <a:prstDash val="solid"/>
          </a:ln>
        </p:spPr>
        <p:txBody>
          <a:bodyPr/>
          <a:lstStyle/>
          <a:p>
            <a:endParaRPr lang="en-US"/>
          </a:p>
        </p:txBody>
      </p:sp>
      <p:sp>
        <p:nvSpPr>
          <p:cNvPr id="19" name="Shape 17"/>
          <p:cNvSpPr/>
          <p:nvPr/>
        </p:nvSpPr>
        <p:spPr>
          <a:xfrm>
            <a:off x="6949440" y="3886200"/>
            <a:ext cx="274320" cy="274320"/>
          </a:xfrm>
          <a:prstGeom prst="ellipse">
            <a:avLst/>
          </a:prstGeom>
          <a:solidFill>
            <a:srgbClr val="D62828"/>
          </a:solidFill>
          <a:ln w="25400">
            <a:solidFill>
              <a:srgbClr val="FFFFFF"/>
            </a:solidFill>
            <a:prstDash val="solid"/>
          </a:ln>
        </p:spPr>
        <p:txBody>
          <a:bodyPr/>
          <a:lstStyle/>
          <a:p>
            <a:endParaRPr lang="en-US"/>
          </a:p>
        </p:txBody>
      </p:sp>
      <p:sp>
        <p:nvSpPr>
          <p:cNvPr id="20" name="Text 18"/>
          <p:cNvSpPr/>
          <p:nvPr/>
        </p:nvSpPr>
        <p:spPr>
          <a:xfrm>
            <a:off x="5577840" y="5257800"/>
            <a:ext cx="2286000" cy="274320"/>
          </a:xfrm>
          <a:prstGeom prst="rect">
            <a:avLst/>
          </a:prstGeom>
          <a:noFill/>
          <a:ln/>
        </p:spPr>
        <p:txBody>
          <a:bodyPr wrap="square" lIns="0" tIns="0" rIns="0" bIns="0" rtlCol="0" anchor="ctr"/>
          <a:lstStyle/>
          <a:p>
            <a:pPr marL="0" indent="0">
              <a:buNone/>
            </a:pPr>
            <a:r>
              <a:rPr lang="en-US" sz="1000" b="1" dirty="0">
                <a:solidFill>
                  <a:srgbClr val="0B1F2A"/>
                </a:solidFill>
                <a:latin typeface="Calibri" pitchFamily="34" charset="0"/>
                <a:ea typeface="Calibri" pitchFamily="34" charset="-122"/>
                <a:cs typeface="Calibri" pitchFamily="34" charset="-120"/>
              </a:rPr>
              <a:t>Islamabad · F-7</a:t>
            </a:r>
            <a:endParaRPr lang="en-US" sz="1000" dirty="0"/>
          </a:p>
        </p:txBody>
      </p:sp>
      <p:sp>
        <p:nvSpPr>
          <p:cNvPr id="21" name="Shape 19"/>
          <p:cNvSpPr/>
          <p:nvPr/>
        </p:nvSpPr>
        <p:spPr>
          <a:xfrm>
            <a:off x="8915400" y="2423160"/>
            <a:ext cx="2606040" cy="2011680"/>
          </a:xfrm>
          <a:prstGeom prst="rect">
            <a:avLst/>
          </a:prstGeom>
          <a:solidFill>
            <a:srgbClr val="F4F7F8"/>
          </a:solidFill>
          <a:ln w="6350">
            <a:solidFill>
              <a:srgbClr val="D6DEE2"/>
            </a:solidFill>
            <a:prstDash val="solid"/>
          </a:ln>
        </p:spPr>
        <p:txBody>
          <a:bodyPr/>
          <a:lstStyle/>
          <a:p>
            <a:endParaRPr lang="en-US"/>
          </a:p>
        </p:txBody>
      </p:sp>
      <p:sp>
        <p:nvSpPr>
          <p:cNvPr id="22" name="Text 20"/>
          <p:cNvSpPr/>
          <p:nvPr/>
        </p:nvSpPr>
        <p:spPr>
          <a:xfrm>
            <a:off x="8915400" y="2423160"/>
            <a:ext cx="2606040" cy="2011680"/>
          </a:xfrm>
          <a:prstGeom prst="rect">
            <a:avLst/>
          </a:prstGeom>
          <a:noFill/>
          <a:ln/>
        </p:spPr>
        <p:txBody>
          <a:bodyPr wrap="square" lIns="0" tIns="0" rIns="0" bIns="0" rtlCol="0" anchor="ctr"/>
          <a:lstStyle/>
          <a:p>
            <a:pPr marL="0" indent="0" algn="ctr">
              <a:buNone/>
            </a:pPr>
            <a:r>
              <a:rPr lang="en-US" sz="1100" i="1" dirty="0">
                <a:solidFill>
                  <a:srgbClr val="5C6B73"/>
                </a:solidFill>
                <a:latin typeface="Calibri" pitchFamily="34" charset="0"/>
                <a:ea typeface="Calibri" pitchFamily="34" charset="-122"/>
                <a:cs typeface="Calibri" pitchFamily="34" charset="-120"/>
              </a:rPr>
              <a:t>[ uploaded bin photo ]</a:t>
            </a:r>
            <a:endParaRPr lang="en-US" sz="1100" dirty="0"/>
          </a:p>
        </p:txBody>
      </p:sp>
      <p:sp>
        <p:nvSpPr>
          <p:cNvPr id="23" name="Shape 21"/>
          <p:cNvSpPr/>
          <p:nvPr/>
        </p:nvSpPr>
        <p:spPr>
          <a:xfrm>
            <a:off x="8915400" y="4617720"/>
            <a:ext cx="2606040" cy="502920"/>
          </a:xfrm>
          <a:prstGeom prst="rect">
            <a:avLst/>
          </a:prstGeom>
          <a:solidFill>
            <a:srgbClr val="E6F4F5"/>
          </a:solidFill>
          <a:ln w="6350">
            <a:solidFill>
              <a:srgbClr val="028090"/>
            </a:solidFill>
            <a:prstDash val="solid"/>
          </a:ln>
        </p:spPr>
        <p:txBody>
          <a:bodyPr/>
          <a:lstStyle/>
          <a:p>
            <a:endParaRPr lang="en-US"/>
          </a:p>
        </p:txBody>
      </p:sp>
      <p:sp>
        <p:nvSpPr>
          <p:cNvPr id="24" name="Text 22"/>
          <p:cNvSpPr/>
          <p:nvPr/>
        </p:nvSpPr>
        <p:spPr>
          <a:xfrm>
            <a:off x="9052560" y="4617720"/>
            <a:ext cx="2331720" cy="502920"/>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Fill: </a:t>
            </a:r>
            <a:r>
              <a:rPr lang="en-US" sz="1300" b="1" dirty="0">
                <a:solidFill>
                  <a:srgbClr val="028090"/>
                </a:solidFill>
                <a:latin typeface="Calibri" pitchFamily="34" charset="0"/>
                <a:ea typeface="Calibri" pitchFamily="34" charset="-122"/>
                <a:cs typeface="Calibri" pitchFamily="34" charset="-120"/>
              </a:rPr>
              <a:t>73%</a:t>
            </a:r>
            <a:endParaRPr lang="en-US" sz="1100" dirty="0"/>
          </a:p>
        </p:txBody>
      </p:sp>
      <p:sp>
        <p:nvSpPr>
          <p:cNvPr id="25" name="Shape 23"/>
          <p:cNvSpPr/>
          <p:nvPr/>
        </p:nvSpPr>
        <p:spPr>
          <a:xfrm>
            <a:off x="8915400" y="5212080"/>
            <a:ext cx="2606040" cy="502920"/>
          </a:xfrm>
          <a:prstGeom prst="rect">
            <a:avLst/>
          </a:prstGeom>
          <a:solidFill>
            <a:srgbClr val="E6F4F5"/>
          </a:solidFill>
          <a:ln w="6350">
            <a:solidFill>
              <a:srgbClr val="028090"/>
            </a:solidFill>
            <a:prstDash val="solid"/>
          </a:ln>
        </p:spPr>
        <p:txBody>
          <a:bodyPr/>
          <a:lstStyle/>
          <a:p>
            <a:endParaRPr lang="en-US"/>
          </a:p>
        </p:txBody>
      </p:sp>
      <p:sp>
        <p:nvSpPr>
          <p:cNvPr id="26" name="Text 24"/>
          <p:cNvSpPr/>
          <p:nvPr/>
        </p:nvSpPr>
        <p:spPr>
          <a:xfrm>
            <a:off x="9052560" y="5212080"/>
            <a:ext cx="2331720" cy="502920"/>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Waste: </a:t>
            </a:r>
            <a:r>
              <a:rPr lang="en-US" sz="1300" b="1" dirty="0">
                <a:solidFill>
                  <a:srgbClr val="028090"/>
                </a:solidFill>
                <a:latin typeface="Calibri" pitchFamily="34" charset="0"/>
                <a:ea typeface="Calibri" pitchFamily="34" charset="-122"/>
                <a:cs typeface="Calibri" pitchFamily="34" charset="-120"/>
              </a:rPr>
              <a:t>Plastic  </a:t>
            </a:r>
            <a:r>
              <a:rPr lang="en-US" sz="1100" i="1" dirty="0">
                <a:solidFill>
                  <a:srgbClr val="5C6B73"/>
                </a:solidFill>
                <a:latin typeface="Calibri" pitchFamily="34" charset="0"/>
                <a:ea typeface="Calibri" pitchFamily="34" charset="-122"/>
                <a:cs typeface="Calibri" pitchFamily="34" charset="-120"/>
              </a:rPr>
              <a:t>(conf 0.91)</a:t>
            </a:r>
            <a:endParaRPr lang="en-US" sz="1100" dirty="0"/>
          </a:p>
        </p:txBody>
      </p:sp>
      <p:sp>
        <p:nvSpPr>
          <p:cNvPr id="27" name="Shape 25"/>
          <p:cNvSpPr/>
          <p:nvPr/>
        </p:nvSpPr>
        <p:spPr>
          <a:xfrm>
            <a:off x="10149840" y="5715000"/>
            <a:ext cx="1280160" cy="411480"/>
          </a:xfrm>
          <a:prstGeom prst="rect">
            <a:avLst/>
          </a:prstGeom>
          <a:solidFill>
            <a:srgbClr val="028090"/>
          </a:solidFill>
          <a:ln w="12700">
            <a:solidFill>
              <a:srgbClr val="028090"/>
            </a:solidFill>
            <a:prstDash val="solid"/>
          </a:ln>
        </p:spPr>
        <p:txBody>
          <a:bodyPr/>
          <a:lstStyle/>
          <a:p>
            <a:endParaRPr lang="en-US"/>
          </a:p>
        </p:txBody>
      </p:sp>
      <p:sp>
        <p:nvSpPr>
          <p:cNvPr id="28" name="Text 26"/>
          <p:cNvSpPr/>
          <p:nvPr/>
        </p:nvSpPr>
        <p:spPr>
          <a:xfrm>
            <a:off x="10149840" y="5715000"/>
            <a:ext cx="12801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Confirm + Save</a:t>
            </a:r>
            <a:endParaRPr lang="en-US" sz="11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30" name="Text 28"/>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09 / 22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THE AI PIPELINE</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Two YOLO models, &lt;200ms inference</a:t>
            </a:r>
            <a:endParaRPr lang="en-US" sz="3000" dirty="0"/>
          </a:p>
        </p:txBody>
      </p:sp>
      <p:sp>
        <p:nvSpPr>
          <p:cNvPr id="4" name="Text 2"/>
          <p:cNvSpPr/>
          <p:nvPr/>
        </p:nvSpPr>
        <p:spPr>
          <a:xfrm>
            <a:off x="548640" y="1783080"/>
            <a:ext cx="475488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Model A: fill-level detection — regression on bin volume</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Model B: waste classification — 5-class softmax</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Both run in-process on FastAPI via </a:t>
            </a:r>
            <a:r>
              <a:rPr lang="en-US" sz="1400" dirty="0" err="1">
                <a:solidFill>
                  <a:srgbClr val="0B1F2A"/>
                </a:solidFill>
                <a:latin typeface="Calibri" pitchFamily="34" charset="0"/>
                <a:ea typeface="Calibri" pitchFamily="34" charset="-122"/>
                <a:cs typeface="Calibri" pitchFamily="34" charset="-120"/>
              </a:rPr>
              <a:t>Ultralytics</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Inference cached per image hash to avoid recompute</a:t>
            </a:r>
            <a:endParaRPr lang="en-US" sz="1400" dirty="0"/>
          </a:p>
        </p:txBody>
      </p:sp>
      <p:sp>
        <p:nvSpPr>
          <p:cNvPr id="5" name="Shape 3"/>
          <p:cNvSpPr/>
          <p:nvPr/>
        </p:nvSpPr>
        <p:spPr>
          <a:xfrm>
            <a:off x="5669280" y="2286000"/>
            <a:ext cx="1463040" cy="1463040"/>
          </a:xfrm>
          <a:prstGeom prst="rect">
            <a:avLst/>
          </a:prstGeom>
          <a:solidFill>
            <a:srgbClr val="F4F7F8"/>
          </a:solidFill>
          <a:ln w="9525">
            <a:solidFill>
              <a:srgbClr val="D6DEE2"/>
            </a:solidFill>
            <a:prstDash val="solid"/>
          </a:ln>
        </p:spPr>
        <p:txBody>
          <a:bodyPr/>
          <a:lstStyle/>
          <a:p>
            <a:endParaRPr lang="en-US"/>
          </a:p>
        </p:txBody>
      </p:sp>
      <p:sp>
        <p:nvSpPr>
          <p:cNvPr id="6" name="Text 4"/>
          <p:cNvSpPr/>
          <p:nvPr/>
        </p:nvSpPr>
        <p:spPr>
          <a:xfrm>
            <a:off x="5669280" y="2286000"/>
            <a:ext cx="1463040" cy="1463040"/>
          </a:xfrm>
          <a:prstGeom prst="rect">
            <a:avLst/>
          </a:prstGeom>
          <a:noFill/>
          <a:ln/>
        </p:spPr>
        <p:txBody>
          <a:bodyPr wrap="square" lIns="0" tIns="0" rIns="0" bIns="0" rtlCol="0" anchor="ctr"/>
          <a:lstStyle/>
          <a:p>
            <a:pPr marL="0" indent="0" algn="ctr">
              <a:buNone/>
            </a:pPr>
            <a:r>
              <a:rPr lang="en-US" sz="1100" i="1" dirty="0">
                <a:solidFill>
                  <a:srgbClr val="5C6B73"/>
                </a:solidFill>
                <a:latin typeface="Calibri" pitchFamily="34" charset="0"/>
                <a:ea typeface="Calibri" pitchFamily="34" charset="-122"/>
                <a:cs typeface="Calibri" pitchFamily="34" charset="-120"/>
              </a:rPr>
              <a:t>Bin photo</a:t>
            </a:r>
            <a:endParaRPr lang="en-US" sz="1100" dirty="0"/>
          </a:p>
        </p:txBody>
      </p:sp>
      <p:sp>
        <p:nvSpPr>
          <p:cNvPr id="7" name="Shape 5"/>
          <p:cNvSpPr/>
          <p:nvPr/>
        </p:nvSpPr>
        <p:spPr>
          <a:xfrm>
            <a:off x="7132320" y="2651760"/>
            <a:ext cx="914400" cy="0"/>
          </a:xfrm>
          <a:prstGeom prst="line">
            <a:avLst/>
          </a:prstGeom>
          <a:noFill/>
          <a:ln w="25400">
            <a:solidFill>
              <a:srgbClr val="028090"/>
            </a:solidFill>
            <a:prstDash val="solid"/>
            <a:tailEnd type="triangle"/>
          </a:ln>
        </p:spPr>
        <p:txBody>
          <a:bodyPr/>
          <a:lstStyle/>
          <a:p>
            <a:endParaRPr lang="en-US"/>
          </a:p>
        </p:txBody>
      </p:sp>
      <p:sp>
        <p:nvSpPr>
          <p:cNvPr id="8" name="Shape 6"/>
          <p:cNvSpPr/>
          <p:nvPr/>
        </p:nvSpPr>
        <p:spPr>
          <a:xfrm>
            <a:off x="7132320" y="3383280"/>
            <a:ext cx="914400" cy="548640"/>
          </a:xfrm>
          <a:prstGeom prst="line">
            <a:avLst/>
          </a:prstGeom>
          <a:noFill/>
          <a:ln w="25400">
            <a:solidFill>
              <a:srgbClr val="028090"/>
            </a:solidFill>
            <a:prstDash val="solid"/>
            <a:tailEnd type="triangle"/>
          </a:ln>
        </p:spPr>
        <p:txBody>
          <a:bodyPr/>
          <a:lstStyle/>
          <a:p>
            <a:endParaRPr lang="en-US"/>
          </a:p>
        </p:txBody>
      </p:sp>
      <p:sp>
        <p:nvSpPr>
          <p:cNvPr id="9" name="Shape 7"/>
          <p:cNvSpPr/>
          <p:nvPr/>
        </p:nvSpPr>
        <p:spPr>
          <a:xfrm>
            <a:off x="8092440" y="1783080"/>
            <a:ext cx="3657600" cy="1280160"/>
          </a:xfrm>
          <a:prstGeom prst="rect">
            <a:avLst/>
          </a:prstGeom>
          <a:solidFill>
            <a:srgbClr val="0B1F2A"/>
          </a:solidFill>
          <a:ln w="12700">
            <a:solidFill>
              <a:srgbClr val="0B1F2A"/>
            </a:solidFill>
            <a:prstDash val="solid"/>
          </a:ln>
        </p:spPr>
        <p:txBody>
          <a:bodyPr/>
          <a:lstStyle/>
          <a:p>
            <a:endParaRPr lang="en-US"/>
          </a:p>
        </p:txBody>
      </p:sp>
      <p:sp>
        <p:nvSpPr>
          <p:cNvPr id="10" name="Text 8"/>
          <p:cNvSpPr/>
          <p:nvPr/>
        </p:nvSpPr>
        <p:spPr>
          <a:xfrm>
            <a:off x="8229600" y="1828800"/>
            <a:ext cx="3383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YOLO · Fill Model</a:t>
            </a:r>
            <a:endParaRPr lang="en-US" sz="1300" dirty="0"/>
          </a:p>
        </p:txBody>
      </p:sp>
      <p:sp>
        <p:nvSpPr>
          <p:cNvPr id="11" name="Text 9"/>
          <p:cNvSpPr/>
          <p:nvPr/>
        </p:nvSpPr>
        <p:spPr>
          <a:xfrm>
            <a:off x="8229600" y="2194560"/>
            <a:ext cx="3383280" cy="868680"/>
          </a:xfrm>
          <a:prstGeom prst="rect">
            <a:avLst/>
          </a:prstGeom>
          <a:noFill/>
          <a:ln/>
        </p:spPr>
        <p:txBody>
          <a:bodyPr wrap="square" lIns="0" tIns="0" rIns="0" bIns="0" rtlCol="0" anchor="t"/>
          <a:lstStyle/>
          <a:p>
            <a:pPr marL="0" indent="0">
              <a:buNone/>
            </a:pPr>
            <a:r>
              <a:rPr lang="en-US" sz="1100" dirty="0">
                <a:solidFill>
                  <a:srgbClr val="9FB3BA"/>
                </a:solidFill>
                <a:latin typeface="Calibri" pitchFamily="34" charset="0"/>
                <a:ea typeface="Calibri" pitchFamily="34" charset="-122"/>
                <a:cs typeface="Calibri" pitchFamily="34" charset="-120"/>
              </a:rPr>
              <a:t>Output: </a:t>
            </a:r>
            <a:r>
              <a:rPr lang="en-US" sz="1200" b="1" dirty="0">
                <a:solidFill>
                  <a:srgbClr val="00A896"/>
                </a:solidFill>
                <a:latin typeface="Calibri" pitchFamily="34" charset="0"/>
                <a:ea typeface="Calibri" pitchFamily="34" charset="-122"/>
                <a:cs typeface="Calibri" pitchFamily="34" charset="-120"/>
              </a:rPr>
              <a:t>Fill % (0–100)</a:t>
            </a:r>
            <a:endParaRPr lang="en-US" sz="1100" dirty="0"/>
          </a:p>
          <a:p>
            <a:pPr marL="0" indent="0">
              <a:buNone/>
            </a:pPr>
            <a:r>
              <a:rPr lang="en-US" sz="1100" dirty="0">
                <a:solidFill>
                  <a:srgbClr val="9FB3BA"/>
                </a:solidFill>
                <a:latin typeface="Calibri" pitchFamily="34" charset="0"/>
                <a:ea typeface="Calibri" pitchFamily="34" charset="-122"/>
                <a:cs typeface="Calibri" pitchFamily="34" charset="-120"/>
              </a:rPr>
              <a:t>Loss: </a:t>
            </a:r>
            <a:r>
              <a:rPr lang="en-US" sz="1200" b="1" dirty="0">
                <a:solidFill>
                  <a:srgbClr val="FFFFFF"/>
                </a:solidFill>
                <a:latin typeface="Calibri" pitchFamily="34" charset="0"/>
                <a:ea typeface="Calibri" pitchFamily="34" charset="-122"/>
                <a:cs typeface="Calibri" pitchFamily="34" charset="-120"/>
              </a:rPr>
              <a:t>MSE regression</a:t>
            </a:r>
            <a:endParaRPr lang="en-US" sz="1100" dirty="0"/>
          </a:p>
        </p:txBody>
      </p:sp>
      <p:sp>
        <p:nvSpPr>
          <p:cNvPr id="12" name="Shape 10"/>
          <p:cNvSpPr/>
          <p:nvPr/>
        </p:nvSpPr>
        <p:spPr>
          <a:xfrm>
            <a:off x="8092440" y="3291840"/>
            <a:ext cx="3657600" cy="1280160"/>
          </a:xfrm>
          <a:prstGeom prst="rect">
            <a:avLst/>
          </a:prstGeom>
          <a:solidFill>
            <a:srgbClr val="0B1F2A"/>
          </a:solidFill>
          <a:ln w="12700">
            <a:solidFill>
              <a:srgbClr val="0B1F2A"/>
            </a:solidFill>
            <a:prstDash val="solid"/>
          </a:ln>
        </p:spPr>
        <p:txBody>
          <a:bodyPr/>
          <a:lstStyle/>
          <a:p>
            <a:endParaRPr lang="en-US"/>
          </a:p>
        </p:txBody>
      </p:sp>
      <p:sp>
        <p:nvSpPr>
          <p:cNvPr id="13" name="Text 11"/>
          <p:cNvSpPr/>
          <p:nvPr/>
        </p:nvSpPr>
        <p:spPr>
          <a:xfrm>
            <a:off x="8229600" y="3337560"/>
            <a:ext cx="3383280" cy="36576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YOLO · Waste Classifier</a:t>
            </a:r>
            <a:endParaRPr lang="en-US" sz="1300" dirty="0"/>
          </a:p>
        </p:txBody>
      </p:sp>
      <p:sp>
        <p:nvSpPr>
          <p:cNvPr id="14" name="Text 12"/>
          <p:cNvSpPr/>
          <p:nvPr/>
        </p:nvSpPr>
        <p:spPr>
          <a:xfrm>
            <a:off x="8229600" y="3703320"/>
            <a:ext cx="3383280" cy="868680"/>
          </a:xfrm>
          <a:prstGeom prst="rect">
            <a:avLst/>
          </a:prstGeom>
          <a:noFill/>
          <a:ln/>
        </p:spPr>
        <p:txBody>
          <a:bodyPr wrap="square" lIns="0" tIns="0" rIns="0" bIns="0" rtlCol="0" anchor="t"/>
          <a:lstStyle/>
          <a:p>
            <a:pPr marL="0" indent="0">
              <a:buNone/>
            </a:pPr>
            <a:r>
              <a:rPr lang="en-US" sz="1100" dirty="0">
                <a:solidFill>
                  <a:srgbClr val="9FB3BA"/>
                </a:solidFill>
                <a:latin typeface="Calibri" pitchFamily="34" charset="0"/>
                <a:ea typeface="Calibri" pitchFamily="34" charset="-122"/>
                <a:cs typeface="Calibri" pitchFamily="34" charset="-120"/>
              </a:rPr>
              <a:t>Output: </a:t>
            </a:r>
            <a:r>
              <a:rPr lang="en-US" sz="1200" b="1" dirty="0">
                <a:solidFill>
                  <a:srgbClr val="00A896"/>
                </a:solidFill>
                <a:latin typeface="Calibri" pitchFamily="34" charset="0"/>
                <a:ea typeface="Calibri" pitchFamily="34" charset="-122"/>
                <a:cs typeface="Calibri" pitchFamily="34" charset="-120"/>
              </a:rPr>
              <a:t>5-class + confidence</a:t>
            </a:r>
            <a:endParaRPr lang="en-US" sz="1100" dirty="0"/>
          </a:p>
          <a:p>
            <a:pPr marL="0" indent="0">
              <a:buNone/>
            </a:pPr>
            <a:r>
              <a:rPr lang="en-US" sz="1100" dirty="0">
                <a:solidFill>
                  <a:srgbClr val="9FB3BA"/>
                </a:solidFill>
                <a:latin typeface="Calibri" pitchFamily="34" charset="0"/>
                <a:ea typeface="Calibri" pitchFamily="34" charset="-122"/>
                <a:cs typeface="Calibri" pitchFamily="34" charset="-120"/>
              </a:rPr>
              <a:t>Classes: </a:t>
            </a:r>
            <a:r>
              <a:rPr lang="en-US" sz="1100" b="1" dirty="0">
                <a:solidFill>
                  <a:srgbClr val="FFFFFF"/>
                </a:solidFill>
                <a:latin typeface="Calibri" pitchFamily="34" charset="0"/>
                <a:ea typeface="Calibri" pitchFamily="34" charset="-122"/>
                <a:cs typeface="Calibri" pitchFamily="34" charset="-120"/>
              </a:rPr>
              <a:t>Plastic · Organic · Glass · Metal · Mixed</a:t>
            </a:r>
            <a:endParaRPr lang="en-US" sz="1100" dirty="0"/>
          </a:p>
        </p:txBody>
      </p:sp>
      <p:sp>
        <p:nvSpPr>
          <p:cNvPr id="15" name="Shape 13"/>
          <p:cNvSpPr/>
          <p:nvPr/>
        </p:nvSpPr>
        <p:spPr>
          <a:xfrm>
            <a:off x="5669280" y="5120640"/>
            <a:ext cx="6080760" cy="914400"/>
          </a:xfrm>
          <a:prstGeom prst="rect">
            <a:avLst/>
          </a:prstGeom>
          <a:solidFill>
            <a:srgbClr val="F4F7F8"/>
          </a:solidFill>
          <a:ln w="9525">
            <a:solidFill>
              <a:srgbClr val="D6DEE2"/>
            </a:solidFill>
            <a:prstDash val="solid"/>
          </a:ln>
        </p:spPr>
        <p:txBody>
          <a:bodyPr/>
          <a:lstStyle/>
          <a:p>
            <a:endParaRPr lang="en-US"/>
          </a:p>
        </p:txBody>
      </p:sp>
      <p:sp>
        <p:nvSpPr>
          <p:cNvPr id="16" name="Shape 14"/>
          <p:cNvSpPr/>
          <p:nvPr/>
        </p:nvSpPr>
        <p:spPr>
          <a:xfrm>
            <a:off x="5669280" y="5120640"/>
            <a:ext cx="91440" cy="914400"/>
          </a:xfrm>
          <a:prstGeom prst="rect">
            <a:avLst/>
          </a:prstGeom>
          <a:solidFill>
            <a:srgbClr val="F4A261"/>
          </a:solidFill>
          <a:ln w="12700">
            <a:solidFill>
              <a:srgbClr val="F4A261"/>
            </a:solidFill>
            <a:prstDash val="solid"/>
          </a:ln>
        </p:spPr>
        <p:txBody>
          <a:bodyPr/>
          <a:lstStyle/>
          <a:p>
            <a:endParaRPr lang="en-US"/>
          </a:p>
        </p:txBody>
      </p:sp>
      <p:sp>
        <p:nvSpPr>
          <p:cNvPr id="17" name="Text 15"/>
          <p:cNvSpPr/>
          <p:nvPr/>
        </p:nvSpPr>
        <p:spPr>
          <a:xfrm>
            <a:off x="5897880" y="5120640"/>
            <a:ext cx="5760720" cy="914400"/>
          </a:xfrm>
          <a:prstGeom prst="rect">
            <a:avLst/>
          </a:prstGeom>
          <a:noFill/>
          <a:ln/>
        </p:spPr>
        <p:txBody>
          <a:bodyPr wrap="square" lIns="0" tIns="0" rIns="0" bIns="0" rtlCol="0" anchor="ctr"/>
          <a:lstStyle/>
          <a:p>
            <a:pPr marL="0" indent="0">
              <a:buNone/>
            </a:pPr>
            <a:r>
              <a:rPr lang="en-US" sz="1200" i="1" dirty="0">
                <a:solidFill>
                  <a:srgbClr val="0B1F2A"/>
                </a:solidFill>
                <a:latin typeface="Calibri" pitchFamily="34" charset="0"/>
                <a:ea typeface="Calibri" pitchFamily="34" charset="-122"/>
                <a:cs typeface="Calibri" pitchFamily="34" charset="-120"/>
              </a:rPr>
              <a:t>Two specialised models &gt; one multi-task model: each retrains independently; weights hot-swap without redeploying the backend.</a:t>
            </a:r>
            <a:endParaRPr lang="en-US" sz="120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19" name="Text 17"/>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10 / 22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REAL-TIME CONTROL</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Admin moves a slider; every worker map repaints in &lt;100ms</a:t>
            </a:r>
            <a:endParaRPr lang="en-US" sz="3000" dirty="0"/>
          </a:p>
        </p:txBody>
      </p:sp>
      <p:sp>
        <p:nvSpPr>
          <p:cNvPr id="4" name="Text 2"/>
          <p:cNvSpPr/>
          <p:nvPr/>
        </p:nvSpPr>
        <p:spPr>
          <a:xfrm>
            <a:off x="548640" y="1783080"/>
            <a:ext cx="4114800" cy="4114800"/>
          </a:xfrm>
          <a:prstGeom prst="rect">
            <a:avLst/>
          </a:prstGeom>
          <a:noFill/>
          <a:ln/>
        </p:spPr>
        <p:txBody>
          <a:bodyPr wrap="square" rtlCol="0" anchor="t"/>
          <a:lstStyle/>
          <a:p>
            <a:pPr marL="342900" indent="-342900">
              <a:spcAft>
                <a:spcPts val="800"/>
              </a:spcAft>
              <a:buSzPct val="100000"/>
              <a:buChar char="■"/>
            </a:pPr>
            <a:r>
              <a:rPr lang="en-US" sz="1300" dirty="0">
                <a:solidFill>
                  <a:srgbClr val="0B1F2A"/>
                </a:solidFill>
                <a:latin typeface="Calibri" pitchFamily="34" charset="0"/>
                <a:ea typeface="Calibri" pitchFamily="34" charset="-122"/>
                <a:cs typeface="Calibri" pitchFamily="34" charset="-120"/>
              </a:rPr>
              <a:t>Admin writes to settings/thresholds in Firestore</a:t>
            </a:r>
            <a:endParaRPr lang="en-US" sz="1300" dirty="0"/>
          </a:p>
          <a:p>
            <a:pPr marL="342900" indent="-342900">
              <a:spcAft>
                <a:spcPts val="800"/>
              </a:spcAft>
              <a:buSzPct val="100000"/>
              <a:buChar char="■"/>
            </a:pPr>
            <a:r>
              <a:rPr lang="en-US" sz="1300" dirty="0">
                <a:solidFill>
                  <a:srgbClr val="0B1F2A"/>
                </a:solidFill>
                <a:latin typeface="Calibri" pitchFamily="34" charset="0"/>
                <a:ea typeface="Calibri" pitchFamily="34" charset="-122"/>
                <a:cs typeface="Calibri" pitchFamily="34" charset="-120"/>
              </a:rPr>
              <a:t>Backend listener triggers batch recompute of bins.status</a:t>
            </a:r>
            <a:endParaRPr lang="en-US" sz="1300" dirty="0"/>
          </a:p>
          <a:p>
            <a:pPr marL="342900" indent="-342900">
              <a:spcAft>
                <a:spcPts val="800"/>
              </a:spcAft>
              <a:buSzPct val="100000"/>
              <a:buChar char="■"/>
            </a:pPr>
            <a:r>
              <a:rPr lang="en-US" sz="1300" dirty="0">
                <a:solidFill>
                  <a:srgbClr val="0B1F2A"/>
                </a:solidFill>
                <a:latin typeface="Calibri" pitchFamily="34" charset="0"/>
                <a:ea typeface="Calibri" pitchFamily="34" charset="-122"/>
                <a:cs typeface="Calibri" pitchFamily="34" charset="-120"/>
              </a:rPr>
              <a:t>Worker app snapshot listener fires within ~100ms</a:t>
            </a:r>
            <a:endParaRPr lang="en-US" sz="1300" dirty="0"/>
          </a:p>
          <a:p>
            <a:pPr marL="342900" indent="-342900">
              <a:spcAft>
                <a:spcPts val="800"/>
              </a:spcAft>
              <a:buSzPct val="100000"/>
              <a:buChar char="■"/>
            </a:pPr>
            <a:r>
              <a:rPr lang="en-US" sz="1300" dirty="0">
                <a:solidFill>
                  <a:srgbClr val="0B1F2A"/>
                </a:solidFill>
                <a:latin typeface="Calibri" pitchFamily="34" charset="0"/>
                <a:ea typeface="Calibri" pitchFamily="34" charset="-122"/>
                <a:cs typeface="Calibri" pitchFamily="34" charset="-120"/>
              </a:rPr>
              <a:t>Markers retint (green &gt; amber &gt; red)</a:t>
            </a:r>
            <a:endParaRPr lang="en-US" sz="1300" dirty="0"/>
          </a:p>
          <a:p>
            <a:pPr marL="342900" indent="-342900">
              <a:spcAft>
                <a:spcPts val="800"/>
              </a:spcAft>
              <a:buSzPct val="100000"/>
              <a:buChar char="■"/>
            </a:pPr>
            <a:r>
              <a:rPr lang="en-US" sz="1300" dirty="0">
                <a:solidFill>
                  <a:srgbClr val="0B1F2A"/>
                </a:solidFill>
                <a:latin typeface="Calibri" pitchFamily="34" charset="0"/>
                <a:ea typeface="Calibri" pitchFamily="34" charset="-122"/>
                <a:cs typeface="Calibri" pitchFamily="34" charset="-120"/>
              </a:rPr>
              <a:t>Newly-critical bins emit 'Ready for pickup' snackbars</a:t>
            </a:r>
            <a:endParaRPr lang="en-US" sz="1300" dirty="0"/>
          </a:p>
        </p:txBody>
      </p:sp>
      <p:sp>
        <p:nvSpPr>
          <p:cNvPr id="5" name="Shape 3"/>
          <p:cNvSpPr/>
          <p:nvPr/>
        </p:nvSpPr>
        <p:spPr>
          <a:xfrm>
            <a:off x="5120640" y="1783080"/>
            <a:ext cx="3200400" cy="3291840"/>
          </a:xfrm>
          <a:prstGeom prst="rect">
            <a:avLst/>
          </a:prstGeom>
          <a:solidFill>
            <a:srgbClr val="FFFFFF"/>
          </a:solidFill>
          <a:ln w="9525">
            <a:solidFill>
              <a:srgbClr val="D6DEE2"/>
            </a:solidFill>
            <a:prstDash val="solid"/>
          </a:ln>
        </p:spPr>
        <p:txBody>
          <a:bodyPr/>
          <a:lstStyle/>
          <a:p>
            <a:endParaRPr lang="en-US"/>
          </a:p>
        </p:txBody>
      </p:sp>
      <p:sp>
        <p:nvSpPr>
          <p:cNvPr id="6" name="Shape 4"/>
          <p:cNvSpPr/>
          <p:nvPr/>
        </p:nvSpPr>
        <p:spPr>
          <a:xfrm>
            <a:off x="5120640" y="1783080"/>
            <a:ext cx="3200400" cy="411480"/>
          </a:xfrm>
          <a:prstGeom prst="rect">
            <a:avLst/>
          </a:prstGeom>
          <a:solidFill>
            <a:srgbClr val="0B1F2A"/>
          </a:solidFill>
          <a:ln w="12700">
            <a:solidFill>
              <a:srgbClr val="0B1F2A"/>
            </a:solidFill>
            <a:prstDash val="solid"/>
          </a:ln>
        </p:spPr>
        <p:txBody>
          <a:bodyPr/>
          <a:lstStyle/>
          <a:p>
            <a:endParaRPr lang="en-US"/>
          </a:p>
        </p:txBody>
      </p:sp>
      <p:sp>
        <p:nvSpPr>
          <p:cNvPr id="7" name="Text 5"/>
          <p:cNvSpPr/>
          <p:nvPr/>
        </p:nvSpPr>
        <p:spPr>
          <a:xfrm>
            <a:off x="5303520" y="1783080"/>
            <a:ext cx="182880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BEFORE</a:t>
            </a:r>
            <a:endParaRPr lang="en-US" sz="1100" dirty="0"/>
          </a:p>
        </p:txBody>
      </p:sp>
      <p:sp>
        <p:nvSpPr>
          <p:cNvPr id="8" name="Text 6"/>
          <p:cNvSpPr/>
          <p:nvPr/>
        </p:nvSpPr>
        <p:spPr>
          <a:xfrm>
            <a:off x="6858000" y="1783080"/>
            <a:ext cx="1280160" cy="411480"/>
          </a:xfrm>
          <a:prstGeom prst="rect">
            <a:avLst/>
          </a:prstGeom>
          <a:noFill/>
          <a:ln/>
        </p:spPr>
        <p:txBody>
          <a:bodyPr wrap="square" lIns="0" tIns="0" rIns="0" bIns="0" rtlCol="0" anchor="ctr"/>
          <a:lstStyle/>
          <a:p>
            <a:pPr marL="0" indent="0" algn="r">
              <a:buNone/>
            </a:pPr>
            <a:r>
              <a:rPr lang="en-US" sz="1000" dirty="0">
                <a:solidFill>
                  <a:srgbClr val="00A896"/>
                </a:solidFill>
                <a:latin typeface="Calibri" pitchFamily="34" charset="0"/>
                <a:ea typeface="Calibri" pitchFamily="34" charset="-122"/>
                <a:cs typeface="Calibri" pitchFamily="34" charset="-120"/>
              </a:rPr>
              <a:t>threshold 80%</a:t>
            </a:r>
            <a:endParaRPr lang="en-US" sz="1000" dirty="0"/>
          </a:p>
        </p:txBody>
      </p:sp>
      <p:sp>
        <p:nvSpPr>
          <p:cNvPr id="9" name="Shape 7"/>
          <p:cNvSpPr/>
          <p:nvPr/>
        </p:nvSpPr>
        <p:spPr>
          <a:xfrm>
            <a:off x="5257800" y="2331720"/>
            <a:ext cx="2926080" cy="2606040"/>
          </a:xfrm>
          <a:prstGeom prst="rect">
            <a:avLst/>
          </a:prstGeom>
          <a:solidFill>
            <a:srgbClr val="EAF2EE"/>
          </a:solidFill>
          <a:ln w="5080">
            <a:solidFill>
              <a:srgbClr val="D6DEE2"/>
            </a:solidFill>
            <a:prstDash val="solid"/>
          </a:ln>
        </p:spPr>
        <p:txBody>
          <a:bodyPr/>
          <a:lstStyle/>
          <a:p>
            <a:endParaRPr lang="en-US"/>
          </a:p>
        </p:txBody>
      </p:sp>
      <p:sp>
        <p:nvSpPr>
          <p:cNvPr id="10" name="Shape 8"/>
          <p:cNvSpPr/>
          <p:nvPr/>
        </p:nvSpPr>
        <p:spPr>
          <a:xfrm>
            <a:off x="5440680" y="2697480"/>
            <a:ext cx="2560320" cy="0"/>
          </a:xfrm>
          <a:prstGeom prst="line">
            <a:avLst/>
          </a:prstGeom>
          <a:noFill/>
          <a:ln w="9525">
            <a:solidFill>
              <a:srgbClr val="C8D6CC"/>
            </a:solidFill>
            <a:prstDash val="solid"/>
          </a:ln>
        </p:spPr>
        <p:txBody>
          <a:bodyPr/>
          <a:lstStyle/>
          <a:p>
            <a:endParaRPr lang="en-US"/>
          </a:p>
        </p:txBody>
      </p:sp>
      <p:sp>
        <p:nvSpPr>
          <p:cNvPr id="11" name="Shape 9"/>
          <p:cNvSpPr/>
          <p:nvPr/>
        </p:nvSpPr>
        <p:spPr>
          <a:xfrm>
            <a:off x="5440680" y="3200400"/>
            <a:ext cx="2560320" cy="0"/>
          </a:xfrm>
          <a:prstGeom prst="line">
            <a:avLst/>
          </a:prstGeom>
          <a:noFill/>
          <a:ln w="9525">
            <a:solidFill>
              <a:srgbClr val="C8D6CC"/>
            </a:solidFill>
            <a:prstDash val="solid"/>
          </a:ln>
        </p:spPr>
        <p:txBody>
          <a:bodyPr/>
          <a:lstStyle/>
          <a:p>
            <a:endParaRPr lang="en-US"/>
          </a:p>
        </p:txBody>
      </p:sp>
      <p:sp>
        <p:nvSpPr>
          <p:cNvPr id="12" name="Shape 10"/>
          <p:cNvSpPr/>
          <p:nvPr/>
        </p:nvSpPr>
        <p:spPr>
          <a:xfrm>
            <a:off x="5440680" y="3703320"/>
            <a:ext cx="2560320" cy="0"/>
          </a:xfrm>
          <a:prstGeom prst="line">
            <a:avLst/>
          </a:prstGeom>
          <a:noFill/>
          <a:ln w="9525">
            <a:solidFill>
              <a:srgbClr val="C8D6CC"/>
            </a:solidFill>
            <a:prstDash val="solid"/>
          </a:ln>
        </p:spPr>
        <p:txBody>
          <a:bodyPr/>
          <a:lstStyle/>
          <a:p>
            <a:endParaRPr lang="en-US"/>
          </a:p>
        </p:txBody>
      </p:sp>
      <p:sp>
        <p:nvSpPr>
          <p:cNvPr id="13" name="Shape 11"/>
          <p:cNvSpPr/>
          <p:nvPr/>
        </p:nvSpPr>
        <p:spPr>
          <a:xfrm>
            <a:off x="5440680" y="4206240"/>
            <a:ext cx="2560320" cy="0"/>
          </a:xfrm>
          <a:prstGeom prst="line">
            <a:avLst/>
          </a:prstGeom>
          <a:noFill/>
          <a:ln w="9525">
            <a:solidFill>
              <a:srgbClr val="C8D6CC"/>
            </a:solidFill>
            <a:prstDash val="solid"/>
          </a:ln>
        </p:spPr>
        <p:txBody>
          <a:bodyPr/>
          <a:lstStyle/>
          <a:p>
            <a:endParaRPr lang="en-US"/>
          </a:p>
        </p:txBody>
      </p:sp>
      <p:sp>
        <p:nvSpPr>
          <p:cNvPr id="14" name="Shape 12"/>
          <p:cNvSpPr/>
          <p:nvPr/>
        </p:nvSpPr>
        <p:spPr>
          <a:xfrm>
            <a:off x="5715000" y="2514600"/>
            <a:ext cx="0" cy="2240280"/>
          </a:xfrm>
          <a:prstGeom prst="line">
            <a:avLst/>
          </a:prstGeom>
          <a:noFill/>
          <a:ln w="9525">
            <a:solidFill>
              <a:srgbClr val="C8D6CC"/>
            </a:solidFill>
            <a:prstDash val="solid"/>
          </a:ln>
        </p:spPr>
        <p:txBody>
          <a:bodyPr/>
          <a:lstStyle/>
          <a:p>
            <a:endParaRPr lang="en-US"/>
          </a:p>
        </p:txBody>
      </p:sp>
      <p:sp>
        <p:nvSpPr>
          <p:cNvPr id="15" name="Shape 13"/>
          <p:cNvSpPr/>
          <p:nvPr/>
        </p:nvSpPr>
        <p:spPr>
          <a:xfrm>
            <a:off x="6355080" y="2514600"/>
            <a:ext cx="0" cy="2240280"/>
          </a:xfrm>
          <a:prstGeom prst="line">
            <a:avLst/>
          </a:prstGeom>
          <a:noFill/>
          <a:ln w="9525">
            <a:solidFill>
              <a:srgbClr val="C8D6CC"/>
            </a:solidFill>
            <a:prstDash val="solid"/>
          </a:ln>
        </p:spPr>
        <p:txBody>
          <a:bodyPr/>
          <a:lstStyle/>
          <a:p>
            <a:endParaRPr lang="en-US"/>
          </a:p>
        </p:txBody>
      </p:sp>
      <p:sp>
        <p:nvSpPr>
          <p:cNvPr id="16" name="Shape 14"/>
          <p:cNvSpPr/>
          <p:nvPr/>
        </p:nvSpPr>
        <p:spPr>
          <a:xfrm>
            <a:off x="6995160" y="2514600"/>
            <a:ext cx="0" cy="2240280"/>
          </a:xfrm>
          <a:prstGeom prst="line">
            <a:avLst/>
          </a:prstGeom>
          <a:noFill/>
          <a:ln w="9525">
            <a:solidFill>
              <a:srgbClr val="C8D6CC"/>
            </a:solidFill>
            <a:prstDash val="solid"/>
          </a:ln>
        </p:spPr>
        <p:txBody>
          <a:bodyPr/>
          <a:lstStyle/>
          <a:p>
            <a:endParaRPr lang="en-US"/>
          </a:p>
        </p:txBody>
      </p:sp>
      <p:sp>
        <p:nvSpPr>
          <p:cNvPr id="17" name="Shape 15"/>
          <p:cNvSpPr/>
          <p:nvPr/>
        </p:nvSpPr>
        <p:spPr>
          <a:xfrm>
            <a:off x="7635240" y="2514600"/>
            <a:ext cx="0" cy="2240280"/>
          </a:xfrm>
          <a:prstGeom prst="line">
            <a:avLst/>
          </a:prstGeom>
          <a:noFill/>
          <a:ln w="9525">
            <a:solidFill>
              <a:srgbClr val="C8D6CC"/>
            </a:solidFill>
            <a:prstDash val="solid"/>
          </a:ln>
        </p:spPr>
        <p:txBody>
          <a:bodyPr/>
          <a:lstStyle/>
          <a:p>
            <a:endParaRPr lang="en-US"/>
          </a:p>
        </p:txBody>
      </p:sp>
      <p:sp>
        <p:nvSpPr>
          <p:cNvPr id="18" name="Shape 16"/>
          <p:cNvSpPr/>
          <p:nvPr/>
        </p:nvSpPr>
        <p:spPr>
          <a:xfrm>
            <a:off x="5532120" y="2606040"/>
            <a:ext cx="228600" cy="228600"/>
          </a:xfrm>
          <a:prstGeom prst="ellipse">
            <a:avLst/>
          </a:prstGeom>
          <a:solidFill>
            <a:srgbClr val="2A9D8F"/>
          </a:solidFill>
          <a:ln w="12700">
            <a:solidFill>
              <a:srgbClr val="FFFFFF"/>
            </a:solidFill>
            <a:prstDash val="solid"/>
          </a:ln>
        </p:spPr>
        <p:txBody>
          <a:bodyPr/>
          <a:lstStyle/>
          <a:p>
            <a:endParaRPr lang="en-US"/>
          </a:p>
        </p:txBody>
      </p:sp>
      <p:sp>
        <p:nvSpPr>
          <p:cNvPr id="19" name="Shape 17"/>
          <p:cNvSpPr/>
          <p:nvPr/>
        </p:nvSpPr>
        <p:spPr>
          <a:xfrm>
            <a:off x="6537960" y="2880360"/>
            <a:ext cx="228600" cy="228600"/>
          </a:xfrm>
          <a:prstGeom prst="ellipse">
            <a:avLst/>
          </a:prstGeom>
          <a:solidFill>
            <a:srgbClr val="2A9D8F"/>
          </a:solidFill>
          <a:ln w="12700">
            <a:solidFill>
              <a:srgbClr val="FFFFFF"/>
            </a:solidFill>
            <a:prstDash val="solid"/>
          </a:ln>
        </p:spPr>
        <p:txBody>
          <a:bodyPr/>
          <a:lstStyle/>
          <a:p>
            <a:endParaRPr lang="en-US"/>
          </a:p>
        </p:txBody>
      </p:sp>
      <p:sp>
        <p:nvSpPr>
          <p:cNvPr id="20" name="Shape 18"/>
          <p:cNvSpPr/>
          <p:nvPr/>
        </p:nvSpPr>
        <p:spPr>
          <a:xfrm>
            <a:off x="7452360" y="2697480"/>
            <a:ext cx="228600" cy="228600"/>
          </a:xfrm>
          <a:prstGeom prst="ellipse">
            <a:avLst/>
          </a:prstGeom>
          <a:solidFill>
            <a:srgbClr val="F4A261"/>
          </a:solidFill>
          <a:ln w="12700">
            <a:solidFill>
              <a:srgbClr val="FFFFFF"/>
            </a:solidFill>
            <a:prstDash val="solid"/>
          </a:ln>
        </p:spPr>
        <p:txBody>
          <a:bodyPr/>
          <a:lstStyle/>
          <a:p>
            <a:endParaRPr lang="en-US"/>
          </a:p>
        </p:txBody>
      </p:sp>
      <p:sp>
        <p:nvSpPr>
          <p:cNvPr id="21" name="Shape 19"/>
          <p:cNvSpPr/>
          <p:nvPr/>
        </p:nvSpPr>
        <p:spPr>
          <a:xfrm>
            <a:off x="5989320" y="3703320"/>
            <a:ext cx="228600" cy="228600"/>
          </a:xfrm>
          <a:prstGeom prst="ellipse">
            <a:avLst/>
          </a:prstGeom>
          <a:solidFill>
            <a:srgbClr val="2A9D8F"/>
          </a:solidFill>
          <a:ln w="12700">
            <a:solidFill>
              <a:srgbClr val="FFFFFF"/>
            </a:solidFill>
            <a:prstDash val="solid"/>
          </a:ln>
        </p:spPr>
        <p:txBody>
          <a:bodyPr/>
          <a:lstStyle/>
          <a:p>
            <a:endParaRPr lang="en-US"/>
          </a:p>
        </p:txBody>
      </p:sp>
      <p:sp>
        <p:nvSpPr>
          <p:cNvPr id="22" name="Shape 20"/>
          <p:cNvSpPr/>
          <p:nvPr/>
        </p:nvSpPr>
        <p:spPr>
          <a:xfrm>
            <a:off x="7086600" y="3611880"/>
            <a:ext cx="228600" cy="228600"/>
          </a:xfrm>
          <a:prstGeom prst="ellipse">
            <a:avLst/>
          </a:prstGeom>
          <a:solidFill>
            <a:srgbClr val="2A9D8F"/>
          </a:solidFill>
          <a:ln w="12700">
            <a:solidFill>
              <a:srgbClr val="FFFFFF"/>
            </a:solidFill>
            <a:prstDash val="solid"/>
          </a:ln>
        </p:spPr>
        <p:txBody>
          <a:bodyPr/>
          <a:lstStyle/>
          <a:p>
            <a:endParaRPr lang="en-US"/>
          </a:p>
        </p:txBody>
      </p:sp>
      <p:sp>
        <p:nvSpPr>
          <p:cNvPr id="23" name="Shape 21"/>
          <p:cNvSpPr/>
          <p:nvPr/>
        </p:nvSpPr>
        <p:spPr>
          <a:xfrm>
            <a:off x="6629400" y="4343400"/>
            <a:ext cx="228600" cy="228600"/>
          </a:xfrm>
          <a:prstGeom prst="ellipse">
            <a:avLst/>
          </a:prstGeom>
          <a:solidFill>
            <a:srgbClr val="2A9D8F"/>
          </a:solidFill>
          <a:ln w="12700">
            <a:solidFill>
              <a:srgbClr val="FFFFFF"/>
            </a:solidFill>
            <a:prstDash val="solid"/>
          </a:ln>
        </p:spPr>
        <p:txBody>
          <a:bodyPr/>
          <a:lstStyle/>
          <a:p>
            <a:endParaRPr lang="en-US"/>
          </a:p>
        </p:txBody>
      </p:sp>
      <p:sp>
        <p:nvSpPr>
          <p:cNvPr id="24" name="Shape 22"/>
          <p:cNvSpPr/>
          <p:nvPr/>
        </p:nvSpPr>
        <p:spPr>
          <a:xfrm>
            <a:off x="7726680" y="3977640"/>
            <a:ext cx="228600" cy="228600"/>
          </a:xfrm>
          <a:prstGeom prst="ellipse">
            <a:avLst/>
          </a:prstGeom>
          <a:solidFill>
            <a:srgbClr val="F4A261"/>
          </a:solidFill>
          <a:ln w="12700">
            <a:solidFill>
              <a:srgbClr val="FFFFFF"/>
            </a:solidFill>
            <a:prstDash val="solid"/>
          </a:ln>
        </p:spPr>
        <p:txBody>
          <a:bodyPr/>
          <a:lstStyle/>
          <a:p>
            <a:endParaRPr lang="en-US"/>
          </a:p>
        </p:txBody>
      </p:sp>
      <p:sp>
        <p:nvSpPr>
          <p:cNvPr id="25" name="Shape 23"/>
          <p:cNvSpPr/>
          <p:nvPr/>
        </p:nvSpPr>
        <p:spPr>
          <a:xfrm>
            <a:off x="5623560" y="4617720"/>
            <a:ext cx="228600" cy="228600"/>
          </a:xfrm>
          <a:prstGeom prst="ellipse">
            <a:avLst/>
          </a:prstGeom>
          <a:solidFill>
            <a:srgbClr val="2A9D8F"/>
          </a:solidFill>
          <a:ln w="12700">
            <a:solidFill>
              <a:srgbClr val="FFFFFF"/>
            </a:solidFill>
            <a:prstDash val="solid"/>
          </a:ln>
        </p:spPr>
        <p:txBody>
          <a:bodyPr/>
          <a:lstStyle/>
          <a:p>
            <a:endParaRPr lang="en-US"/>
          </a:p>
        </p:txBody>
      </p:sp>
      <p:sp>
        <p:nvSpPr>
          <p:cNvPr id="26" name="Shape 24"/>
          <p:cNvSpPr/>
          <p:nvPr/>
        </p:nvSpPr>
        <p:spPr>
          <a:xfrm>
            <a:off x="8503920" y="1783080"/>
            <a:ext cx="3200400" cy="3291840"/>
          </a:xfrm>
          <a:prstGeom prst="rect">
            <a:avLst/>
          </a:prstGeom>
          <a:solidFill>
            <a:srgbClr val="FFFFFF"/>
          </a:solidFill>
          <a:ln w="9525">
            <a:solidFill>
              <a:srgbClr val="D6DEE2"/>
            </a:solidFill>
            <a:prstDash val="solid"/>
          </a:ln>
        </p:spPr>
        <p:txBody>
          <a:bodyPr/>
          <a:lstStyle/>
          <a:p>
            <a:endParaRPr lang="en-US"/>
          </a:p>
        </p:txBody>
      </p:sp>
      <p:sp>
        <p:nvSpPr>
          <p:cNvPr id="27" name="Shape 25"/>
          <p:cNvSpPr/>
          <p:nvPr/>
        </p:nvSpPr>
        <p:spPr>
          <a:xfrm>
            <a:off x="8503920" y="1783080"/>
            <a:ext cx="3200400" cy="411480"/>
          </a:xfrm>
          <a:prstGeom prst="rect">
            <a:avLst/>
          </a:prstGeom>
          <a:solidFill>
            <a:srgbClr val="0B1F2A"/>
          </a:solidFill>
          <a:ln w="12700">
            <a:solidFill>
              <a:srgbClr val="0B1F2A"/>
            </a:solidFill>
            <a:prstDash val="solid"/>
          </a:ln>
        </p:spPr>
        <p:txBody>
          <a:bodyPr/>
          <a:lstStyle/>
          <a:p>
            <a:endParaRPr lang="en-US"/>
          </a:p>
        </p:txBody>
      </p:sp>
      <p:sp>
        <p:nvSpPr>
          <p:cNvPr id="28" name="Text 26"/>
          <p:cNvSpPr/>
          <p:nvPr/>
        </p:nvSpPr>
        <p:spPr>
          <a:xfrm>
            <a:off x="8686800" y="1783080"/>
            <a:ext cx="182880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AFTER</a:t>
            </a:r>
            <a:endParaRPr lang="en-US" sz="1100" dirty="0"/>
          </a:p>
        </p:txBody>
      </p:sp>
      <p:sp>
        <p:nvSpPr>
          <p:cNvPr id="29" name="Text 27"/>
          <p:cNvSpPr/>
          <p:nvPr/>
        </p:nvSpPr>
        <p:spPr>
          <a:xfrm>
            <a:off x="10241280" y="1783080"/>
            <a:ext cx="1280160" cy="411480"/>
          </a:xfrm>
          <a:prstGeom prst="rect">
            <a:avLst/>
          </a:prstGeom>
          <a:noFill/>
          <a:ln/>
        </p:spPr>
        <p:txBody>
          <a:bodyPr wrap="square" lIns="0" tIns="0" rIns="0" bIns="0" rtlCol="0" anchor="ctr"/>
          <a:lstStyle/>
          <a:p>
            <a:pPr marL="0" indent="0" algn="r">
              <a:buNone/>
            </a:pPr>
            <a:r>
              <a:rPr lang="en-US" sz="1000" dirty="0">
                <a:solidFill>
                  <a:srgbClr val="00A896"/>
                </a:solidFill>
                <a:latin typeface="Calibri" pitchFamily="34" charset="0"/>
                <a:ea typeface="Calibri" pitchFamily="34" charset="-122"/>
                <a:cs typeface="Calibri" pitchFamily="34" charset="-120"/>
              </a:rPr>
              <a:t>threshold 65%</a:t>
            </a:r>
            <a:endParaRPr lang="en-US" sz="1000" dirty="0"/>
          </a:p>
        </p:txBody>
      </p:sp>
      <p:sp>
        <p:nvSpPr>
          <p:cNvPr id="30" name="Shape 28"/>
          <p:cNvSpPr/>
          <p:nvPr/>
        </p:nvSpPr>
        <p:spPr>
          <a:xfrm>
            <a:off x="8641080" y="2331720"/>
            <a:ext cx="2926080" cy="2606040"/>
          </a:xfrm>
          <a:prstGeom prst="rect">
            <a:avLst/>
          </a:prstGeom>
          <a:solidFill>
            <a:srgbClr val="EAF2EE"/>
          </a:solidFill>
          <a:ln w="5080">
            <a:solidFill>
              <a:srgbClr val="D6DEE2"/>
            </a:solidFill>
            <a:prstDash val="solid"/>
          </a:ln>
        </p:spPr>
        <p:txBody>
          <a:bodyPr/>
          <a:lstStyle/>
          <a:p>
            <a:endParaRPr lang="en-US"/>
          </a:p>
        </p:txBody>
      </p:sp>
      <p:sp>
        <p:nvSpPr>
          <p:cNvPr id="31" name="Shape 29"/>
          <p:cNvSpPr/>
          <p:nvPr/>
        </p:nvSpPr>
        <p:spPr>
          <a:xfrm>
            <a:off x="8823960" y="2697480"/>
            <a:ext cx="2560320" cy="0"/>
          </a:xfrm>
          <a:prstGeom prst="line">
            <a:avLst/>
          </a:prstGeom>
          <a:noFill/>
          <a:ln w="9525">
            <a:solidFill>
              <a:srgbClr val="C8D6CC"/>
            </a:solidFill>
            <a:prstDash val="solid"/>
          </a:ln>
        </p:spPr>
        <p:txBody>
          <a:bodyPr/>
          <a:lstStyle/>
          <a:p>
            <a:endParaRPr lang="en-US"/>
          </a:p>
        </p:txBody>
      </p:sp>
      <p:sp>
        <p:nvSpPr>
          <p:cNvPr id="32" name="Shape 30"/>
          <p:cNvSpPr/>
          <p:nvPr/>
        </p:nvSpPr>
        <p:spPr>
          <a:xfrm>
            <a:off x="8823960" y="3200400"/>
            <a:ext cx="2560320" cy="0"/>
          </a:xfrm>
          <a:prstGeom prst="line">
            <a:avLst/>
          </a:prstGeom>
          <a:noFill/>
          <a:ln w="9525">
            <a:solidFill>
              <a:srgbClr val="C8D6CC"/>
            </a:solidFill>
            <a:prstDash val="solid"/>
          </a:ln>
        </p:spPr>
        <p:txBody>
          <a:bodyPr/>
          <a:lstStyle/>
          <a:p>
            <a:endParaRPr lang="en-US"/>
          </a:p>
        </p:txBody>
      </p:sp>
      <p:sp>
        <p:nvSpPr>
          <p:cNvPr id="33" name="Shape 31"/>
          <p:cNvSpPr/>
          <p:nvPr/>
        </p:nvSpPr>
        <p:spPr>
          <a:xfrm>
            <a:off x="8823960" y="3703320"/>
            <a:ext cx="2560320" cy="0"/>
          </a:xfrm>
          <a:prstGeom prst="line">
            <a:avLst/>
          </a:prstGeom>
          <a:noFill/>
          <a:ln w="9525">
            <a:solidFill>
              <a:srgbClr val="C8D6CC"/>
            </a:solidFill>
            <a:prstDash val="solid"/>
          </a:ln>
        </p:spPr>
        <p:txBody>
          <a:bodyPr/>
          <a:lstStyle/>
          <a:p>
            <a:endParaRPr lang="en-US"/>
          </a:p>
        </p:txBody>
      </p:sp>
      <p:sp>
        <p:nvSpPr>
          <p:cNvPr id="34" name="Shape 32"/>
          <p:cNvSpPr/>
          <p:nvPr/>
        </p:nvSpPr>
        <p:spPr>
          <a:xfrm>
            <a:off x="8823960" y="4206240"/>
            <a:ext cx="2560320" cy="0"/>
          </a:xfrm>
          <a:prstGeom prst="line">
            <a:avLst/>
          </a:prstGeom>
          <a:noFill/>
          <a:ln w="9525">
            <a:solidFill>
              <a:srgbClr val="C8D6CC"/>
            </a:solidFill>
            <a:prstDash val="solid"/>
          </a:ln>
        </p:spPr>
        <p:txBody>
          <a:bodyPr/>
          <a:lstStyle/>
          <a:p>
            <a:endParaRPr lang="en-US"/>
          </a:p>
        </p:txBody>
      </p:sp>
      <p:sp>
        <p:nvSpPr>
          <p:cNvPr id="35" name="Shape 33"/>
          <p:cNvSpPr/>
          <p:nvPr/>
        </p:nvSpPr>
        <p:spPr>
          <a:xfrm>
            <a:off x="9098280" y="2514600"/>
            <a:ext cx="0" cy="2240280"/>
          </a:xfrm>
          <a:prstGeom prst="line">
            <a:avLst/>
          </a:prstGeom>
          <a:noFill/>
          <a:ln w="9525">
            <a:solidFill>
              <a:srgbClr val="C8D6CC"/>
            </a:solidFill>
            <a:prstDash val="solid"/>
          </a:ln>
        </p:spPr>
        <p:txBody>
          <a:bodyPr/>
          <a:lstStyle/>
          <a:p>
            <a:endParaRPr lang="en-US"/>
          </a:p>
        </p:txBody>
      </p:sp>
      <p:sp>
        <p:nvSpPr>
          <p:cNvPr id="36" name="Shape 34"/>
          <p:cNvSpPr/>
          <p:nvPr/>
        </p:nvSpPr>
        <p:spPr>
          <a:xfrm>
            <a:off x="9738360" y="2514600"/>
            <a:ext cx="0" cy="2240280"/>
          </a:xfrm>
          <a:prstGeom prst="line">
            <a:avLst/>
          </a:prstGeom>
          <a:noFill/>
          <a:ln w="9525">
            <a:solidFill>
              <a:srgbClr val="C8D6CC"/>
            </a:solidFill>
            <a:prstDash val="solid"/>
          </a:ln>
        </p:spPr>
        <p:txBody>
          <a:bodyPr/>
          <a:lstStyle/>
          <a:p>
            <a:endParaRPr lang="en-US"/>
          </a:p>
        </p:txBody>
      </p:sp>
      <p:sp>
        <p:nvSpPr>
          <p:cNvPr id="37" name="Shape 35"/>
          <p:cNvSpPr/>
          <p:nvPr/>
        </p:nvSpPr>
        <p:spPr>
          <a:xfrm>
            <a:off x="10378440" y="2514600"/>
            <a:ext cx="0" cy="2240280"/>
          </a:xfrm>
          <a:prstGeom prst="line">
            <a:avLst/>
          </a:prstGeom>
          <a:noFill/>
          <a:ln w="9525">
            <a:solidFill>
              <a:srgbClr val="C8D6CC"/>
            </a:solidFill>
            <a:prstDash val="solid"/>
          </a:ln>
        </p:spPr>
        <p:txBody>
          <a:bodyPr/>
          <a:lstStyle/>
          <a:p>
            <a:endParaRPr lang="en-US"/>
          </a:p>
        </p:txBody>
      </p:sp>
      <p:sp>
        <p:nvSpPr>
          <p:cNvPr id="38" name="Shape 36"/>
          <p:cNvSpPr/>
          <p:nvPr/>
        </p:nvSpPr>
        <p:spPr>
          <a:xfrm>
            <a:off x="11018520" y="2514600"/>
            <a:ext cx="0" cy="2240280"/>
          </a:xfrm>
          <a:prstGeom prst="line">
            <a:avLst/>
          </a:prstGeom>
          <a:noFill/>
          <a:ln w="9525">
            <a:solidFill>
              <a:srgbClr val="C8D6CC"/>
            </a:solidFill>
            <a:prstDash val="solid"/>
          </a:ln>
        </p:spPr>
        <p:txBody>
          <a:bodyPr/>
          <a:lstStyle/>
          <a:p>
            <a:endParaRPr lang="en-US"/>
          </a:p>
        </p:txBody>
      </p:sp>
      <p:sp>
        <p:nvSpPr>
          <p:cNvPr id="39" name="Shape 37"/>
          <p:cNvSpPr/>
          <p:nvPr/>
        </p:nvSpPr>
        <p:spPr>
          <a:xfrm>
            <a:off x="8915400" y="2606040"/>
            <a:ext cx="228600" cy="228600"/>
          </a:xfrm>
          <a:prstGeom prst="ellipse">
            <a:avLst/>
          </a:prstGeom>
          <a:solidFill>
            <a:srgbClr val="2A9D8F"/>
          </a:solidFill>
          <a:ln w="12700">
            <a:solidFill>
              <a:srgbClr val="FFFFFF"/>
            </a:solidFill>
            <a:prstDash val="solid"/>
          </a:ln>
        </p:spPr>
        <p:txBody>
          <a:bodyPr/>
          <a:lstStyle/>
          <a:p>
            <a:endParaRPr lang="en-US"/>
          </a:p>
        </p:txBody>
      </p:sp>
      <p:sp>
        <p:nvSpPr>
          <p:cNvPr id="40" name="Shape 38"/>
          <p:cNvSpPr/>
          <p:nvPr/>
        </p:nvSpPr>
        <p:spPr>
          <a:xfrm>
            <a:off x="9921240" y="2880360"/>
            <a:ext cx="228600" cy="228600"/>
          </a:xfrm>
          <a:prstGeom prst="ellipse">
            <a:avLst/>
          </a:prstGeom>
          <a:solidFill>
            <a:srgbClr val="D62828"/>
          </a:solidFill>
          <a:ln w="12700">
            <a:solidFill>
              <a:srgbClr val="FFFFFF"/>
            </a:solidFill>
            <a:prstDash val="solid"/>
          </a:ln>
        </p:spPr>
        <p:txBody>
          <a:bodyPr/>
          <a:lstStyle/>
          <a:p>
            <a:endParaRPr lang="en-US"/>
          </a:p>
        </p:txBody>
      </p:sp>
      <p:sp>
        <p:nvSpPr>
          <p:cNvPr id="41" name="Shape 39"/>
          <p:cNvSpPr/>
          <p:nvPr/>
        </p:nvSpPr>
        <p:spPr>
          <a:xfrm>
            <a:off x="10835640" y="2697480"/>
            <a:ext cx="228600" cy="228600"/>
          </a:xfrm>
          <a:prstGeom prst="ellipse">
            <a:avLst/>
          </a:prstGeom>
          <a:solidFill>
            <a:srgbClr val="D62828"/>
          </a:solidFill>
          <a:ln w="12700">
            <a:solidFill>
              <a:srgbClr val="FFFFFF"/>
            </a:solidFill>
            <a:prstDash val="solid"/>
          </a:ln>
        </p:spPr>
        <p:txBody>
          <a:bodyPr/>
          <a:lstStyle/>
          <a:p>
            <a:endParaRPr lang="en-US"/>
          </a:p>
        </p:txBody>
      </p:sp>
      <p:sp>
        <p:nvSpPr>
          <p:cNvPr id="42" name="Shape 40"/>
          <p:cNvSpPr/>
          <p:nvPr/>
        </p:nvSpPr>
        <p:spPr>
          <a:xfrm>
            <a:off x="9372600" y="3703320"/>
            <a:ext cx="228600" cy="228600"/>
          </a:xfrm>
          <a:prstGeom prst="ellipse">
            <a:avLst/>
          </a:prstGeom>
          <a:solidFill>
            <a:srgbClr val="F4A261"/>
          </a:solidFill>
          <a:ln w="12700">
            <a:solidFill>
              <a:srgbClr val="FFFFFF"/>
            </a:solidFill>
            <a:prstDash val="solid"/>
          </a:ln>
        </p:spPr>
        <p:txBody>
          <a:bodyPr/>
          <a:lstStyle/>
          <a:p>
            <a:endParaRPr lang="en-US"/>
          </a:p>
        </p:txBody>
      </p:sp>
      <p:sp>
        <p:nvSpPr>
          <p:cNvPr id="43" name="Shape 41"/>
          <p:cNvSpPr/>
          <p:nvPr/>
        </p:nvSpPr>
        <p:spPr>
          <a:xfrm>
            <a:off x="10469880" y="3611880"/>
            <a:ext cx="228600" cy="228600"/>
          </a:xfrm>
          <a:prstGeom prst="ellipse">
            <a:avLst/>
          </a:prstGeom>
          <a:solidFill>
            <a:srgbClr val="D62828"/>
          </a:solidFill>
          <a:ln w="12700">
            <a:solidFill>
              <a:srgbClr val="FFFFFF"/>
            </a:solidFill>
            <a:prstDash val="solid"/>
          </a:ln>
        </p:spPr>
        <p:txBody>
          <a:bodyPr/>
          <a:lstStyle/>
          <a:p>
            <a:endParaRPr lang="en-US"/>
          </a:p>
        </p:txBody>
      </p:sp>
      <p:sp>
        <p:nvSpPr>
          <p:cNvPr id="44" name="Shape 42"/>
          <p:cNvSpPr/>
          <p:nvPr/>
        </p:nvSpPr>
        <p:spPr>
          <a:xfrm>
            <a:off x="10012680" y="4343400"/>
            <a:ext cx="228600" cy="228600"/>
          </a:xfrm>
          <a:prstGeom prst="ellipse">
            <a:avLst/>
          </a:prstGeom>
          <a:solidFill>
            <a:srgbClr val="F4A261"/>
          </a:solidFill>
          <a:ln w="12700">
            <a:solidFill>
              <a:srgbClr val="FFFFFF"/>
            </a:solidFill>
            <a:prstDash val="solid"/>
          </a:ln>
        </p:spPr>
        <p:txBody>
          <a:bodyPr/>
          <a:lstStyle/>
          <a:p>
            <a:endParaRPr lang="en-US"/>
          </a:p>
        </p:txBody>
      </p:sp>
      <p:sp>
        <p:nvSpPr>
          <p:cNvPr id="45" name="Shape 43"/>
          <p:cNvSpPr/>
          <p:nvPr/>
        </p:nvSpPr>
        <p:spPr>
          <a:xfrm>
            <a:off x="11109960" y="3977640"/>
            <a:ext cx="228600" cy="228600"/>
          </a:xfrm>
          <a:prstGeom prst="ellipse">
            <a:avLst/>
          </a:prstGeom>
          <a:solidFill>
            <a:srgbClr val="D62828"/>
          </a:solidFill>
          <a:ln w="12700">
            <a:solidFill>
              <a:srgbClr val="FFFFFF"/>
            </a:solidFill>
            <a:prstDash val="solid"/>
          </a:ln>
        </p:spPr>
        <p:txBody>
          <a:bodyPr/>
          <a:lstStyle/>
          <a:p>
            <a:endParaRPr lang="en-US"/>
          </a:p>
        </p:txBody>
      </p:sp>
      <p:sp>
        <p:nvSpPr>
          <p:cNvPr id="46" name="Shape 44"/>
          <p:cNvSpPr/>
          <p:nvPr/>
        </p:nvSpPr>
        <p:spPr>
          <a:xfrm>
            <a:off x="9006840" y="4617720"/>
            <a:ext cx="228600" cy="228600"/>
          </a:xfrm>
          <a:prstGeom prst="ellipse">
            <a:avLst/>
          </a:prstGeom>
          <a:solidFill>
            <a:srgbClr val="2A9D8F"/>
          </a:solidFill>
          <a:ln w="12700">
            <a:solidFill>
              <a:srgbClr val="FFFFFF"/>
            </a:solidFill>
            <a:prstDash val="solid"/>
          </a:ln>
        </p:spPr>
        <p:txBody>
          <a:bodyPr/>
          <a:lstStyle/>
          <a:p>
            <a:endParaRPr lang="en-US"/>
          </a:p>
        </p:txBody>
      </p:sp>
      <p:sp>
        <p:nvSpPr>
          <p:cNvPr id="47" name="Shape 45"/>
          <p:cNvSpPr/>
          <p:nvPr/>
        </p:nvSpPr>
        <p:spPr>
          <a:xfrm>
            <a:off x="8503920" y="5212080"/>
            <a:ext cx="3200400" cy="502920"/>
          </a:xfrm>
          <a:prstGeom prst="rect">
            <a:avLst/>
          </a:prstGeom>
          <a:solidFill>
            <a:srgbClr val="0B1F2A"/>
          </a:solidFill>
          <a:ln w="12700">
            <a:solidFill>
              <a:srgbClr val="0B1F2A"/>
            </a:solidFill>
            <a:prstDash val="solid"/>
          </a:ln>
        </p:spPr>
        <p:txBody>
          <a:bodyPr/>
          <a:lstStyle/>
          <a:p>
            <a:endParaRPr lang="en-US"/>
          </a:p>
        </p:txBody>
      </p:sp>
      <p:sp>
        <p:nvSpPr>
          <p:cNvPr id="48" name="Text 46"/>
          <p:cNvSpPr/>
          <p:nvPr/>
        </p:nvSpPr>
        <p:spPr>
          <a:xfrm>
            <a:off x="8641080" y="5212080"/>
            <a:ext cx="2926080" cy="50292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Ready for pickup: BIN_017</a:t>
            </a:r>
            <a:endParaRPr lang="en-US" sz="1100" dirty="0"/>
          </a:p>
        </p:txBody>
      </p:sp>
      <p:sp>
        <p:nvSpPr>
          <p:cNvPr id="49" name="Shape 47"/>
          <p:cNvSpPr/>
          <p:nvPr/>
        </p:nvSpPr>
        <p:spPr>
          <a:xfrm>
            <a:off x="5120640" y="5486400"/>
            <a:ext cx="182880" cy="182880"/>
          </a:xfrm>
          <a:prstGeom prst="ellipse">
            <a:avLst/>
          </a:prstGeom>
          <a:solidFill>
            <a:srgbClr val="2A9D8F"/>
          </a:solidFill>
          <a:ln w="12700">
            <a:solidFill>
              <a:srgbClr val="2A9D8F"/>
            </a:solidFill>
            <a:prstDash val="solid"/>
          </a:ln>
        </p:spPr>
        <p:txBody>
          <a:bodyPr/>
          <a:lstStyle/>
          <a:p>
            <a:endParaRPr lang="en-US"/>
          </a:p>
        </p:txBody>
      </p:sp>
      <p:sp>
        <p:nvSpPr>
          <p:cNvPr id="50" name="Text 48"/>
          <p:cNvSpPr/>
          <p:nvPr/>
        </p:nvSpPr>
        <p:spPr>
          <a:xfrm>
            <a:off x="5349240" y="5449824"/>
            <a:ext cx="640080" cy="274320"/>
          </a:xfrm>
          <a:prstGeom prst="rect">
            <a:avLst/>
          </a:prstGeom>
          <a:noFill/>
          <a:ln/>
        </p:spPr>
        <p:txBody>
          <a:bodyPr wrap="square" lIns="0" tIns="0" rIns="0" bIns="0" rtlCol="0" anchor="ctr"/>
          <a:lstStyle/>
          <a:p>
            <a:pPr marL="0" indent="0">
              <a:buNone/>
            </a:pPr>
            <a:r>
              <a:rPr lang="en-US" sz="1100" dirty="0">
                <a:solidFill>
                  <a:srgbClr val="5C6B73"/>
                </a:solidFill>
                <a:latin typeface="Calibri" pitchFamily="34" charset="0"/>
                <a:ea typeface="Calibri" pitchFamily="34" charset="-122"/>
                <a:cs typeface="Calibri" pitchFamily="34" charset="-120"/>
              </a:rPr>
              <a:t>ok</a:t>
            </a:r>
            <a:endParaRPr lang="en-US" sz="1100" dirty="0"/>
          </a:p>
        </p:txBody>
      </p:sp>
      <p:sp>
        <p:nvSpPr>
          <p:cNvPr id="51" name="Shape 49"/>
          <p:cNvSpPr/>
          <p:nvPr/>
        </p:nvSpPr>
        <p:spPr>
          <a:xfrm>
            <a:off x="5943600" y="5486400"/>
            <a:ext cx="182880" cy="182880"/>
          </a:xfrm>
          <a:prstGeom prst="ellipse">
            <a:avLst/>
          </a:prstGeom>
          <a:solidFill>
            <a:srgbClr val="F4A261"/>
          </a:solidFill>
          <a:ln w="12700">
            <a:solidFill>
              <a:srgbClr val="F4A261"/>
            </a:solidFill>
            <a:prstDash val="solid"/>
          </a:ln>
        </p:spPr>
        <p:txBody>
          <a:bodyPr/>
          <a:lstStyle/>
          <a:p>
            <a:endParaRPr lang="en-US"/>
          </a:p>
        </p:txBody>
      </p:sp>
      <p:sp>
        <p:nvSpPr>
          <p:cNvPr id="52" name="Text 50"/>
          <p:cNvSpPr/>
          <p:nvPr/>
        </p:nvSpPr>
        <p:spPr>
          <a:xfrm>
            <a:off x="6172200" y="5449824"/>
            <a:ext cx="731520" cy="274320"/>
          </a:xfrm>
          <a:prstGeom prst="rect">
            <a:avLst/>
          </a:prstGeom>
          <a:noFill/>
          <a:ln/>
        </p:spPr>
        <p:txBody>
          <a:bodyPr wrap="square" lIns="0" tIns="0" rIns="0" bIns="0" rtlCol="0" anchor="ctr"/>
          <a:lstStyle/>
          <a:p>
            <a:pPr marL="0" indent="0">
              <a:buNone/>
            </a:pPr>
            <a:r>
              <a:rPr lang="en-US" sz="1100" dirty="0">
                <a:solidFill>
                  <a:srgbClr val="5C6B73"/>
                </a:solidFill>
                <a:latin typeface="Calibri" pitchFamily="34" charset="0"/>
                <a:ea typeface="Calibri" pitchFamily="34" charset="-122"/>
                <a:cs typeface="Calibri" pitchFamily="34" charset="-120"/>
              </a:rPr>
              <a:t>warn</a:t>
            </a:r>
            <a:endParaRPr lang="en-US" sz="1100" dirty="0"/>
          </a:p>
        </p:txBody>
      </p:sp>
      <p:sp>
        <p:nvSpPr>
          <p:cNvPr id="53" name="Shape 51"/>
          <p:cNvSpPr/>
          <p:nvPr/>
        </p:nvSpPr>
        <p:spPr>
          <a:xfrm>
            <a:off x="6858000" y="5486400"/>
            <a:ext cx="182880" cy="182880"/>
          </a:xfrm>
          <a:prstGeom prst="ellipse">
            <a:avLst/>
          </a:prstGeom>
          <a:solidFill>
            <a:srgbClr val="D62828"/>
          </a:solidFill>
          <a:ln w="12700">
            <a:solidFill>
              <a:srgbClr val="D62828"/>
            </a:solidFill>
            <a:prstDash val="solid"/>
          </a:ln>
        </p:spPr>
        <p:txBody>
          <a:bodyPr/>
          <a:lstStyle/>
          <a:p>
            <a:endParaRPr lang="en-US"/>
          </a:p>
        </p:txBody>
      </p:sp>
      <p:sp>
        <p:nvSpPr>
          <p:cNvPr id="54" name="Text 52"/>
          <p:cNvSpPr/>
          <p:nvPr/>
        </p:nvSpPr>
        <p:spPr>
          <a:xfrm>
            <a:off x="7086600" y="5449824"/>
            <a:ext cx="1097280" cy="274320"/>
          </a:xfrm>
          <a:prstGeom prst="rect">
            <a:avLst/>
          </a:prstGeom>
          <a:noFill/>
          <a:ln/>
        </p:spPr>
        <p:txBody>
          <a:bodyPr wrap="square" lIns="0" tIns="0" rIns="0" bIns="0" rtlCol="0" anchor="ctr"/>
          <a:lstStyle/>
          <a:p>
            <a:pPr marL="0" indent="0">
              <a:buNone/>
            </a:pPr>
            <a:r>
              <a:rPr lang="en-US" sz="1100" dirty="0">
                <a:solidFill>
                  <a:srgbClr val="5C6B73"/>
                </a:solidFill>
                <a:latin typeface="Calibri" pitchFamily="34" charset="0"/>
                <a:ea typeface="Calibri" pitchFamily="34" charset="-122"/>
                <a:cs typeface="Calibri" pitchFamily="34" charset="-120"/>
              </a:rPr>
              <a:t>critical</a:t>
            </a:r>
            <a:endParaRPr lang="en-US" sz="1100" dirty="0"/>
          </a:p>
        </p:txBody>
      </p:sp>
      <p:sp>
        <p:nvSpPr>
          <p:cNvPr id="55" name="Text 53"/>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56" name="Text 54"/>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11 / 22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ROUTE OPTIMIZATION</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Greedy seed, 2-opt refine, depot at live GPS, atomic lock</a:t>
            </a:r>
            <a:endParaRPr lang="en-US" sz="3000" dirty="0"/>
          </a:p>
        </p:txBody>
      </p:sp>
      <p:sp>
        <p:nvSpPr>
          <p:cNvPr id="4" name="Text 2"/>
          <p:cNvSpPr/>
          <p:nvPr/>
        </p:nvSpPr>
        <p:spPr>
          <a:xfrm>
            <a:off x="548640" y="1783080"/>
            <a:ext cx="475488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Depot = worker's current GPS (not a fixed yard)</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Seed: Greedy Nearest-Neighbor over filtered bins</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Refine: 2-opt edge swaps until no improvement</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Each bin atomically locked via Firestore transaction</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Locks expire after worker-inactivity timeout</a:t>
            </a:r>
            <a:endParaRPr lang="en-US" sz="1400" dirty="0"/>
          </a:p>
        </p:txBody>
      </p:sp>
      <p:sp>
        <p:nvSpPr>
          <p:cNvPr id="8" name="Shape 6"/>
          <p:cNvSpPr/>
          <p:nvPr/>
        </p:nvSpPr>
        <p:spPr>
          <a:xfrm>
            <a:off x="5669280" y="3840480"/>
            <a:ext cx="6035040" cy="1280160"/>
          </a:xfrm>
          <a:prstGeom prst="rect">
            <a:avLst/>
          </a:prstGeom>
          <a:solidFill>
            <a:srgbClr val="F4F7F8"/>
          </a:solidFill>
          <a:ln w="9525">
            <a:solidFill>
              <a:srgbClr val="D6DEE2"/>
            </a:solidFill>
            <a:prstDash val="solid"/>
          </a:ln>
        </p:spPr>
        <p:txBody>
          <a:bodyPr/>
          <a:lstStyle/>
          <a:p>
            <a:endParaRPr lang="en-US"/>
          </a:p>
        </p:txBody>
      </p:sp>
      <p:sp>
        <p:nvSpPr>
          <p:cNvPr id="9" name="Shape 7"/>
          <p:cNvSpPr/>
          <p:nvPr/>
        </p:nvSpPr>
        <p:spPr>
          <a:xfrm>
            <a:off x="5669280" y="3840480"/>
            <a:ext cx="91440" cy="1280160"/>
          </a:xfrm>
          <a:prstGeom prst="rect">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5897880" y="3886200"/>
            <a:ext cx="5486400" cy="320040"/>
          </a:xfrm>
          <a:prstGeom prst="rect">
            <a:avLst/>
          </a:prstGeom>
          <a:noFill/>
          <a:ln/>
        </p:spPr>
        <p:txBody>
          <a:bodyPr wrap="square" lIns="0" tIns="0" rIns="0" bIns="0" rtlCol="0" anchor="ctr"/>
          <a:lstStyle/>
          <a:p>
            <a:pPr marL="0" indent="0">
              <a:buNone/>
            </a:pPr>
            <a:r>
              <a:rPr lang="en-US" sz="1100" b="1" kern="0" spc="300" dirty="0">
                <a:solidFill>
                  <a:srgbClr val="028090"/>
                </a:solidFill>
                <a:latin typeface="Calibri" pitchFamily="34" charset="0"/>
                <a:ea typeface="Calibri" pitchFamily="34" charset="-122"/>
                <a:cs typeface="Calibri" pitchFamily="34" charset="-120"/>
              </a:rPr>
              <a:t>Concurrency</a:t>
            </a:r>
            <a:endParaRPr lang="en-US" sz="1100" dirty="0"/>
          </a:p>
        </p:txBody>
      </p:sp>
      <p:sp>
        <p:nvSpPr>
          <p:cNvPr id="11" name="Text 9"/>
          <p:cNvSpPr/>
          <p:nvPr/>
        </p:nvSpPr>
        <p:spPr>
          <a:xfrm>
            <a:off x="5897880" y="4206240"/>
            <a:ext cx="5486400" cy="914400"/>
          </a:xfrm>
          <a:prstGeom prst="rect">
            <a:avLst/>
          </a:prstGeom>
          <a:noFill/>
          <a:ln/>
        </p:spPr>
        <p:txBody>
          <a:bodyPr wrap="square" lIns="0" tIns="0" rIns="0" bIns="0" rtlCol="0" anchor="t"/>
          <a:lstStyle/>
          <a:p>
            <a:pPr marL="0" indent="0">
              <a:buNone/>
            </a:pPr>
            <a:r>
              <a:rPr lang="en-US" sz="1200" dirty="0">
                <a:solidFill>
                  <a:srgbClr val="0B1F2A"/>
                </a:solidFill>
                <a:latin typeface="Calibri" pitchFamily="34" charset="0"/>
                <a:ea typeface="Calibri" pitchFamily="34" charset="-122"/>
                <a:cs typeface="Calibri" pitchFamily="34" charset="-120"/>
              </a:rPr>
              <a:t>Firestore transaction reads bins.lockedBy and writes worker UID only if null. Exactly one worker wins; the other is routed to the next nearest bin.</a:t>
            </a:r>
            <a:endParaRPr lang="en-US" sz="120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13" name="Text 11"/>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13 / 22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COMPLIANCE &amp; SUSTAINABILITY</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Regulation built into the routing layer</a:t>
            </a:r>
            <a:endParaRPr lang="en-US" sz="3000" dirty="0"/>
          </a:p>
        </p:txBody>
      </p:sp>
      <p:sp>
        <p:nvSpPr>
          <p:cNvPr id="4" name="Text 2"/>
          <p:cNvSpPr/>
          <p:nvPr/>
        </p:nvSpPr>
        <p:spPr>
          <a:xfrm>
            <a:off x="548640" y="1783080"/>
            <a:ext cx="576072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CO₂ footprint computed at 0.95 kg/km, stored per route</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One-worker-per-area enforced at user-creation API</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Every mutation appended to activityLogs with actor + diff</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Audit trail exportable from the admin panel</a:t>
            </a:r>
            <a:endParaRPr lang="en-US" sz="1400" dirty="0"/>
          </a:p>
        </p:txBody>
      </p:sp>
      <p:sp>
        <p:nvSpPr>
          <p:cNvPr id="19" name="Shape 17"/>
          <p:cNvSpPr/>
          <p:nvPr/>
        </p:nvSpPr>
        <p:spPr>
          <a:xfrm>
            <a:off x="6583680" y="1783080"/>
            <a:ext cx="5120640" cy="2011680"/>
          </a:xfrm>
          <a:prstGeom prst="rect">
            <a:avLst/>
          </a:prstGeom>
          <a:solidFill>
            <a:srgbClr val="0B1F2A"/>
          </a:solidFill>
          <a:ln w="12700">
            <a:solidFill>
              <a:srgbClr val="0B1F2A"/>
            </a:solidFill>
            <a:prstDash val="solid"/>
          </a:ln>
        </p:spPr>
        <p:txBody>
          <a:bodyPr/>
          <a:lstStyle/>
          <a:p>
            <a:endParaRPr lang="en-US"/>
          </a:p>
        </p:txBody>
      </p:sp>
      <p:sp>
        <p:nvSpPr>
          <p:cNvPr id="20" name="Text 18"/>
          <p:cNvSpPr/>
          <p:nvPr/>
        </p:nvSpPr>
        <p:spPr>
          <a:xfrm>
            <a:off x="6858000" y="1965960"/>
            <a:ext cx="4572000" cy="274320"/>
          </a:xfrm>
          <a:prstGeom prst="rect">
            <a:avLst/>
          </a:prstGeom>
          <a:noFill/>
          <a:ln/>
        </p:spPr>
        <p:txBody>
          <a:bodyPr wrap="square" lIns="0" tIns="0" rIns="0" bIns="0" rtlCol="0" anchor="ctr"/>
          <a:lstStyle/>
          <a:p>
            <a:pPr marL="0" indent="0">
              <a:buNone/>
            </a:pPr>
            <a:r>
              <a:rPr lang="en-US" sz="1100" b="1" kern="0" spc="300" dirty="0">
                <a:solidFill>
                  <a:srgbClr val="00A896"/>
                </a:solidFill>
                <a:latin typeface="Calibri" pitchFamily="34" charset="0"/>
                <a:ea typeface="Calibri" pitchFamily="34" charset="-122"/>
                <a:cs typeface="Calibri" pitchFamily="34" charset="-120"/>
              </a:rPr>
              <a:t>ROUTE #2026-05-17</a:t>
            </a:r>
            <a:endParaRPr lang="en-US" sz="1100" dirty="0"/>
          </a:p>
        </p:txBody>
      </p:sp>
      <p:sp>
        <p:nvSpPr>
          <p:cNvPr id="21" name="Text 19"/>
          <p:cNvSpPr/>
          <p:nvPr/>
        </p:nvSpPr>
        <p:spPr>
          <a:xfrm>
            <a:off x="6858000" y="2286000"/>
            <a:ext cx="219456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4.6</a:t>
            </a:r>
            <a:endParaRPr lang="en-US" sz="5600" dirty="0"/>
          </a:p>
        </p:txBody>
      </p:sp>
      <p:sp>
        <p:nvSpPr>
          <p:cNvPr id="22" name="Text 20"/>
          <p:cNvSpPr/>
          <p:nvPr/>
        </p:nvSpPr>
        <p:spPr>
          <a:xfrm>
            <a:off x="6858000" y="3200400"/>
            <a:ext cx="2194560" cy="320040"/>
          </a:xfrm>
          <a:prstGeom prst="rect">
            <a:avLst/>
          </a:prstGeom>
          <a:noFill/>
          <a:ln/>
        </p:spPr>
        <p:txBody>
          <a:bodyPr wrap="square" lIns="0" tIns="0" rIns="0" bIns="0" rtlCol="0" anchor="ctr"/>
          <a:lstStyle/>
          <a:p>
            <a:pPr marL="0" indent="0">
              <a:buNone/>
            </a:pPr>
            <a:r>
              <a:rPr lang="en-US" sz="1200" dirty="0">
                <a:solidFill>
                  <a:srgbClr val="9FB3BA"/>
                </a:solidFill>
                <a:latin typeface="Calibri" pitchFamily="34" charset="0"/>
                <a:ea typeface="Calibri" pitchFamily="34" charset="-122"/>
                <a:cs typeface="Calibri" pitchFamily="34" charset="-120"/>
              </a:rPr>
              <a:t>km driven</a:t>
            </a:r>
            <a:endParaRPr lang="en-US" sz="1200" dirty="0"/>
          </a:p>
        </p:txBody>
      </p:sp>
      <p:sp>
        <p:nvSpPr>
          <p:cNvPr id="23" name="Text 21"/>
          <p:cNvSpPr/>
          <p:nvPr/>
        </p:nvSpPr>
        <p:spPr>
          <a:xfrm>
            <a:off x="9281160" y="2286000"/>
            <a:ext cx="2194560" cy="914400"/>
          </a:xfrm>
          <a:prstGeom prst="rect">
            <a:avLst/>
          </a:prstGeom>
          <a:noFill/>
          <a:ln/>
        </p:spPr>
        <p:txBody>
          <a:bodyPr wrap="square" lIns="0" tIns="0" rIns="0" bIns="0" rtlCol="0" anchor="ctr"/>
          <a:lstStyle/>
          <a:p>
            <a:pPr marL="0" indent="0">
              <a:buNone/>
            </a:pPr>
            <a:r>
              <a:rPr lang="en-US" sz="5600" b="1" dirty="0">
                <a:solidFill>
                  <a:srgbClr val="00A896"/>
                </a:solidFill>
                <a:latin typeface="Calibri" pitchFamily="34" charset="0"/>
                <a:ea typeface="Calibri" pitchFamily="34" charset="-122"/>
                <a:cs typeface="Calibri" pitchFamily="34" charset="-120"/>
              </a:rPr>
              <a:t>4.37</a:t>
            </a:r>
            <a:endParaRPr lang="en-US" sz="5600" dirty="0"/>
          </a:p>
        </p:txBody>
      </p:sp>
      <p:sp>
        <p:nvSpPr>
          <p:cNvPr id="24" name="Text 22"/>
          <p:cNvSpPr/>
          <p:nvPr/>
        </p:nvSpPr>
        <p:spPr>
          <a:xfrm>
            <a:off x="9281160" y="3200400"/>
            <a:ext cx="2194560" cy="320040"/>
          </a:xfrm>
          <a:prstGeom prst="rect">
            <a:avLst/>
          </a:prstGeom>
          <a:noFill/>
          <a:ln/>
        </p:spPr>
        <p:txBody>
          <a:bodyPr wrap="square" lIns="0" tIns="0" rIns="0" bIns="0" rtlCol="0" anchor="ctr"/>
          <a:lstStyle/>
          <a:p>
            <a:pPr marL="0" indent="0">
              <a:buNone/>
            </a:pPr>
            <a:r>
              <a:rPr lang="en-US" sz="1200" dirty="0">
                <a:solidFill>
                  <a:srgbClr val="9FB3BA"/>
                </a:solidFill>
                <a:latin typeface="Calibri" pitchFamily="34" charset="0"/>
                <a:ea typeface="Calibri" pitchFamily="34" charset="-122"/>
                <a:cs typeface="Calibri" pitchFamily="34" charset="-120"/>
              </a:rPr>
              <a:t>kg CO₂ emitted</a:t>
            </a:r>
            <a:endParaRPr lang="en-US" sz="1200" dirty="0"/>
          </a:p>
        </p:txBody>
      </p:sp>
      <p:sp>
        <p:nvSpPr>
          <p:cNvPr id="25" name="Text 23"/>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26" name="Text 24"/>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14 / 22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REAL-TIME NOTIFICATIONS</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FCM push + in-app snackbar for newly-critical bins</a:t>
            </a:r>
            <a:endParaRPr lang="en-US" sz="3000" dirty="0"/>
          </a:p>
        </p:txBody>
      </p:sp>
      <p:sp>
        <p:nvSpPr>
          <p:cNvPr id="4" name="Text 2"/>
          <p:cNvSpPr/>
          <p:nvPr/>
        </p:nvSpPr>
        <p:spPr>
          <a:xfrm>
            <a:off x="548640" y="1783080"/>
            <a:ext cx="502920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Backend detects warn &gt; critical transition</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Sends FCM push to assigned worker's device</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In-app snackbar fires from Firestore listener</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Both paths idempotent (binId + timestamp dedupe)</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Tap notification &gt; deep-link to bin on map</a:t>
            </a:r>
            <a:endParaRPr lang="en-US" sz="1400" dirty="0"/>
          </a:p>
        </p:txBody>
      </p:sp>
      <p:sp>
        <p:nvSpPr>
          <p:cNvPr id="5" name="Shape 3"/>
          <p:cNvSpPr/>
          <p:nvPr/>
        </p:nvSpPr>
        <p:spPr>
          <a:xfrm>
            <a:off x="6858000" y="1783080"/>
            <a:ext cx="2743200" cy="4754880"/>
          </a:xfrm>
          <a:prstGeom prst="roundRect">
            <a:avLst>
              <a:gd name="adj" fmla="val 6667"/>
            </a:avLst>
          </a:prstGeom>
          <a:solidFill>
            <a:srgbClr val="0B1F2A"/>
          </a:solidFill>
          <a:ln w="12700">
            <a:solidFill>
              <a:srgbClr val="0B1F2A"/>
            </a:solidFill>
            <a:prstDash val="solid"/>
          </a:ln>
        </p:spPr>
        <p:txBody>
          <a:bodyPr/>
          <a:lstStyle/>
          <a:p>
            <a:endParaRPr lang="en-US"/>
          </a:p>
        </p:txBody>
      </p:sp>
      <p:sp>
        <p:nvSpPr>
          <p:cNvPr id="6" name="Shape 4"/>
          <p:cNvSpPr/>
          <p:nvPr/>
        </p:nvSpPr>
        <p:spPr>
          <a:xfrm>
            <a:off x="6967728" y="1920240"/>
            <a:ext cx="2523744" cy="4480560"/>
          </a:xfrm>
          <a:prstGeom prst="rect">
            <a:avLst/>
          </a:prstGeom>
          <a:solidFill>
            <a:srgbClr val="F5F5F5"/>
          </a:solidFill>
          <a:ln w="12700">
            <a:solidFill>
              <a:srgbClr val="F5F5F5"/>
            </a:solidFill>
            <a:prstDash val="solid"/>
          </a:ln>
        </p:spPr>
        <p:txBody>
          <a:bodyPr/>
          <a:lstStyle/>
          <a:p>
            <a:endParaRPr lang="en-US"/>
          </a:p>
        </p:txBody>
      </p:sp>
      <p:sp>
        <p:nvSpPr>
          <p:cNvPr id="7" name="Text 5"/>
          <p:cNvSpPr/>
          <p:nvPr/>
        </p:nvSpPr>
        <p:spPr>
          <a:xfrm>
            <a:off x="7086600" y="1965960"/>
            <a:ext cx="914400" cy="228600"/>
          </a:xfrm>
          <a:prstGeom prst="rect">
            <a:avLst/>
          </a:prstGeom>
          <a:noFill/>
          <a:ln/>
        </p:spPr>
        <p:txBody>
          <a:bodyPr wrap="square" lIns="0" tIns="0" rIns="0" bIns="0" rtlCol="0" anchor="ctr"/>
          <a:lstStyle/>
          <a:p>
            <a:pPr marL="0" indent="0">
              <a:buNone/>
            </a:pPr>
            <a:r>
              <a:rPr lang="en-US" sz="900" b="1" dirty="0">
                <a:solidFill>
                  <a:srgbClr val="0B1F2A"/>
                </a:solidFill>
                <a:latin typeface="Calibri" pitchFamily="34" charset="0"/>
                <a:ea typeface="Calibri" pitchFamily="34" charset="-122"/>
                <a:cs typeface="Calibri" pitchFamily="34" charset="-120"/>
              </a:rPr>
              <a:t>9:41</a:t>
            </a:r>
            <a:endParaRPr lang="en-US" sz="900" dirty="0"/>
          </a:p>
        </p:txBody>
      </p:sp>
      <p:sp>
        <p:nvSpPr>
          <p:cNvPr id="8" name="Shape 6"/>
          <p:cNvSpPr/>
          <p:nvPr/>
        </p:nvSpPr>
        <p:spPr>
          <a:xfrm>
            <a:off x="7086600" y="2286000"/>
            <a:ext cx="2286000" cy="777240"/>
          </a:xfrm>
          <a:prstGeom prst="roundRect">
            <a:avLst>
              <a:gd name="adj" fmla="val 5882"/>
            </a:avLst>
          </a:prstGeom>
          <a:solidFill>
            <a:srgbClr val="FFFFFF"/>
          </a:solidFill>
          <a:ln w="6350">
            <a:solidFill>
              <a:srgbClr val="D6DEE2"/>
            </a:solidFill>
            <a:prstDash val="solid"/>
          </a:ln>
        </p:spPr>
        <p:txBody>
          <a:bodyPr/>
          <a:lstStyle/>
          <a:p>
            <a:endParaRPr lang="en-US"/>
          </a:p>
        </p:txBody>
      </p:sp>
      <p:sp>
        <p:nvSpPr>
          <p:cNvPr id="9" name="Text 7"/>
          <p:cNvSpPr/>
          <p:nvPr/>
        </p:nvSpPr>
        <p:spPr>
          <a:xfrm>
            <a:off x="7178040" y="2331720"/>
            <a:ext cx="1828800" cy="228600"/>
          </a:xfrm>
          <a:prstGeom prst="rect">
            <a:avLst/>
          </a:prstGeom>
          <a:noFill/>
          <a:ln/>
        </p:spPr>
        <p:txBody>
          <a:bodyPr wrap="square" lIns="0" tIns="0" rIns="0" bIns="0" rtlCol="0" anchor="ctr"/>
          <a:lstStyle/>
          <a:p>
            <a:pPr marL="0" indent="0">
              <a:buNone/>
            </a:pPr>
            <a:r>
              <a:rPr lang="en-US" sz="900" b="1" dirty="0">
                <a:solidFill>
                  <a:srgbClr val="028090"/>
                </a:solidFill>
                <a:latin typeface="Calibri" pitchFamily="34" charset="0"/>
                <a:ea typeface="Calibri" pitchFamily="34" charset="-122"/>
                <a:cs typeface="Calibri" pitchFamily="34" charset="-120"/>
              </a:rPr>
              <a:t>CleanCore</a:t>
            </a:r>
            <a:endParaRPr lang="en-US" sz="900" dirty="0"/>
          </a:p>
        </p:txBody>
      </p:sp>
      <p:sp>
        <p:nvSpPr>
          <p:cNvPr id="10" name="Text 8"/>
          <p:cNvSpPr/>
          <p:nvPr/>
        </p:nvSpPr>
        <p:spPr>
          <a:xfrm>
            <a:off x="7178040" y="2331720"/>
            <a:ext cx="2103120" cy="228600"/>
          </a:xfrm>
          <a:prstGeom prst="rect">
            <a:avLst/>
          </a:prstGeom>
          <a:noFill/>
          <a:ln/>
        </p:spPr>
        <p:txBody>
          <a:bodyPr wrap="square" lIns="0" tIns="0" rIns="0" bIns="0" rtlCol="0" anchor="ctr"/>
          <a:lstStyle/>
          <a:p>
            <a:pPr marL="0" indent="0" algn="r">
              <a:buNone/>
            </a:pPr>
            <a:r>
              <a:rPr lang="en-US" sz="800" dirty="0">
                <a:solidFill>
                  <a:srgbClr val="5C6B73"/>
                </a:solidFill>
                <a:latin typeface="Calibri" pitchFamily="34" charset="0"/>
                <a:ea typeface="Calibri" pitchFamily="34" charset="-122"/>
                <a:cs typeface="Calibri" pitchFamily="34" charset="-120"/>
              </a:rPr>
              <a:t>now</a:t>
            </a:r>
            <a:endParaRPr lang="en-US" sz="800" dirty="0"/>
          </a:p>
        </p:txBody>
      </p:sp>
      <p:sp>
        <p:nvSpPr>
          <p:cNvPr id="11" name="Text 9"/>
          <p:cNvSpPr/>
          <p:nvPr/>
        </p:nvSpPr>
        <p:spPr>
          <a:xfrm>
            <a:off x="7178040" y="2560320"/>
            <a:ext cx="2103120" cy="457200"/>
          </a:xfrm>
          <a:prstGeom prst="rect">
            <a:avLst/>
          </a:prstGeom>
          <a:noFill/>
          <a:ln/>
        </p:spPr>
        <p:txBody>
          <a:bodyPr wrap="square" lIns="0" tIns="0" rIns="0" bIns="0" rtlCol="0" anchor="t"/>
          <a:lstStyle/>
          <a:p>
            <a:pPr marL="0" indent="0">
              <a:buNone/>
            </a:pPr>
            <a:r>
              <a:rPr lang="en-US" sz="1000" dirty="0">
                <a:solidFill>
                  <a:srgbClr val="0B1F2A"/>
                </a:solidFill>
                <a:latin typeface="Calibri" pitchFamily="34" charset="0"/>
                <a:ea typeface="Calibri" pitchFamily="34" charset="-122"/>
                <a:cs typeface="Calibri" pitchFamily="34" charset="-120"/>
              </a:rPr>
              <a:t>BIN_017 is now critical (87%)</a:t>
            </a:r>
            <a:endParaRPr lang="en-US" sz="1000" dirty="0"/>
          </a:p>
        </p:txBody>
      </p:sp>
      <p:sp>
        <p:nvSpPr>
          <p:cNvPr id="12" name="Text 10"/>
          <p:cNvSpPr/>
          <p:nvPr/>
        </p:nvSpPr>
        <p:spPr>
          <a:xfrm>
            <a:off x="7086600" y="3154680"/>
            <a:ext cx="2286000" cy="2560320"/>
          </a:xfrm>
          <a:prstGeom prst="rect">
            <a:avLst/>
          </a:prstGeom>
          <a:noFill/>
          <a:ln/>
        </p:spPr>
        <p:txBody>
          <a:bodyPr wrap="square" lIns="0" tIns="0" rIns="0" bIns="0" rtlCol="0" anchor="ctr"/>
          <a:lstStyle/>
          <a:p>
            <a:pPr marL="0" indent="0" algn="ctr">
              <a:buNone/>
            </a:pPr>
            <a:r>
              <a:rPr lang="en-US" sz="1000" i="1" dirty="0">
                <a:solidFill>
                  <a:srgbClr val="5C6B73"/>
                </a:solidFill>
                <a:latin typeface="Calibri" pitchFamily="34" charset="0"/>
                <a:ea typeface="Calibri" pitchFamily="34" charset="-122"/>
                <a:cs typeface="Calibri" pitchFamily="34" charset="-120"/>
              </a:rPr>
              <a:t>[ map view ]</a:t>
            </a:r>
            <a:endParaRPr lang="en-US" sz="1000" dirty="0"/>
          </a:p>
        </p:txBody>
      </p:sp>
      <p:sp>
        <p:nvSpPr>
          <p:cNvPr id="13" name="Shape 11"/>
          <p:cNvSpPr/>
          <p:nvPr/>
        </p:nvSpPr>
        <p:spPr>
          <a:xfrm>
            <a:off x="7086600" y="5715000"/>
            <a:ext cx="2286000" cy="502920"/>
          </a:xfrm>
          <a:prstGeom prst="rect">
            <a:avLst/>
          </a:prstGeom>
          <a:solidFill>
            <a:srgbClr val="2A9D8F"/>
          </a:solidFill>
          <a:ln w="12700">
            <a:solidFill>
              <a:srgbClr val="2A9D8F"/>
            </a:solidFill>
            <a:prstDash val="solid"/>
          </a:ln>
        </p:spPr>
        <p:txBody>
          <a:bodyPr/>
          <a:lstStyle/>
          <a:p>
            <a:endParaRPr lang="en-US"/>
          </a:p>
        </p:txBody>
      </p:sp>
      <p:sp>
        <p:nvSpPr>
          <p:cNvPr id="14" name="Text 12"/>
          <p:cNvSpPr/>
          <p:nvPr/>
        </p:nvSpPr>
        <p:spPr>
          <a:xfrm>
            <a:off x="7178040" y="5715000"/>
            <a:ext cx="2103120" cy="50292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Ready for pickup: BIN_017</a:t>
            </a:r>
            <a:endParaRPr lang="en-US" sz="1000" dirty="0"/>
          </a:p>
        </p:txBody>
      </p:sp>
      <p:sp>
        <p:nvSpPr>
          <p:cNvPr id="15" name="Text 13"/>
          <p:cNvSpPr/>
          <p:nvPr/>
        </p:nvSpPr>
        <p:spPr>
          <a:xfrm>
            <a:off x="9784080" y="2423160"/>
            <a:ext cx="2011680" cy="274320"/>
          </a:xfrm>
          <a:prstGeom prst="rect">
            <a:avLst/>
          </a:prstGeom>
          <a:noFill/>
          <a:ln/>
        </p:spPr>
        <p:txBody>
          <a:bodyPr wrap="square" lIns="0" tIns="0" rIns="0" bIns="0" rtlCol="0" anchor="ctr"/>
          <a:lstStyle/>
          <a:p>
            <a:pPr marL="0" indent="0">
              <a:buNone/>
            </a:pPr>
            <a:r>
              <a:rPr lang="en-US" sz="1000" b="1" dirty="0">
                <a:solidFill>
                  <a:srgbClr val="028090"/>
                </a:solidFill>
                <a:latin typeface="Calibri" pitchFamily="34" charset="0"/>
                <a:ea typeface="Calibri" pitchFamily="34" charset="-122"/>
                <a:cs typeface="Calibri" pitchFamily="34" charset="-120"/>
              </a:rPr>
              <a:t>FCM push (system tray)</a:t>
            </a:r>
            <a:endParaRPr lang="en-US" sz="1000" dirty="0"/>
          </a:p>
        </p:txBody>
      </p:sp>
      <p:sp>
        <p:nvSpPr>
          <p:cNvPr id="16" name="Shape 14"/>
          <p:cNvSpPr/>
          <p:nvPr/>
        </p:nvSpPr>
        <p:spPr>
          <a:xfrm>
            <a:off x="9692640" y="2651760"/>
            <a:ext cx="0" cy="0"/>
          </a:xfrm>
          <a:prstGeom prst="line">
            <a:avLst/>
          </a:prstGeom>
          <a:noFill/>
          <a:ln w="19050">
            <a:solidFill>
              <a:srgbClr val="028090"/>
            </a:solidFill>
            <a:prstDash val="solid"/>
            <a:tailEnd type="triangle"/>
          </a:ln>
        </p:spPr>
        <p:txBody>
          <a:bodyPr/>
          <a:lstStyle/>
          <a:p>
            <a:endParaRPr lang="en-US"/>
          </a:p>
        </p:txBody>
      </p:sp>
      <p:sp>
        <p:nvSpPr>
          <p:cNvPr id="17" name="Text 15"/>
          <p:cNvSpPr/>
          <p:nvPr/>
        </p:nvSpPr>
        <p:spPr>
          <a:xfrm>
            <a:off x="9784080" y="5806440"/>
            <a:ext cx="2011680" cy="274320"/>
          </a:xfrm>
          <a:prstGeom prst="rect">
            <a:avLst/>
          </a:prstGeom>
          <a:noFill/>
          <a:ln/>
        </p:spPr>
        <p:txBody>
          <a:bodyPr wrap="square" lIns="0" tIns="0" rIns="0" bIns="0" rtlCol="0" anchor="ctr"/>
          <a:lstStyle/>
          <a:p>
            <a:pPr marL="0" indent="0">
              <a:buNone/>
            </a:pPr>
            <a:r>
              <a:rPr lang="en-US" sz="1000" b="1" dirty="0">
                <a:solidFill>
                  <a:srgbClr val="2A9D8F"/>
                </a:solidFill>
                <a:latin typeface="Calibri" pitchFamily="34" charset="0"/>
                <a:ea typeface="Calibri" pitchFamily="34" charset="-122"/>
                <a:cs typeface="Calibri" pitchFamily="34" charset="-120"/>
              </a:rPr>
              <a:t>In-app snackbar</a:t>
            </a:r>
            <a:endParaRPr lang="en-US" sz="1000" dirty="0"/>
          </a:p>
        </p:txBody>
      </p:sp>
      <p:sp>
        <p:nvSpPr>
          <p:cNvPr id="18" name="Shape 16"/>
          <p:cNvSpPr/>
          <p:nvPr/>
        </p:nvSpPr>
        <p:spPr>
          <a:xfrm>
            <a:off x="9692640" y="5943600"/>
            <a:ext cx="0" cy="0"/>
          </a:xfrm>
          <a:prstGeom prst="line">
            <a:avLst/>
          </a:prstGeom>
          <a:noFill/>
          <a:ln w="19050">
            <a:solidFill>
              <a:srgbClr val="2A9D8F"/>
            </a:solidFill>
            <a:prstDash val="solid"/>
            <a:tailEnd type="triangle"/>
          </a:ln>
        </p:spPr>
        <p:txBody>
          <a:bodyPr/>
          <a:lstStyle/>
          <a:p>
            <a:endParaRPr lang="en-US"/>
          </a:p>
        </p:txBody>
      </p:sp>
      <p:sp>
        <p:nvSpPr>
          <p:cNvPr id="19" name="Text 17"/>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20" name="Text 18"/>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15 / 22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ANOMALY REPORTING</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Workers flag hazards; admin sees them live</a:t>
            </a:r>
            <a:endParaRPr lang="en-US" sz="3000" dirty="0"/>
          </a:p>
        </p:txBody>
      </p:sp>
      <p:sp>
        <p:nvSpPr>
          <p:cNvPr id="4" name="Text 2"/>
          <p:cNvSpPr/>
          <p:nvPr/>
        </p:nvSpPr>
        <p:spPr>
          <a:xfrm>
            <a:off x="548640" y="1783080"/>
            <a:ext cx="502920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Worker taps 'Report Anomaly' on a bin card</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Categories: hazardous · blocked · missing · damaged · other</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Optional photo + free-text note</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Written to anomalies with worker UID + GPS</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Admin panel renders a live feed with map markers</a:t>
            </a:r>
            <a:endParaRPr lang="en-US" sz="1400" dirty="0"/>
          </a:p>
        </p:txBody>
      </p:sp>
      <p:sp>
        <p:nvSpPr>
          <p:cNvPr id="5" name="Shape 3"/>
          <p:cNvSpPr/>
          <p:nvPr/>
        </p:nvSpPr>
        <p:spPr>
          <a:xfrm>
            <a:off x="6035040" y="1783080"/>
            <a:ext cx="2743200" cy="4572000"/>
          </a:xfrm>
          <a:prstGeom prst="rect">
            <a:avLst/>
          </a:prstGeom>
          <a:solidFill>
            <a:srgbClr val="FFFFFF"/>
          </a:solidFill>
          <a:ln w="12700">
            <a:solidFill>
              <a:srgbClr val="D6DEE2"/>
            </a:solidFill>
            <a:prstDash val="solid"/>
          </a:ln>
        </p:spPr>
        <p:txBody>
          <a:bodyPr/>
          <a:lstStyle/>
          <a:p>
            <a:endParaRPr lang="en-US"/>
          </a:p>
        </p:txBody>
      </p:sp>
      <p:sp>
        <p:nvSpPr>
          <p:cNvPr id="6" name="Shape 4"/>
          <p:cNvSpPr/>
          <p:nvPr/>
        </p:nvSpPr>
        <p:spPr>
          <a:xfrm>
            <a:off x="6035040" y="1783080"/>
            <a:ext cx="2743200" cy="411480"/>
          </a:xfrm>
          <a:prstGeom prst="rect">
            <a:avLst/>
          </a:prstGeom>
          <a:solidFill>
            <a:srgbClr val="0B1F2A"/>
          </a:solidFill>
          <a:ln w="12700">
            <a:solidFill>
              <a:srgbClr val="0B1F2A"/>
            </a:solidFill>
            <a:prstDash val="solid"/>
          </a:ln>
        </p:spPr>
        <p:txBody>
          <a:bodyPr/>
          <a:lstStyle/>
          <a:p>
            <a:endParaRPr lang="en-US"/>
          </a:p>
        </p:txBody>
      </p:sp>
      <p:sp>
        <p:nvSpPr>
          <p:cNvPr id="7" name="Text 5"/>
          <p:cNvSpPr/>
          <p:nvPr/>
        </p:nvSpPr>
        <p:spPr>
          <a:xfrm>
            <a:off x="6172200" y="1783080"/>
            <a:ext cx="246888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Report anomaly</a:t>
            </a:r>
            <a:endParaRPr lang="en-US" sz="1100" dirty="0"/>
          </a:p>
        </p:txBody>
      </p:sp>
      <p:sp>
        <p:nvSpPr>
          <p:cNvPr id="8" name="Shape 6"/>
          <p:cNvSpPr/>
          <p:nvPr/>
        </p:nvSpPr>
        <p:spPr>
          <a:xfrm>
            <a:off x="6172200" y="2423160"/>
            <a:ext cx="777240" cy="365760"/>
          </a:xfrm>
          <a:prstGeom prst="roundRect">
            <a:avLst>
              <a:gd name="adj" fmla="val 12500"/>
            </a:avLst>
          </a:prstGeom>
          <a:solidFill>
            <a:srgbClr val="D62828"/>
          </a:solidFill>
          <a:ln w="6350">
            <a:solidFill>
              <a:srgbClr val="D62828"/>
            </a:solidFill>
            <a:prstDash val="solid"/>
          </a:ln>
        </p:spPr>
        <p:txBody>
          <a:bodyPr/>
          <a:lstStyle/>
          <a:p>
            <a:endParaRPr lang="en-US"/>
          </a:p>
        </p:txBody>
      </p:sp>
      <p:sp>
        <p:nvSpPr>
          <p:cNvPr id="9" name="Text 7"/>
          <p:cNvSpPr/>
          <p:nvPr/>
        </p:nvSpPr>
        <p:spPr>
          <a:xfrm>
            <a:off x="6172200" y="2423160"/>
            <a:ext cx="777240" cy="365760"/>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hazardous</a:t>
            </a:r>
            <a:endParaRPr lang="en-US" sz="900" dirty="0"/>
          </a:p>
        </p:txBody>
      </p:sp>
      <p:sp>
        <p:nvSpPr>
          <p:cNvPr id="10" name="Shape 8"/>
          <p:cNvSpPr/>
          <p:nvPr/>
        </p:nvSpPr>
        <p:spPr>
          <a:xfrm>
            <a:off x="7040880" y="2423160"/>
            <a:ext cx="777240" cy="365760"/>
          </a:xfrm>
          <a:prstGeom prst="roundRect">
            <a:avLst>
              <a:gd name="adj" fmla="val 12500"/>
            </a:avLst>
          </a:prstGeom>
          <a:solidFill>
            <a:srgbClr val="F4F7F8"/>
          </a:solidFill>
          <a:ln w="6350">
            <a:solidFill>
              <a:srgbClr val="D6DEE2"/>
            </a:solidFill>
            <a:prstDash val="solid"/>
          </a:ln>
        </p:spPr>
        <p:txBody>
          <a:bodyPr/>
          <a:lstStyle/>
          <a:p>
            <a:endParaRPr lang="en-US"/>
          </a:p>
        </p:txBody>
      </p:sp>
      <p:sp>
        <p:nvSpPr>
          <p:cNvPr id="11" name="Text 9"/>
          <p:cNvSpPr/>
          <p:nvPr/>
        </p:nvSpPr>
        <p:spPr>
          <a:xfrm>
            <a:off x="7040880" y="2423160"/>
            <a:ext cx="777240" cy="365760"/>
          </a:xfrm>
          <a:prstGeom prst="rect">
            <a:avLst/>
          </a:prstGeom>
          <a:noFill/>
          <a:ln/>
        </p:spPr>
        <p:txBody>
          <a:bodyPr wrap="square" lIns="0" tIns="0" rIns="0" bIns="0" rtlCol="0" anchor="ctr"/>
          <a:lstStyle/>
          <a:p>
            <a:pPr marL="0" indent="0" algn="ctr">
              <a:buNone/>
            </a:pPr>
            <a:r>
              <a:rPr lang="en-US" sz="900" dirty="0">
                <a:solidFill>
                  <a:srgbClr val="5C6B73"/>
                </a:solidFill>
                <a:latin typeface="Calibri" pitchFamily="34" charset="0"/>
                <a:ea typeface="Calibri" pitchFamily="34" charset="-122"/>
                <a:cs typeface="Calibri" pitchFamily="34" charset="-120"/>
              </a:rPr>
              <a:t>blocked</a:t>
            </a:r>
            <a:endParaRPr lang="en-US" sz="900" dirty="0"/>
          </a:p>
        </p:txBody>
      </p:sp>
      <p:sp>
        <p:nvSpPr>
          <p:cNvPr id="12" name="Shape 10"/>
          <p:cNvSpPr/>
          <p:nvPr/>
        </p:nvSpPr>
        <p:spPr>
          <a:xfrm>
            <a:off x="7909560" y="2423160"/>
            <a:ext cx="777240" cy="365760"/>
          </a:xfrm>
          <a:prstGeom prst="roundRect">
            <a:avLst>
              <a:gd name="adj" fmla="val 12500"/>
            </a:avLst>
          </a:prstGeom>
          <a:solidFill>
            <a:srgbClr val="F4F7F8"/>
          </a:solidFill>
          <a:ln w="6350">
            <a:solidFill>
              <a:srgbClr val="D6DEE2"/>
            </a:solidFill>
            <a:prstDash val="solid"/>
          </a:ln>
        </p:spPr>
        <p:txBody>
          <a:bodyPr/>
          <a:lstStyle/>
          <a:p>
            <a:endParaRPr lang="en-US"/>
          </a:p>
        </p:txBody>
      </p:sp>
      <p:sp>
        <p:nvSpPr>
          <p:cNvPr id="13" name="Text 11"/>
          <p:cNvSpPr/>
          <p:nvPr/>
        </p:nvSpPr>
        <p:spPr>
          <a:xfrm>
            <a:off x="7909560" y="2423160"/>
            <a:ext cx="777240" cy="365760"/>
          </a:xfrm>
          <a:prstGeom prst="rect">
            <a:avLst/>
          </a:prstGeom>
          <a:noFill/>
          <a:ln/>
        </p:spPr>
        <p:txBody>
          <a:bodyPr wrap="square" lIns="0" tIns="0" rIns="0" bIns="0" rtlCol="0" anchor="ctr"/>
          <a:lstStyle/>
          <a:p>
            <a:pPr marL="0" indent="0" algn="ctr">
              <a:buNone/>
            </a:pPr>
            <a:r>
              <a:rPr lang="en-US" sz="900" dirty="0">
                <a:solidFill>
                  <a:srgbClr val="5C6B73"/>
                </a:solidFill>
                <a:latin typeface="Calibri" pitchFamily="34" charset="0"/>
                <a:ea typeface="Calibri" pitchFamily="34" charset="-122"/>
                <a:cs typeface="Calibri" pitchFamily="34" charset="-120"/>
              </a:rPr>
              <a:t>missing</a:t>
            </a:r>
            <a:endParaRPr lang="en-US" sz="900" dirty="0"/>
          </a:p>
        </p:txBody>
      </p:sp>
      <p:sp>
        <p:nvSpPr>
          <p:cNvPr id="14" name="Shape 12"/>
          <p:cNvSpPr/>
          <p:nvPr/>
        </p:nvSpPr>
        <p:spPr>
          <a:xfrm>
            <a:off x="6172200" y="2880360"/>
            <a:ext cx="777240" cy="365760"/>
          </a:xfrm>
          <a:prstGeom prst="roundRect">
            <a:avLst>
              <a:gd name="adj" fmla="val 12500"/>
            </a:avLst>
          </a:prstGeom>
          <a:solidFill>
            <a:srgbClr val="F4F7F8"/>
          </a:solidFill>
          <a:ln w="6350">
            <a:solidFill>
              <a:srgbClr val="D6DEE2"/>
            </a:solidFill>
            <a:prstDash val="solid"/>
          </a:ln>
        </p:spPr>
        <p:txBody>
          <a:bodyPr/>
          <a:lstStyle/>
          <a:p>
            <a:endParaRPr lang="en-US"/>
          </a:p>
        </p:txBody>
      </p:sp>
      <p:sp>
        <p:nvSpPr>
          <p:cNvPr id="15" name="Text 13"/>
          <p:cNvSpPr/>
          <p:nvPr/>
        </p:nvSpPr>
        <p:spPr>
          <a:xfrm>
            <a:off x="6172200" y="2880360"/>
            <a:ext cx="777240" cy="365760"/>
          </a:xfrm>
          <a:prstGeom prst="rect">
            <a:avLst/>
          </a:prstGeom>
          <a:noFill/>
          <a:ln/>
        </p:spPr>
        <p:txBody>
          <a:bodyPr wrap="square" lIns="0" tIns="0" rIns="0" bIns="0" rtlCol="0" anchor="ctr"/>
          <a:lstStyle/>
          <a:p>
            <a:pPr marL="0" indent="0" algn="ctr">
              <a:buNone/>
            </a:pPr>
            <a:r>
              <a:rPr lang="en-US" sz="900" dirty="0">
                <a:solidFill>
                  <a:srgbClr val="5C6B73"/>
                </a:solidFill>
                <a:latin typeface="Calibri" pitchFamily="34" charset="0"/>
                <a:ea typeface="Calibri" pitchFamily="34" charset="-122"/>
                <a:cs typeface="Calibri" pitchFamily="34" charset="-120"/>
              </a:rPr>
              <a:t>damaged</a:t>
            </a:r>
            <a:endParaRPr lang="en-US" sz="900" dirty="0"/>
          </a:p>
        </p:txBody>
      </p:sp>
      <p:sp>
        <p:nvSpPr>
          <p:cNvPr id="16" name="Shape 14"/>
          <p:cNvSpPr/>
          <p:nvPr/>
        </p:nvSpPr>
        <p:spPr>
          <a:xfrm>
            <a:off x="7040880" y="2880360"/>
            <a:ext cx="777240" cy="365760"/>
          </a:xfrm>
          <a:prstGeom prst="roundRect">
            <a:avLst>
              <a:gd name="adj" fmla="val 12500"/>
            </a:avLst>
          </a:prstGeom>
          <a:solidFill>
            <a:srgbClr val="F4F7F8"/>
          </a:solidFill>
          <a:ln w="6350">
            <a:solidFill>
              <a:srgbClr val="D6DEE2"/>
            </a:solidFill>
            <a:prstDash val="solid"/>
          </a:ln>
        </p:spPr>
        <p:txBody>
          <a:bodyPr/>
          <a:lstStyle/>
          <a:p>
            <a:endParaRPr lang="en-US"/>
          </a:p>
        </p:txBody>
      </p:sp>
      <p:sp>
        <p:nvSpPr>
          <p:cNvPr id="17" name="Text 15"/>
          <p:cNvSpPr/>
          <p:nvPr/>
        </p:nvSpPr>
        <p:spPr>
          <a:xfrm>
            <a:off x="7040880" y="2880360"/>
            <a:ext cx="777240" cy="365760"/>
          </a:xfrm>
          <a:prstGeom prst="rect">
            <a:avLst/>
          </a:prstGeom>
          <a:noFill/>
          <a:ln/>
        </p:spPr>
        <p:txBody>
          <a:bodyPr wrap="square" lIns="0" tIns="0" rIns="0" bIns="0" rtlCol="0" anchor="ctr"/>
          <a:lstStyle/>
          <a:p>
            <a:pPr marL="0" indent="0" algn="ctr">
              <a:buNone/>
            </a:pPr>
            <a:r>
              <a:rPr lang="en-US" sz="900" dirty="0">
                <a:solidFill>
                  <a:srgbClr val="5C6B73"/>
                </a:solidFill>
                <a:latin typeface="Calibri" pitchFamily="34" charset="0"/>
                <a:ea typeface="Calibri" pitchFamily="34" charset="-122"/>
                <a:cs typeface="Calibri" pitchFamily="34" charset="-120"/>
              </a:rPr>
              <a:t>other</a:t>
            </a:r>
            <a:endParaRPr lang="en-US" sz="900" dirty="0"/>
          </a:p>
        </p:txBody>
      </p:sp>
      <p:sp>
        <p:nvSpPr>
          <p:cNvPr id="18" name="Shape 16"/>
          <p:cNvSpPr/>
          <p:nvPr/>
        </p:nvSpPr>
        <p:spPr>
          <a:xfrm>
            <a:off x="6172200" y="3429000"/>
            <a:ext cx="2468880" cy="1371600"/>
          </a:xfrm>
          <a:prstGeom prst="rect">
            <a:avLst/>
          </a:prstGeom>
          <a:solidFill>
            <a:srgbClr val="F4F7F8"/>
          </a:solidFill>
          <a:ln w="6350">
            <a:solidFill>
              <a:srgbClr val="D6DEE2"/>
            </a:solidFill>
            <a:prstDash val="solid"/>
          </a:ln>
        </p:spPr>
        <p:txBody>
          <a:bodyPr/>
          <a:lstStyle/>
          <a:p>
            <a:endParaRPr lang="en-US"/>
          </a:p>
        </p:txBody>
      </p:sp>
      <p:sp>
        <p:nvSpPr>
          <p:cNvPr id="19" name="Text 17"/>
          <p:cNvSpPr/>
          <p:nvPr/>
        </p:nvSpPr>
        <p:spPr>
          <a:xfrm>
            <a:off x="6172200" y="3429000"/>
            <a:ext cx="2468880" cy="1371600"/>
          </a:xfrm>
          <a:prstGeom prst="rect">
            <a:avLst/>
          </a:prstGeom>
          <a:noFill/>
          <a:ln/>
        </p:spPr>
        <p:txBody>
          <a:bodyPr wrap="square" lIns="0" tIns="0" rIns="0" bIns="0" rtlCol="0" anchor="ctr"/>
          <a:lstStyle/>
          <a:p>
            <a:pPr marL="0" indent="0" algn="ctr">
              <a:buNone/>
            </a:pPr>
            <a:r>
              <a:rPr lang="en-US" sz="1000" i="1" dirty="0">
                <a:solidFill>
                  <a:srgbClr val="5C6B73"/>
                </a:solidFill>
                <a:latin typeface="Calibri" pitchFamily="34" charset="0"/>
                <a:ea typeface="Calibri" pitchFamily="34" charset="-122"/>
                <a:cs typeface="Calibri" pitchFamily="34" charset="-120"/>
              </a:rPr>
              <a:t>[ optional photo ]</a:t>
            </a:r>
            <a:endParaRPr lang="en-US" sz="1000" dirty="0"/>
          </a:p>
        </p:txBody>
      </p:sp>
      <p:sp>
        <p:nvSpPr>
          <p:cNvPr id="20" name="Shape 18"/>
          <p:cNvSpPr/>
          <p:nvPr/>
        </p:nvSpPr>
        <p:spPr>
          <a:xfrm>
            <a:off x="6172200" y="4937760"/>
            <a:ext cx="2468880" cy="640080"/>
          </a:xfrm>
          <a:prstGeom prst="rect">
            <a:avLst/>
          </a:prstGeom>
          <a:solidFill>
            <a:srgbClr val="F4F7F8"/>
          </a:solidFill>
          <a:ln w="6350">
            <a:solidFill>
              <a:srgbClr val="D6DEE2"/>
            </a:solidFill>
            <a:prstDash val="solid"/>
          </a:ln>
        </p:spPr>
        <p:txBody>
          <a:bodyPr/>
          <a:lstStyle/>
          <a:p>
            <a:endParaRPr lang="en-US"/>
          </a:p>
        </p:txBody>
      </p:sp>
      <p:sp>
        <p:nvSpPr>
          <p:cNvPr id="21" name="Text 19"/>
          <p:cNvSpPr/>
          <p:nvPr/>
        </p:nvSpPr>
        <p:spPr>
          <a:xfrm>
            <a:off x="6263640" y="4937760"/>
            <a:ext cx="2286000" cy="640080"/>
          </a:xfrm>
          <a:prstGeom prst="rect">
            <a:avLst/>
          </a:prstGeom>
          <a:noFill/>
          <a:ln/>
        </p:spPr>
        <p:txBody>
          <a:bodyPr wrap="square" lIns="0" tIns="0" rIns="0" bIns="0" rtlCol="0" anchor="ctr"/>
          <a:lstStyle/>
          <a:p>
            <a:pPr marL="0" indent="0">
              <a:buNone/>
            </a:pPr>
            <a:r>
              <a:rPr lang="en-US" sz="1000" dirty="0">
                <a:solidFill>
                  <a:srgbClr val="0B1F2A"/>
                </a:solidFill>
                <a:latin typeface="Calibri" pitchFamily="34" charset="0"/>
                <a:ea typeface="Calibri" pitchFamily="34" charset="-122"/>
                <a:cs typeface="Calibri" pitchFamily="34" charset="-120"/>
              </a:rPr>
              <a:t>Chemical spill beside bin.</a:t>
            </a:r>
            <a:endParaRPr lang="en-US" sz="1000" dirty="0"/>
          </a:p>
        </p:txBody>
      </p:sp>
      <p:sp>
        <p:nvSpPr>
          <p:cNvPr id="22" name="Shape 20"/>
          <p:cNvSpPr/>
          <p:nvPr/>
        </p:nvSpPr>
        <p:spPr>
          <a:xfrm>
            <a:off x="6172200" y="5715000"/>
            <a:ext cx="2468880" cy="457200"/>
          </a:xfrm>
          <a:prstGeom prst="rect">
            <a:avLst/>
          </a:prstGeom>
          <a:solidFill>
            <a:srgbClr val="028090"/>
          </a:solidFill>
          <a:ln w="12700">
            <a:solidFill>
              <a:srgbClr val="028090"/>
            </a:solidFill>
            <a:prstDash val="solid"/>
          </a:ln>
        </p:spPr>
        <p:txBody>
          <a:bodyPr/>
          <a:lstStyle/>
          <a:p>
            <a:endParaRPr lang="en-US"/>
          </a:p>
        </p:txBody>
      </p:sp>
      <p:sp>
        <p:nvSpPr>
          <p:cNvPr id="23" name="Text 21"/>
          <p:cNvSpPr/>
          <p:nvPr/>
        </p:nvSpPr>
        <p:spPr>
          <a:xfrm>
            <a:off x="6172200" y="5715000"/>
            <a:ext cx="246888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Submit report</a:t>
            </a:r>
            <a:endParaRPr lang="en-US" sz="1100" dirty="0"/>
          </a:p>
        </p:txBody>
      </p:sp>
      <p:sp>
        <p:nvSpPr>
          <p:cNvPr id="24" name="Shape 22"/>
          <p:cNvSpPr/>
          <p:nvPr/>
        </p:nvSpPr>
        <p:spPr>
          <a:xfrm>
            <a:off x="9006840" y="1783080"/>
            <a:ext cx="2743200" cy="4572000"/>
          </a:xfrm>
          <a:prstGeom prst="rect">
            <a:avLst/>
          </a:prstGeom>
          <a:solidFill>
            <a:srgbClr val="FFFFFF"/>
          </a:solidFill>
          <a:ln w="12700">
            <a:solidFill>
              <a:srgbClr val="D6DEE2"/>
            </a:solidFill>
            <a:prstDash val="solid"/>
          </a:ln>
        </p:spPr>
        <p:txBody>
          <a:bodyPr/>
          <a:lstStyle/>
          <a:p>
            <a:endParaRPr lang="en-US"/>
          </a:p>
        </p:txBody>
      </p:sp>
      <p:sp>
        <p:nvSpPr>
          <p:cNvPr id="25" name="Shape 23"/>
          <p:cNvSpPr/>
          <p:nvPr/>
        </p:nvSpPr>
        <p:spPr>
          <a:xfrm>
            <a:off x="9006840" y="1783080"/>
            <a:ext cx="2743200" cy="411480"/>
          </a:xfrm>
          <a:prstGeom prst="rect">
            <a:avLst/>
          </a:prstGeom>
          <a:solidFill>
            <a:srgbClr val="028090"/>
          </a:solidFill>
          <a:ln w="12700">
            <a:solidFill>
              <a:srgbClr val="028090"/>
            </a:solidFill>
            <a:prstDash val="solid"/>
          </a:ln>
        </p:spPr>
        <p:txBody>
          <a:bodyPr/>
          <a:lstStyle/>
          <a:p>
            <a:endParaRPr lang="en-US"/>
          </a:p>
        </p:txBody>
      </p:sp>
      <p:sp>
        <p:nvSpPr>
          <p:cNvPr id="26" name="Text 24"/>
          <p:cNvSpPr/>
          <p:nvPr/>
        </p:nvSpPr>
        <p:spPr>
          <a:xfrm>
            <a:off x="9144000" y="1783080"/>
            <a:ext cx="2468880" cy="41148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Admin · live feed</a:t>
            </a:r>
            <a:endParaRPr lang="en-US" sz="1100" dirty="0"/>
          </a:p>
        </p:txBody>
      </p:sp>
      <p:sp>
        <p:nvSpPr>
          <p:cNvPr id="27" name="Shape 25"/>
          <p:cNvSpPr/>
          <p:nvPr/>
        </p:nvSpPr>
        <p:spPr>
          <a:xfrm>
            <a:off x="9189720" y="2423160"/>
            <a:ext cx="164592" cy="164592"/>
          </a:xfrm>
          <a:prstGeom prst="ellipse">
            <a:avLst/>
          </a:prstGeom>
          <a:solidFill>
            <a:srgbClr val="D62828"/>
          </a:solidFill>
          <a:ln w="12700">
            <a:solidFill>
              <a:srgbClr val="D62828"/>
            </a:solidFill>
            <a:prstDash val="solid"/>
          </a:ln>
        </p:spPr>
        <p:txBody>
          <a:bodyPr/>
          <a:lstStyle/>
          <a:p>
            <a:endParaRPr lang="en-US"/>
          </a:p>
        </p:txBody>
      </p:sp>
      <p:sp>
        <p:nvSpPr>
          <p:cNvPr id="28" name="Text 26"/>
          <p:cNvSpPr/>
          <p:nvPr/>
        </p:nvSpPr>
        <p:spPr>
          <a:xfrm>
            <a:off x="9418320" y="2331720"/>
            <a:ext cx="914400" cy="27432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09:14</a:t>
            </a:r>
            <a:endParaRPr lang="en-US" sz="900" dirty="0"/>
          </a:p>
        </p:txBody>
      </p:sp>
      <p:sp>
        <p:nvSpPr>
          <p:cNvPr id="29" name="Text 27"/>
          <p:cNvSpPr/>
          <p:nvPr/>
        </p:nvSpPr>
        <p:spPr>
          <a:xfrm>
            <a:off x="9418320" y="2560320"/>
            <a:ext cx="2194560" cy="548640"/>
          </a:xfrm>
          <a:prstGeom prst="rect">
            <a:avLst/>
          </a:prstGeom>
          <a:noFill/>
          <a:ln/>
        </p:spPr>
        <p:txBody>
          <a:bodyPr wrap="square" lIns="0" tIns="0" rIns="0" bIns="0" rtlCol="0" anchor="t"/>
          <a:lstStyle/>
          <a:p>
            <a:pPr marL="0" indent="0">
              <a:buNone/>
            </a:pPr>
            <a:r>
              <a:rPr lang="en-US" sz="1000" dirty="0">
                <a:solidFill>
                  <a:srgbClr val="0B1F2A"/>
                </a:solidFill>
                <a:latin typeface="Calibri" pitchFamily="34" charset="0"/>
                <a:ea typeface="Calibri" pitchFamily="34" charset="-122"/>
                <a:cs typeface="Calibri" pitchFamily="34" charset="-120"/>
              </a:rPr>
              <a:t>BIN_017 · hazardous · spill</a:t>
            </a:r>
            <a:endParaRPr lang="en-US" sz="1000" dirty="0"/>
          </a:p>
        </p:txBody>
      </p:sp>
      <p:sp>
        <p:nvSpPr>
          <p:cNvPr id="30" name="Shape 28"/>
          <p:cNvSpPr/>
          <p:nvPr/>
        </p:nvSpPr>
        <p:spPr>
          <a:xfrm>
            <a:off x="9189720" y="3337560"/>
            <a:ext cx="164592" cy="164592"/>
          </a:xfrm>
          <a:prstGeom prst="ellipse">
            <a:avLst/>
          </a:prstGeom>
          <a:solidFill>
            <a:srgbClr val="F4A261"/>
          </a:solidFill>
          <a:ln w="12700">
            <a:solidFill>
              <a:srgbClr val="F4A261"/>
            </a:solidFill>
            <a:prstDash val="solid"/>
          </a:ln>
        </p:spPr>
        <p:txBody>
          <a:bodyPr/>
          <a:lstStyle/>
          <a:p>
            <a:endParaRPr lang="en-US"/>
          </a:p>
        </p:txBody>
      </p:sp>
      <p:sp>
        <p:nvSpPr>
          <p:cNvPr id="31" name="Text 29"/>
          <p:cNvSpPr/>
          <p:nvPr/>
        </p:nvSpPr>
        <p:spPr>
          <a:xfrm>
            <a:off x="9418320" y="3246120"/>
            <a:ext cx="914400" cy="27432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09:11</a:t>
            </a:r>
            <a:endParaRPr lang="en-US" sz="900" dirty="0"/>
          </a:p>
        </p:txBody>
      </p:sp>
      <p:sp>
        <p:nvSpPr>
          <p:cNvPr id="32" name="Text 30"/>
          <p:cNvSpPr/>
          <p:nvPr/>
        </p:nvSpPr>
        <p:spPr>
          <a:xfrm>
            <a:off x="9418320" y="3474720"/>
            <a:ext cx="2194560" cy="548640"/>
          </a:xfrm>
          <a:prstGeom prst="rect">
            <a:avLst/>
          </a:prstGeom>
          <a:noFill/>
          <a:ln/>
        </p:spPr>
        <p:txBody>
          <a:bodyPr wrap="square" lIns="0" tIns="0" rIns="0" bIns="0" rtlCol="0" anchor="t"/>
          <a:lstStyle/>
          <a:p>
            <a:pPr marL="0" indent="0">
              <a:buNone/>
            </a:pPr>
            <a:r>
              <a:rPr lang="en-US" sz="1000" dirty="0">
                <a:solidFill>
                  <a:srgbClr val="0B1F2A"/>
                </a:solidFill>
                <a:latin typeface="Calibri" pitchFamily="34" charset="0"/>
                <a:ea typeface="Calibri" pitchFamily="34" charset="-122"/>
                <a:cs typeface="Calibri" pitchFamily="34" charset="-120"/>
              </a:rPr>
              <a:t>BIN_008 · blocked · parked vehicle</a:t>
            </a:r>
            <a:endParaRPr lang="en-US" sz="1000" dirty="0"/>
          </a:p>
        </p:txBody>
      </p:sp>
      <p:sp>
        <p:nvSpPr>
          <p:cNvPr id="33" name="Shape 31"/>
          <p:cNvSpPr/>
          <p:nvPr/>
        </p:nvSpPr>
        <p:spPr>
          <a:xfrm>
            <a:off x="9189720" y="4251960"/>
            <a:ext cx="164592" cy="164592"/>
          </a:xfrm>
          <a:prstGeom prst="ellipse">
            <a:avLst/>
          </a:prstGeom>
          <a:solidFill>
            <a:srgbClr val="F4A261"/>
          </a:solidFill>
          <a:ln w="12700">
            <a:solidFill>
              <a:srgbClr val="F4A261"/>
            </a:solidFill>
            <a:prstDash val="solid"/>
          </a:ln>
        </p:spPr>
        <p:txBody>
          <a:bodyPr/>
          <a:lstStyle/>
          <a:p>
            <a:endParaRPr lang="en-US"/>
          </a:p>
        </p:txBody>
      </p:sp>
      <p:sp>
        <p:nvSpPr>
          <p:cNvPr id="34" name="Text 32"/>
          <p:cNvSpPr/>
          <p:nvPr/>
        </p:nvSpPr>
        <p:spPr>
          <a:xfrm>
            <a:off x="9418320" y="4160520"/>
            <a:ext cx="914400" cy="27432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08:52</a:t>
            </a:r>
            <a:endParaRPr lang="en-US" sz="900" dirty="0"/>
          </a:p>
        </p:txBody>
      </p:sp>
      <p:sp>
        <p:nvSpPr>
          <p:cNvPr id="35" name="Text 33"/>
          <p:cNvSpPr/>
          <p:nvPr/>
        </p:nvSpPr>
        <p:spPr>
          <a:xfrm>
            <a:off x="9418320" y="4389120"/>
            <a:ext cx="2194560" cy="548640"/>
          </a:xfrm>
          <a:prstGeom prst="rect">
            <a:avLst/>
          </a:prstGeom>
          <a:noFill/>
          <a:ln/>
        </p:spPr>
        <p:txBody>
          <a:bodyPr wrap="square" lIns="0" tIns="0" rIns="0" bIns="0" rtlCol="0" anchor="t"/>
          <a:lstStyle/>
          <a:p>
            <a:pPr marL="0" indent="0">
              <a:buNone/>
            </a:pPr>
            <a:r>
              <a:rPr lang="en-US" sz="1000" dirty="0">
                <a:solidFill>
                  <a:srgbClr val="0B1F2A"/>
                </a:solidFill>
                <a:latin typeface="Calibri" pitchFamily="34" charset="0"/>
                <a:ea typeface="Calibri" pitchFamily="34" charset="-122"/>
                <a:cs typeface="Calibri" pitchFamily="34" charset="-120"/>
              </a:rPr>
              <a:t>BIN_014 · missing · removed?</a:t>
            </a:r>
            <a:endParaRPr lang="en-US" sz="1000" dirty="0"/>
          </a:p>
        </p:txBody>
      </p:sp>
      <p:sp>
        <p:nvSpPr>
          <p:cNvPr id="36" name="Shape 34"/>
          <p:cNvSpPr/>
          <p:nvPr/>
        </p:nvSpPr>
        <p:spPr>
          <a:xfrm>
            <a:off x="9189720" y="5166360"/>
            <a:ext cx="164592" cy="164592"/>
          </a:xfrm>
          <a:prstGeom prst="ellipse">
            <a:avLst/>
          </a:prstGeom>
          <a:solidFill>
            <a:srgbClr val="F4A261"/>
          </a:solidFill>
          <a:ln w="12700">
            <a:solidFill>
              <a:srgbClr val="F4A261"/>
            </a:solidFill>
            <a:prstDash val="solid"/>
          </a:ln>
        </p:spPr>
        <p:txBody>
          <a:bodyPr/>
          <a:lstStyle/>
          <a:p>
            <a:endParaRPr lang="en-US"/>
          </a:p>
        </p:txBody>
      </p:sp>
      <p:sp>
        <p:nvSpPr>
          <p:cNvPr id="37" name="Text 35"/>
          <p:cNvSpPr/>
          <p:nvPr/>
        </p:nvSpPr>
        <p:spPr>
          <a:xfrm>
            <a:off x="9418320" y="5074920"/>
            <a:ext cx="914400" cy="274320"/>
          </a:xfrm>
          <a:prstGeom prst="rect">
            <a:avLst/>
          </a:prstGeom>
          <a:noFill/>
          <a:ln/>
        </p:spPr>
        <p:txBody>
          <a:bodyPr wrap="square" lIns="0" tIns="0" rIns="0" bIns="0" rtlCol="0" anchor="ctr"/>
          <a:lstStyle/>
          <a:p>
            <a:pPr marL="0" indent="0">
              <a:buNone/>
            </a:pPr>
            <a:r>
              <a:rPr lang="en-US" sz="900" b="1" dirty="0">
                <a:solidFill>
                  <a:srgbClr val="5C6B73"/>
                </a:solidFill>
                <a:latin typeface="Calibri" pitchFamily="34" charset="0"/>
                <a:ea typeface="Calibri" pitchFamily="34" charset="-122"/>
                <a:cs typeface="Calibri" pitchFamily="34" charset="-120"/>
              </a:rPr>
              <a:t>08:45</a:t>
            </a:r>
            <a:endParaRPr lang="en-US" sz="900" dirty="0"/>
          </a:p>
        </p:txBody>
      </p:sp>
      <p:sp>
        <p:nvSpPr>
          <p:cNvPr id="38" name="Text 36"/>
          <p:cNvSpPr/>
          <p:nvPr/>
        </p:nvSpPr>
        <p:spPr>
          <a:xfrm>
            <a:off x="9418320" y="5303520"/>
            <a:ext cx="2194560" cy="548640"/>
          </a:xfrm>
          <a:prstGeom prst="rect">
            <a:avLst/>
          </a:prstGeom>
          <a:noFill/>
          <a:ln/>
        </p:spPr>
        <p:txBody>
          <a:bodyPr wrap="square" lIns="0" tIns="0" rIns="0" bIns="0" rtlCol="0" anchor="t"/>
          <a:lstStyle/>
          <a:p>
            <a:pPr marL="0" indent="0">
              <a:buNone/>
            </a:pPr>
            <a:r>
              <a:rPr lang="en-US" sz="1000" dirty="0">
                <a:solidFill>
                  <a:srgbClr val="0B1F2A"/>
                </a:solidFill>
                <a:latin typeface="Calibri" pitchFamily="34" charset="0"/>
                <a:ea typeface="Calibri" pitchFamily="34" charset="-122"/>
                <a:cs typeface="Calibri" pitchFamily="34" charset="-120"/>
              </a:rPr>
              <a:t>BIN_022 · damaged · lid broken</a:t>
            </a:r>
            <a:endParaRPr lang="en-US" sz="1000" dirty="0"/>
          </a:p>
        </p:txBody>
      </p:sp>
      <p:sp>
        <p:nvSpPr>
          <p:cNvPr id="39" name="Text 37"/>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40" name="Text 38"/>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16 / 22</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SCHEDULING &amp; AUDIT</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Every action recorded · every shift planned</a:t>
            </a:r>
            <a:endParaRPr lang="en-US" sz="3000" dirty="0"/>
          </a:p>
        </p:txBody>
      </p:sp>
      <p:sp>
        <p:nvSpPr>
          <p:cNvPr id="4" name="Text 2"/>
          <p:cNvSpPr/>
          <p:nvPr/>
        </p:nvSpPr>
        <p:spPr>
          <a:xfrm>
            <a:off x="548640" y="1783080"/>
            <a:ext cx="4572000" cy="4114800"/>
          </a:xfrm>
          <a:prstGeom prst="rect">
            <a:avLst/>
          </a:prstGeom>
          <a:noFill/>
          <a:ln/>
        </p:spPr>
        <p:txBody>
          <a:bodyPr wrap="square" rtlCol="0" anchor="t"/>
          <a:lstStyle/>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Admin defines shifts in shiftSchedules per worker</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Worker app reads upcoming shifts on login</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Every Firestore mutation appends to activityLogs</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Logs carry actor UID, action type, before/after diff</a:t>
            </a:r>
            <a:endParaRPr lang="en-US" sz="1400" dirty="0"/>
          </a:p>
          <a:p>
            <a:pPr marL="342900" indent="-342900">
              <a:spcAft>
                <a:spcPts val="800"/>
              </a:spcAft>
              <a:buSzPct val="100000"/>
              <a:buChar char="■"/>
            </a:pPr>
            <a:r>
              <a:rPr lang="en-US" sz="1400" dirty="0">
                <a:solidFill>
                  <a:srgbClr val="0B1F2A"/>
                </a:solidFill>
                <a:latin typeface="Calibri" pitchFamily="34" charset="0"/>
                <a:ea typeface="Calibri" pitchFamily="34" charset="-122"/>
                <a:cs typeface="Calibri" pitchFamily="34" charset="-120"/>
              </a:rPr>
              <a:t>Filterable by date, actor, action in admin panel</a:t>
            </a:r>
            <a:endParaRPr lang="en-US" sz="1400" dirty="0"/>
          </a:p>
        </p:txBody>
      </p:sp>
      <p:sp>
        <p:nvSpPr>
          <p:cNvPr id="5" name="Shape 3"/>
          <p:cNvSpPr/>
          <p:nvPr/>
        </p:nvSpPr>
        <p:spPr>
          <a:xfrm>
            <a:off x="5486400" y="1783080"/>
            <a:ext cx="6217920" cy="2103120"/>
          </a:xfrm>
          <a:prstGeom prst="rect">
            <a:avLst/>
          </a:prstGeom>
          <a:solidFill>
            <a:srgbClr val="FFFFFF"/>
          </a:solidFill>
          <a:ln w="9525">
            <a:solidFill>
              <a:srgbClr val="D6DEE2"/>
            </a:solidFill>
            <a:prstDash val="solid"/>
          </a:ln>
        </p:spPr>
        <p:txBody>
          <a:bodyPr/>
          <a:lstStyle/>
          <a:p>
            <a:endParaRPr lang="en-US"/>
          </a:p>
        </p:txBody>
      </p:sp>
      <p:sp>
        <p:nvSpPr>
          <p:cNvPr id="6" name="Text 4"/>
          <p:cNvSpPr/>
          <p:nvPr/>
        </p:nvSpPr>
        <p:spPr>
          <a:xfrm>
            <a:off x="5669280" y="1874520"/>
            <a:ext cx="2743200" cy="274320"/>
          </a:xfrm>
          <a:prstGeom prst="rect">
            <a:avLst/>
          </a:prstGeom>
          <a:noFill/>
          <a:ln/>
        </p:spPr>
        <p:txBody>
          <a:bodyPr wrap="square" lIns="0" tIns="0" rIns="0" bIns="0" rtlCol="0" anchor="ctr"/>
          <a:lstStyle/>
          <a:p>
            <a:pPr marL="0" indent="0">
              <a:buNone/>
            </a:pPr>
            <a:r>
              <a:rPr lang="en-US" sz="1000" b="1" kern="0" spc="300" dirty="0">
                <a:solidFill>
                  <a:srgbClr val="028090"/>
                </a:solidFill>
                <a:latin typeface="Calibri" pitchFamily="34" charset="0"/>
                <a:ea typeface="Calibri" pitchFamily="34" charset="-122"/>
                <a:cs typeface="Calibri" pitchFamily="34" charset="-120"/>
              </a:rPr>
              <a:t>Weekly shift grid</a:t>
            </a:r>
            <a:endParaRPr lang="en-US" sz="1000" dirty="0"/>
          </a:p>
        </p:txBody>
      </p:sp>
      <p:sp>
        <p:nvSpPr>
          <p:cNvPr id="7" name="Text 5"/>
          <p:cNvSpPr/>
          <p:nvPr/>
        </p:nvSpPr>
        <p:spPr>
          <a:xfrm>
            <a:off x="658368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Mon</a:t>
            </a:r>
            <a:endParaRPr lang="en-US" sz="900" dirty="0"/>
          </a:p>
        </p:txBody>
      </p:sp>
      <p:sp>
        <p:nvSpPr>
          <p:cNvPr id="8" name="Text 6"/>
          <p:cNvSpPr/>
          <p:nvPr/>
        </p:nvSpPr>
        <p:spPr>
          <a:xfrm>
            <a:off x="731520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Tue</a:t>
            </a:r>
            <a:endParaRPr lang="en-US" sz="900" dirty="0"/>
          </a:p>
        </p:txBody>
      </p:sp>
      <p:sp>
        <p:nvSpPr>
          <p:cNvPr id="9" name="Text 7"/>
          <p:cNvSpPr/>
          <p:nvPr/>
        </p:nvSpPr>
        <p:spPr>
          <a:xfrm>
            <a:off x="804672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Wed</a:t>
            </a:r>
            <a:endParaRPr lang="en-US" sz="900" dirty="0"/>
          </a:p>
        </p:txBody>
      </p:sp>
      <p:sp>
        <p:nvSpPr>
          <p:cNvPr id="10" name="Text 8"/>
          <p:cNvSpPr/>
          <p:nvPr/>
        </p:nvSpPr>
        <p:spPr>
          <a:xfrm>
            <a:off x="877824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Thu</a:t>
            </a:r>
            <a:endParaRPr lang="en-US" sz="900" dirty="0"/>
          </a:p>
        </p:txBody>
      </p:sp>
      <p:sp>
        <p:nvSpPr>
          <p:cNvPr id="11" name="Text 9"/>
          <p:cNvSpPr/>
          <p:nvPr/>
        </p:nvSpPr>
        <p:spPr>
          <a:xfrm>
            <a:off x="950976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Fri</a:t>
            </a:r>
            <a:endParaRPr lang="en-US" sz="900" dirty="0"/>
          </a:p>
        </p:txBody>
      </p:sp>
      <p:sp>
        <p:nvSpPr>
          <p:cNvPr id="12" name="Text 10"/>
          <p:cNvSpPr/>
          <p:nvPr/>
        </p:nvSpPr>
        <p:spPr>
          <a:xfrm>
            <a:off x="1024128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Sat</a:t>
            </a:r>
            <a:endParaRPr lang="en-US" sz="900" dirty="0"/>
          </a:p>
        </p:txBody>
      </p:sp>
      <p:sp>
        <p:nvSpPr>
          <p:cNvPr id="13" name="Text 11"/>
          <p:cNvSpPr/>
          <p:nvPr/>
        </p:nvSpPr>
        <p:spPr>
          <a:xfrm>
            <a:off x="10972800" y="2240280"/>
            <a:ext cx="731520" cy="320040"/>
          </a:xfrm>
          <a:prstGeom prst="rect">
            <a:avLst/>
          </a:prstGeom>
          <a:noFill/>
          <a:ln/>
        </p:spPr>
        <p:txBody>
          <a:bodyPr wrap="square" lIns="0" tIns="0" rIns="0" bIns="0" rtlCol="0" anchor="ctr"/>
          <a:lstStyle/>
          <a:p>
            <a:pPr marL="0" indent="0" algn="ctr">
              <a:buNone/>
            </a:pPr>
            <a:r>
              <a:rPr lang="en-US" sz="900" b="1" dirty="0">
                <a:solidFill>
                  <a:srgbClr val="5C6B73"/>
                </a:solidFill>
                <a:latin typeface="Calibri" pitchFamily="34" charset="0"/>
                <a:ea typeface="Calibri" pitchFamily="34" charset="-122"/>
                <a:cs typeface="Calibri" pitchFamily="34" charset="-120"/>
              </a:rPr>
              <a:t>Sun</a:t>
            </a:r>
            <a:endParaRPr lang="en-US" sz="900" dirty="0"/>
          </a:p>
        </p:txBody>
      </p:sp>
      <p:sp>
        <p:nvSpPr>
          <p:cNvPr id="14" name="Text 12"/>
          <p:cNvSpPr/>
          <p:nvPr/>
        </p:nvSpPr>
        <p:spPr>
          <a:xfrm>
            <a:off x="5669280" y="2560320"/>
            <a:ext cx="868680" cy="411480"/>
          </a:xfrm>
          <a:prstGeom prst="rect">
            <a:avLst/>
          </a:prstGeom>
          <a:noFill/>
          <a:ln/>
        </p:spPr>
        <p:txBody>
          <a:bodyPr wrap="square" lIns="0" tIns="0" rIns="0" bIns="0" rtlCol="0" anchor="ctr"/>
          <a:lstStyle/>
          <a:p>
            <a:pPr marL="0" indent="0">
              <a:buNone/>
            </a:pPr>
            <a:r>
              <a:rPr lang="en-US" sz="1000" b="1" dirty="0">
                <a:solidFill>
                  <a:srgbClr val="0B1F2A"/>
                </a:solidFill>
                <a:latin typeface="Calibri" pitchFamily="34" charset="0"/>
                <a:ea typeface="Calibri" pitchFamily="34" charset="-122"/>
                <a:cs typeface="Calibri" pitchFamily="34" charset="-120"/>
              </a:rPr>
              <a:t>Bilal</a:t>
            </a:r>
            <a:endParaRPr lang="en-US" sz="1000" dirty="0"/>
          </a:p>
        </p:txBody>
      </p:sp>
      <p:sp>
        <p:nvSpPr>
          <p:cNvPr id="15" name="Shape 13"/>
          <p:cNvSpPr/>
          <p:nvPr/>
        </p:nvSpPr>
        <p:spPr>
          <a:xfrm>
            <a:off x="6620256" y="2596896"/>
            <a:ext cx="658368" cy="338328"/>
          </a:xfrm>
          <a:prstGeom prst="rect">
            <a:avLst/>
          </a:prstGeom>
          <a:solidFill>
            <a:srgbClr val="028090"/>
          </a:solidFill>
          <a:ln w="5080">
            <a:solidFill>
              <a:srgbClr val="D6DEE2"/>
            </a:solidFill>
            <a:prstDash val="solid"/>
          </a:ln>
        </p:spPr>
        <p:txBody>
          <a:bodyPr/>
          <a:lstStyle/>
          <a:p>
            <a:endParaRPr lang="en-US"/>
          </a:p>
        </p:txBody>
      </p:sp>
      <p:sp>
        <p:nvSpPr>
          <p:cNvPr id="16" name="Shape 14"/>
          <p:cNvSpPr/>
          <p:nvPr/>
        </p:nvSpPr>
        <p:spPr>
          <a:xfrm>
            <a:off x="7351776" y="2596896"/>
            <a:ext cx="658368" cy="338328"/>
          </a:xfrm>
          <a:prstGeom prst="rect">
            <a:avLst/>
          </a:prstGeom>
          <a:solidFill>
            <a:srgbClr val="028090"/>
          </a:solidFill>
          <a:ln w="5080">
            <a:solidFill>
              <a:srgbClr val="D6DEE2"/>
            </a:solidFill>
            <a:prstDash val="solid"/>
          </a:ln>
        </p:spPr>
        <p:txBody>
          <a:bodyPr/>
          <a:lstStyle/>
          <a:p>
            <a:endParaRPr lang="en-US"/>
          </a:p>
        </p:txBody>
      </p:sp>
      <p:sp>
        <p:nvSpPr>
          <p:cNvPr id="17" name="Shape 15"/>
          <p:cNvSpPr/>
          <p:nvPr/>
        </p:nvSpPr>
        <p:spPr>
          <a:xfrm>
            <a:off x="8083296" y="2596896"/>
            <a:ext cx="658368" cy="338328"/>
          </a:xfrm>
          <a:prstGeom prst="rect">
            <a:avLst/>
          </a:prstGeom>
          <a:solidFill>
            <a:srgbClr val="028090"/>
          </a:solidFill>
          <a:ln w="5080">
            <a:solidFill>
              <a:srgbClr val="D6DEE2"/>
            </a:solidFill>
            <a:prstDash val="solid"/>
          </a:ln>
        </p:spPr>
        <p:txBody>
          <a:bodyPr/>
          <a:lstStyle/>
          <a:p>
            <a:endParaRPr lang="en-US"/>
          </a:p>
        </p:txBody>
      </p:sp>
      <p:sp>
        <p:nvSpPr>
          <p:cNvPr id="18" name="Shape 16"/>
          <p:cNvSpPr/>
          <p:nvPr/>
        </p:nvSpPr>
        <p:spPr>
          <a:xfrm>
            <a:off x="8814816" y="2596896"/>
            <a:ext cx="658368" cy="338328"/>
          </a:xfrm>
          <a:prstGeom prst="rect">
            <a:avLst/>
          </a:prstGeom>
          <a:solidFill>
            <a:srgbClr val="028090"/>
          </a:solidFill>
          <a:ln w="5080">
            <a:solidFill>
              <a:srgbClr val="D6DEE2"/>
            </a:solidFill>
            <a:prstDash val="solid"/>
          </a:ln>
        </p:spPr>
        <p:txBody>
          <a:bodyPr/>
          <a:lstStyle/>
          <a:p>
            <a:endParaRPr lang="en-US"/>
          </a:p>
        </p:txBody>
      </p:sp>
      <p:sp>
        <p:nvSpPr>
          <p:cNvPr id="19" name="Shape 17"/>
          <p:cNvSpPr/>
          <p:nvPr/>
        </p:nvSpPr>
        <p:spPr>
          <a:xfrm>
            <a:off x="9546336" y="2596896"/>
            <a:ext cx="658368" cy="338328"/>
          </a:xfrm>
          <a:prstGeom prst="rect">
            <a:avLst/>
          </a:prstGeom>
          <a:solidFill>
            <a:srgbClr val="028090"/>
          </a:solidFill>
          <a:ln w="5080">
            <a:solidFill>
              <a:srgbClr val="D6DEE2"/>
            </a:solidFill>
            <a:prstDash val="solid"/>
          </a:ln>
        </p:spPr>
        <p:txBody>
          <a:bodyPr/>
          <a:lstStyle/>
          <a:p>
            <a:endParaRPr lang="en-US"/>
          </a:p>
        </p:txBody>
      </p:sp>
      <p:sp>
        <p:nvSpPr>
          <p:cNvPr id="20" name="Shape 18"/>
          <p:cNvSpPr/>
          <p:nvPr/>
        </p:nvSpPr>
        <p:spPr>
          <a:xfrm>
            <a:off x="10277856" y="2596896"/>
            <a:ext cx="658368" cy="338328"/>
          </a:xfrm>
          <a:prstGeom prst="rect">
            <a:avLst/>
          </a:prstGeom>
          <a:solidFill>
            <a:srgbClr val="F4F7F8"/>
          </a:solidFill>
          <a:ln w="5080">
            <a:solidFill>
              <a:srgbClr val="D6DEE2"/>
            </a:solidFill>
            <a:prstDash val="solid"/>
          </a:ln>
        </p:spPr>
        <p:txBody>
          <a:bodyPr/>
          <a:lstStyle/>
          <a:p>
            <a:endParaRPr lang="en-US"/>
          </a:p>
        </p:txBody>
      </p:sp>
      <p:sp>
        <p:nvSpPr>
          <p:cNvPr id="21" name="Shape 19"/>
          <p:cNvSpPr/>
          <p:nvPr/>
        </p:nvSpPr>
        <p:spPr>
          <a:xfrm>
            <a:off x="11009376" y="2596896"/>
            <a:ext cx="658368" cy="338328"/>
          </a:xfrm>
          <a:prstGeom prst="rect">
            <a:avLst/>
          </a:prstGeom>
          <a:solidFill>
            <a:srgbClr val="F4F7F8"/>
          </a:solidFill>
          <a:ln w="5080">
            <a:solidFill>
              <a:srgbClr val="D6DEE2"/>
            </a:solidFill>
            <a:prstDash val="solid"/>
          </a:ln>
        </p:spPr>
        <p:txBody>
          <a:bodyPr/>
          <a:lstStyle/>
          <a:p>
            <a:endParaRPr lang="en-US"/>
          </a:p>
        </p:txBody>
      </p:sp>
      <p:sp>
        <p:nvSpPr>
          <p:cNvPr id="22" name="Text 20"/>
          <p:cNvSpPr/>
          <p:nvPr/>
        </p:nvSpPr>
        <p:spPr>
          <a:xfrm>
            <a:off x="5669280" y="2971800"/>
            <a:ext cx="868680" cy="411480"/>
          </a:xfrm>
          <a:prstGeom prst="rect">
            <a:avLst/>
          </a:prstGeom>
          <a:noFill/>
          <a:ln/>
        </p:spPr>
        <p:txBody>
          <a:bodyPr wrap="square" lIns="0" tIns="0" rIns="0" bIns="0" rtlCol="0" anchor="ctr"/>
          <a:lstStyle/>
          <a:p>
            <a:pPr marL="0" indent="0">
              <a:buNone/>
            </a:pPr>
            <a:r>
              <a:rPr lang="en-US" sz="1000" b="1" dirty="0">
                <a:solidFill>
                  <a:srgbClr val="0B1F2A"/>
                </a:solidFill>
                <a:latin typeface="Calibri" pitchFamily="34" charset="0"/>
                <a:ea typeface="Calibri" pitchFamily="34" charset="-122"/>
                <a:cs typeface="Calibri" pitchFamily="34" charset="-120"/>
              </a:rPr>
              <a:t>Sara</a:t>
            </a:r>
            <a:endParaRPr lang="en-US" sz="1000" dirty="0"/>
          </a:p>
        </p:txBody>
      </p:sp>
      <p:sp>
        <p:nvSpPr>
          <p:cNvPr id="23" name="Shape 21"/>
          <p:cNvSpPr/>
          <p:nvPr/>
        </p:nvSpPr>
        <p:spPr>
          <a:xfrm>
            <a:off x="6620256" y="3008376"/>
            <a:ext cx="658368" cy="338328"/>
          </a:xfrm>
          <a:prstGeom prst="rect">
            <a:avLst/>
          </a:prstGeom>
          <a:solidFill>
            <a:srgbClr val="028090"/>
          </a:solidFill>
          <a:ln w="5080">
            <a:solidFill>
              <a:srgbClr val="D6DEE2"/>
            </a:solidFill>
            <a:prstDash val="solid"/>
          </a:ln>
        </p:spPr>
        <p:txBody>
          <a:bodyPr/>
          <a:lstStyle/>
          <a:p>
            <a:endParaRPr lang="en-US"/>
          </a:p>
        </p:txBody>
      </p:sp>
      <p:sp>
        <p:nvSpPr>
          <p:cNvPr id="24" name="Shape 22"/>
          <p:cNvSpPr/>
          <p:nvPr/>
        </p:nvSpPr>
        <p:spPr>
          <a:xfrm>
            <a:off x="7351776" y="3008376"/>
            <a:ext cx="658368" cy="338328"/>
          </a:xfrm>
          <a:prstGeom prst="rect">
            <a:avLst/>
          </a:prstGeom>
          <a:solidFill>
            <a:srgbClr val="028090"/>
          </a:solidFill>
          <a:ln w="5080">
            <a:solidFill>
              <a:srgbClr val="D6DEE2"/>
            </a:solidFill>
            <a:prstDash val="solid"/>
          </a:ln>
        </p:spPr>
        <p:txBody>
          <a:bodyPr/>
          <a:lstStyle/>
          <a:p>
            <a:endParaRPr lang="en-US"/>
          </a:p>
        </p:txBody>
      </p:sp>
      <p:sp>
        <p:nvSpPr>
          <p:cNvPr id="25" name="Shape 23"/>
          <p:cNvSpPr/>
          <p:nvPr/>
        </p:nvSpPr>
        <p:spPr>
          <a:xfrm>
            <a:off x="8083296" y="3008376"/>
            <a:ext cx="658368" cy="338328"/>
          </a:xfrm>
          <a:prstGeom prst="rect">
            <a:avLst/>
          </a:prstGeom>
          <a:solidFill>
            <a:srgbClr val="028090"/>
          </a:solidFill>
          <a:ln w="5080">
            <a:solidFill>
              <a:srgbClr val="D6DEE2"/>
            </a:solidFill>
            <a:prstDash val="solid"/>
          </a:ln>
        </p:spPr>
        <p:txBody>
          <a:bodyPr/>
          <a:lstStyle/>
          <a:p>
            <a:endParaRPr lang="en-US"/>
          </a:p>
        </p:txBody>
      </p:sp>
      <p:sp>
        <p:nvSpPr>
          <p:cNvPr id="26" name="Shape 24"/>
          <p:cNvSpPr/>
          <p:nvPr/>
        </p:nvSpPr>
        <p:spPr>
          <a:xfrm>
            <a:off x="8814816" y="3008376"/>
            <a:ext cx="658368" cy="338328"/>
          </a:xfrm>
          <a:prstGeom prst="rect">
            <a:avLst/>
          </a:prstGeom>
          <a:solidFill>
            <a:srgbClr val="028090"/>
          </a:solidFill>
          <a:ln w="5080">
            <a:solidFill>
              <a:srgbClr val="D6DEE2"/>
            </a:solidFill>
            <a:prstDash val="solid"/>
          </a:ln>
        </p:spPr>
        <p:txBody>
          <a:bodyPr/>
          <a:lstStyle/>
          <a:p>
            <a:endParaRPr lang="en-US"/>
          </a:p>
        </p:txBody>
      </p:sp>
      <p:sp>
        <p:nvSpPr>
          <p:cNvPr id="27" name="Shape 25"/>
          <p:cNvSpPr/>
          <p:nvPr/>
        </p:nvSpPr>
        <p:spPr>
          <a:xfrm>
            <a:off x="9546336" y="3008376"/>
            <a:ext cx="658368" cy="338328"/>
          </a:xfrm>
          <a:prstGeom prst="rect">
            <a:avLst/>
          </a:prstGeom>
          <a:solidFill>
            <a:srgbClr val="028090"/>
          </a:solidFill>
          <a:ln w="5080">
            <a:solidFill>
              <a:srgbClr val="D6DEE2"/>
            </a:solidFill>
            <a:prstDash val="solid"/>
          </a:ln>
        </p:spPr>
        <p:txBody>
          <a:bodyPr/>
          <a:lstStyle/>
          <a:p>
            <a:endParaRPr lang="en-US"/>
          </a:p>
        </p:txBody>
      </p:sp>
      <p:sp>
        <p:nvSpPr>
          <p:cNvPr id="28" name="Shape 26"/>
          <p:cNvSpPr/>
          <p:nvPr/>
        </p:nvSpPr>
        <p:spPr>
          <a:xfrm>
            <a:off x="10277856" y="3008376"/>
            <a:ext cx="658368" cy="338328"/>
          </a:xfrm>
          <a:prstGeom prst="rect">
            <a:avLst/>
          </a:prstGeom>
          <a:solidFill>
            <a:srgbClr val="028090"/>
          </a:solidFill>
          <a:ln w="5080">
            <a:solidFill>
              <a:srgbClr val="D6DEE2"/>
            </a:solidFill>
            <a:prstDash val="solid"/>
          </a:ln>
        </p:spPr>
        <p:txBody>
          <a:bodyPr/>
          <a:lstStyle/>
          <a:p>
            <a:endParaRPr lang="en-US"/>
          </a:p>
        </p:txBody>
      </p:sp>
      <p:sp>
        <p:nvSpPr>
          <p:cNvPr id="29" name="Shape 27"/>
          <p:cNvSpPr/>
          <p:nvPr/>
        </p:nvSpPr>
        <p:spPr>
          <a:xfrm>
            <a:off x="11009376" y="3008376"/>
            <a:ext cx="658368" cy="338328"/>
          </a:xfrm>
          <a:prstGeom prst="rect">
            <a:avLst/>
          </a:prstGeom>
          <a:solidFill>
            <a:srgbClr val="F4F7F8"/>
          </a:solidFill>
          <a:ln w="5080">
            <a:solidFill>
              <a:srgbClr val="D6DEE2"/>
            </a:solidFill>
            <a:prstDash val="solid"/>
          </a:ln>
        </p:spPr>
        <p:txBody>
          <a:bodyPr/>
          <a:lstStyle/>
          <a:p>
            <a:endParaRPr lang="en-US"/>
          </a:p>
        </p:txBody>
      </p:sp>
      <p:sp>
        <p:nvSpPr>
          <p:cNvPr id="30" name="Text 28"/>
          <p:cNvSpPr/>
          <p:nvPr/>
        </p:nvSpPr>
        <p:spPr>
          <a:xfrm>
            <a:off x="5669280" y="3383280"/>
            <a:ext cx="868680" cy="411480"/>
          </a:xfrm>
          <a:prstGeom prst="rect">
            <a:avLst/>
          </a:prstGeom>
          <a:noFill/>
          <a:ln/>
        </p:spPr>
        <p:txBody>
          <a:bodyPr wrap="square" lIns="0" tIns="0" rIns="0" bIns="0" rtlCol="0" anchor="ctr"/>
          <a:lstStyle/>
          <a:p>
            <a:pPr marL="0" indent="0">
              <a:buNone/>
            </a:pPr>
            <a:r>
              <a:rPr lang="en-US" sz="1000" b="1" dirty="0">
                <a:solidFill>
                  <a:srgbClr val="0B1F2A"/>
                </a:solidFill>
                <a:latin typeface="Calibri" pitchFamily="34" charset="0"/>
                <a:ea typeface="Calibri" pitchFamily="34" charset="-122"/>
                <a:cs typeface="Calibri" pitchFamily="34" charset="-120"/>
              </a:rPr>
              <a:t>Ahmed</a:t>
            </a:r>
            <a:endParaRPr lang="en-US" sz="1000" dirty="0"/>
          </a:p>
        </p:txBody>
      </p:sp>
      <p:sp>
        <p:nvSpPr>
          <p:cNvPr id="31" name="Shape 29"/>
          <p:cNvSpPr/>
          <p:nvPr/>
        </p:nvSpPr>
        <p:spPr>
          <a:xfrm>
            <a:off x="6620256" y="3419856"/>
            <a:ext cx="658368" cy="338328"/>
          </a:xfrm>
          <a:prstGeom prst="rect">
            <a:avLst/>
          </a:prstGeom>
          <a:solidFill>
            <a:srgbClr val="028090"/>
          </a:solidFill>
          <a:ln w="5080">
            <a:solidFill>
              <a:srgbClr val="D6DEE2"/>
            </a:solidFill>
            <a:prstDash val="solid"/>
          </a:ln>
        </p:spPr>
        <p:txBody>
          <a:bodyPr/>
          <a:lstStyle/>
          <a:p>
            <a:endParaRPr lang="en-US"/>
          </a:p>
        </p:txBody>
      </p:sp>
      <p:sp>
        <p:nvSpPr>
          <p:cNvPr id="32" name="Shape 30"/>
          <p:cNvSpPr/>
          <p:nvPr/>
        </p:nvSpPr>
        <p:spPr>
          <a:xfrm>
            <a:off x="7351776" y="3419856"/>
            <a:ext cx="658368" cy="338328"/>
          </a:xfrm>
          <a:prstGeom prst="rect">
            <a:avLst/>
          </a:prstGeom>
          <a:solidFill>
            <a:srgbClr val="028090"/>
          </a:solidFill>
          <a:ln w="5080">
            <a:solidFill>
              <a:srgbClr val="D6DEE2"/>
            </a:solidFill>
            <a:prstDash val="solid"/>
          </a:ln>
        </p:spPr>
        <p:txBody>
          <a:bodyPr/>
          <a:lstStyle/>
          <a:p>
            <a:endParaRPr lang="en-US"/>
          </a:p>
        </p:txBody>
      </p:sp>
      <p:sp>
        <p:nvSpPr>
          <p:cNvPr id="33" name="Shape 31"/>
          <p:cNvSpPr/>
          <p:nvPr/>
        </p:nvSpPr>
        <p:spPr>
          <a:xfrm>
            <a:off x="8083296" y="3419856"/>
            <a:ext cx="658368" cy="338328"/>
          </a:xfrm>
          <a:prstGeom prst="rect">
            <a:avLst/>
          </a:prstGeom>
          <a:solidFill>
            <a:srgbClr val="028090"/>
          </a:solidFill>
          <a:ln w="5080">
            <a:solidFill>
              <a:srgbClr val="D6DEE2"/>
            </a:solidFill>
            <a:prstDash val="solid"/>
          </a:ln>
        </p:spPr>
        <p:txBody>
          <a:bodyPr/>
          <a:lstStyle/>
          <a:p>
            <a:endParaRPr lang="en-US"/>
          </a:p>
        </p:txBody>
      </p:sp>
      <p:sp>
        <p:nvSpPr>
          <p:cNvPr id="34" name="Shape 32"/>
          <p:cNvSpPr/>
          <p:nvPr/>
        </p:nvSpPr>
        <p:spPr>
          <a:xfrm>
            <a:off x="8814816" y="3419856"/>
            <a:ext cx="658368" cy="338328"/>
          </a:xfrm>
          <a:prstGeom prst="rect">
            <a:avLst/>
          </a:prstGeom>
          <a:solidFill>
            <a:srgbClr val="028090"/>
          </a:solidFill>
          <a:ln w="5080">
            <a:solidFill>
              <a:srgbClr val="D6DEE2"/>
            </a:solidFill>
            <a:prstDash val="solid"/>
          </a:ln>
        </p:spPr>
        <p:txBody>
          <a:bodyPr/>
          <a:lstStyle/>
          <a:p>
            <a:endParaRPr lang="en-US"/>
          </a:p>
        </p:txBody>
      </p:sp>
      <p:sp>
        <p:nvSpPr>
          <p:cNvPr id="35" name="Shape 33"/>
          <p:cNvSpPr/>
          <p:nvPr/>
        </p:nvSpPr>
        <p:spPr>
          <a:xfrm>
            <a:off x="9546336" y="3419856"/>
            <a:ext cx="658368" cy="338328"/>
          </a:xfrm>
          <a:prstGeom prst="rect">
            <a:avLst/>
          </a:prstGeom>
          <a:solidFill>
            <a:srgbClr val="028090"/>
          </a:solidFill>
          <a:ln w="5080">
            <a:solidFill>
              <a:srgbClr val="D6DEE2"/>
            </a:solidFill>
            <a:prstDash val="solid"/>
          </a:ln>
        </p:spPr>
        <p:txBody>
          <a:bodyPr/>
          <a:lstStyle/>
          <a:p>
            <a:endParaRPr lang="en-US"/>
          </a:p>
        </p:txBody>
      </p:sp>
      <p:sp>
        <p:nvSpPr>
          <p:cNvPr id="36" name="Shape 34"/>
          <p:cNvSpPr/>
          <p:nvPr/>
        </p:nvSpPr>
        <p:spPr>
          <a:xfrm>
            <a:off x="10277856" y="3419856"/>
            <a:ext cx="658368" cy="338328"/>
          </a:xfrm>
          <a:prstGeom prst="rect">
            <a:avLst/>
          </a:prstGeom>
          <a:solidFill>
            <a:srgbClr val="F4F7F8"/>
          </a:solidFill>
          <a:ln w="5080">
            <a:solidFill>
              <a:srgbClr val="D6DEE2"/>
            </a:solidFill>
            <a:prstDash val="solid"/>
          </a:ln>
        </p:spPr>
        <p:txBody>
          <a:bodyPr/>
          <a:lstStyle/>
          <a:p>
            <a:endParaRPr lang="en-US"/>
          </a:p>
        </p:txBody>
      </p:sp>
      <p:sp>
        <p:nvSpPr>
          <p:cNvPr id="37" name="Shape 35"/>
          <p:cNvSpPr/>
          <p:nvPr/>
        </p:nvSpPr>
        <p:spPr>
          <a:xfrm>
            <a:off x="11009376" y="3419856"/>
            <a:ext cx="658368" cy="338328"/>
          </a:xfrm>
          <a:prstGeom prst="rect">
            <a:avLst/>
          </a:prstGeom>
          <a:solidFill>
            <a:srgbClr val="028090"/>
          </a:solidFill>
          <a:ln w="5080">
            <a:solidFill>
              <a:srgbClr val="D6DEE2"/>
            </a:solidFill>
            <a:prstDash val="solid"/>
          </a:ln>
        </p:spPr>
        <p:txBody>
          <a:bodyPr/>
          <a:lstStyle/>
          <a:p>
            <a:endParaRPr lang="en-US"/>
          </a:p>
        </p:txBody>
      </p:sp>
      <p:sp>
        <p:nvSpPr>
          <p:cNvPr id="38" name="Shape 36"/>
          <p:cNvSpPr/>
          <p:nvPr/>
        </p:nvSpPr>
        <p:spPr>
          <a:xfrm>
            <a:off x="5486400" y="4114800"/>
            <a:ext cx="6217920" cy="2194560"/>
          </a:xfrm>
          <a:prstGeom prst="rect">
            <a:avLst/>
          </a:prstGeom>
          <a:solidFill>
            <a:srgbClr val="0B1F2A"/>
          </a:solidFill>
          <a:ln w="12700">
            <a:solidFill>
              <a:srgbClr val="0B1F2A"/>
            </a:solidFill>
            <a:prstDash val="solid"/>
          </a:ln>
        </p:spPr>
        <p:txBody>
          <a:bodyPr/>
          <a:lstStyle/>
          <a:p>
            <a:endParaRPr lang="en-US"/>
          </a:p>
        </p:txBody>
      </p:sp>
      <p:sp>
        <p:nvSpPr>
          <p:cNvPr id="39" name="Text 37"/>
          <p:cNvSpPr/>
          <p:nvPr/>
        </p:nvSpPr>
        <p:spPr>
          <a:xfrm>
            <a:off x="5669280" y="4206240"/>
            <a:ext cx="2743200" cy="274320"/>
          </a:xfrm>
          <a:prstGeom prst="rect">
            <a:avLst/>
          </a:prstGeom>
          <a:noFill/>
          <a:ln/>
        </p:spPr>
        <p:txBody>
          <a:bodyPr wrap="square" lIns="0" tIns="0" rIns="0" bIns="0" rtlCol="0" anchor="ctr"/>
          <a:lstStyle/>
          <a:p>
            <a:pPr marL="0" indent="0">
              <a:buNone/>
            </a:pPr>
            <a:r>
              <a:rPr lang="en-US" sz="1000" b="1" kern="0" spc="300" dirty="0">
                <a:solidFill>
                  <a:srgbClr val="00A896"/>
                </a:solidFill>
                <a:latin typeface="Calibri" pitchFamily="34" charset="0"/>
                <a:ea typeface="Calibri" pitchFamily="34" charset="-122"/>
                <a:cs typeface="Calibri" pitchFamily="34" charset="-120"/>
              </a:rPr>
              <a:t>activityLogs (tail)</a:t>
            </a:r>
            <a:endParaRPr lang="en-US" sz="1000" dirty="0"/>
          </a:p>
        </p:txBody>
      </p:sp>
      <p:sp>
        <p:nvSpPr>
          <p:cNvPr id="40" name="Text 38"/>
          <p:cNvSpPr/>
          <p:nvPr/>
        </p:nvSpPr>
        <p:spPr>
          <a:xfrm>
            <a:off x="5669280" y="4526280"/>
            <a:ext cx="5852160" cy="1691640"/>
          </a:xfrm>
          <a:prstGeom prst="rect">
            <a:avLst/>
          </a:prstGeom>
          <a:noFill/>
          <a:ln/>
        </p:spPr>
        <p:txBody>
          <a:bodyPr wrap="square" lIns="0" tIns="0" rIns="0" bIns="0" rtlCol="0" anchor="t"/>
          <a:lstStyle/>
          <a:p>
            <a:pPr marL="0" indent="0">
              <a:buNone/>
            </a:pPr>
            <a:r>
              <a:rPr lang="en-US" sz="1100" dirty="0">
                <a:solidFill>
                  <a:srgbClr val="FFFFFF"/>
                </a:solidFill>
                <a:latin typeface="Consolas" pitchFamily="34" charset="0"/>
                <a:ea typeface="Consolas" pitchFamily="34" charset="-122"/>
                <a:cs typeface="Consolas" pitchFamily="34" charset="-120"/>
              </a:rPr>
              <a:t>09:14  admin       threshold.critical  80 -&gt; 65</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09:12  worker_42   bin.collected       BIN_017</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09:08  admin       bin.created         BIN_028 @ DHA, Lahore</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08:55  worker_42   anomaly.reported    BIN_017 hazardous</a:t>
            </a:r>
            <a:endParaRPr lang="en-US" sz="1100" dirty="0"/>
          </a:p>
          <a:p>
            <a:pPr marL="0" indent="0">
              <a:buNone/>
            </a:pPr>
            <a:r>
              <a:rPr lang="en-US" sz="1100" dirty="0">
                <a:solidFill>
                  <a:srgbClr val="FFFFFF"/>
                </a:solidFill>
                <a:latin typeface="Consolas" pitchFamily="34" charset="0"/>
                <a:ea typeface="Consolas" pitchFamily="34" charset="-122"/>
                <a:cs typeface="Consolas" pitchFamily="34" charset="-120"/>
              </a:rPr>
              <a:t>08:30  system      route.generated     ROUTE_..._WORKER_UID_42</a:t>
            </a:r>
            <a:endParaRPr lang="en-US" sz="1100" dirty="0"/>
          </a:p>
        </p:txBody>
      </p:sp>
      <p:sp>
        <p:nvSpPr>
          <p:cNvPr id="41" name="Text 39"/>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42" name="Text 40"/>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17 / 22</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11480"/>
            <a:ext cx="10972800" cy="292608"/>
          </a:xfrm>
          <a:prstGeom prst="rect">
            <a:avLst/>
          </a:prstGeom>
          <a:noFill/>
          <a:ln/>
        </p:spPr>
        <p:txBody>
          <a:bodyPr wrap="square" lIns="0" tIns="0" rIns="0" bIns="0" rtlCol="0" anchor="ctr"/>
          <a:lstStyle/>
          <a:p>
            <a:pPr marL="0" indent="0">
              <a:buNone/>
            </a:pPr>
            <a:r>
              <a:rPr lang="en-US" sz="1100" b="1" kern="0" spc="400" dirty="0">
                <a:solidFill>
                  <a:srgbClr val="028090"/>
                </a:solidFill>
                <a:latin typeface="Calibri" pitchFamily="34" charset="0"/>
                <a:ea typeface="Calibri" pitchFamily="34" charset="-122"/>
                <a:cs typeface="Calibri" pitchFamily="34" charset="-120"/>
              </a:rPr>
              <a:t>FUTURE WORK</a:t>
            </a:r>
            <a:endParaRPr lang="en-US" sz="1100" dirty="0"/>
          </a:p>
        </p:txBody>
      </p:sp>
      <p:sp>
        <p:nvSpPr>
          <p:cNvPr id="3" name="Text 1"/>
          <p:cNvSpPr/>
          <p:nvPr/>
        </p:nvSpPr>
        <p:spPr>
          <a:xfrm>
            <a:off x="457200" y="713232"/>
            <a:ext cx="10972800" cy="731520"/>
          </a:xfrm>
          <a:prstGeom prst="rect">
            <a:avLst/>
          </a:prstGeom>
          <a:noFill/>
          <a:ln/>
        </p:spPr>
        <p:txBody>
          <a:bodyPr wrap="square" lIns="0" tIns="0" rIns="0" bIns="0" rtlCol="0" anchor="ctr"/>
          <a:lstStyle/>
          <a:p>
            <a:pPr marL="0" indent="0">
              <a:buNone/>
            </a:pPr>
            <a:r>
              <a:rPr lang="en-US" sz="3000" b="1" dirty="0">
                <a:solidFill>
                  <a:srgbClr val="0B1F2A"/>
                </a:solidFill>
                <a:latin typeface="Calibri" pitchFamily="34" charset="0"/>
                <a:ea typeface="Calibri" pitchFamily="34" charset="-122"/>
                <a:cs typeface="Calibri" pitchFamily="34" charset="-120"/>
              </a:rPr>
              <a:t>Where CleanCore goes next</a:t>
            </a:r>
            <a:endParaRPr lang="en-US" sz="3000" dirty="0"/>
          </a:p>
        </p:txBody>
      </p:sp>
      <p:sp>
        <p:nvSpPr>
          <p:cNvPr id="4" name="Shape 2"/>
          <p:cNvSpPr/>
          <p:nvPr/>
        </p:nvSpPr>
        <p:spPr>
          <a:xfrm>
            <a:off x="914400" y="1920240"/>
            <a:ext cx="10332720" cy="777240"/>
          </a:xfrm>
          <a:prstGeom prst="rect">
            <a:avLst/>
          </a:prstGeom>
          <a:solidFill>
            <a:srgbClr val="028090"/>
          </a:solidFill>
          <a:ln w="9525">
            <a:solidFill>
              <a:srgbClr val="028090"/>
            </a:solidFill>
            <a:prstDash val="solid"/>
          </a:ln>
        </p:spPr>
        <p:txBody>
          <a:bodyPr/>
          <a:lstStyle/>
          <a:p>
            <a:endParaRPr lang="en-US"/>
          </a:p>
        </p:txBody>
      </p:sp>
      <p:sp>
        <p:nvSpPr>
          <p:cNvPr id="5" name="Shape 3"/>
          <p:cNvSpPr/>
          <p:nvPr/>
        </p:nvSpPr>
        <p:spPr>
          <a:xfrm>
            <a:off x="1097280" y="2057400"/>
            <a:ext cx="502920" cy="502920"/>
          </a:xfrm>
          <a:prstGeom prst="ellipse">
            <a:avLst/>
          </a:prstGeom>
          <a:solidFill>
            <a:srgbClr val="FFFFFF"/>
          </a:solidFill>
          <a:ln w="12700">
            <a:solidFill>
              <a:srgbClr val="FFFFFF"/>
            </a:solidFill>
            <a:prstDash val="solid"/>
          </a:ln>
        </p:spPr>
        <p:txBody>
          <a:bodyPr/>
          <a:lstStyle/>
          <a:p>
            <a:endParaRPr lang="en-US"/>
          </a:p>
        </p:txBody>
      </p:sp>
      <p:sp>
        <p:nvSpPr>
          <p:cNvPr id="6" name="Text 4"/>
          <p:cNvSpPr/>
          <p:nvPr/>
        </p:nvSpPr>
        <p:spPr>
          <a:xfrm>
            <a:off x="1097280" y="2057400"/>
            <a:ext cx="502920" cy="502920"/>
          </a:xfrm>
          <a:prstGeom prst="rect">
            <a:avLst/>
          </a:prstGeom>
          <a:noFill/>
          <a:ln/>
        </p:spPr>
        <p:txBody>
          <a:bodyPr wrap="square" lIns="0" tIns="0" rIns="0" bIns="0" rtlCol="0" anchor="ctr"/>
          <a:lstStyle/>
          <a:p>
            <a:pPr marL="0" indent="0" algn="ctr">
              <a:buNone/>
            </a:pPr>
            <a:r>
              <a:rPr lang="en-US" sz="1600" b="1" dirty="0">
                <a:solidFill>
                  <a:srgbClr val="028090"/>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783080" y="1920240"/>
            <a:ext cx="9281160" cy="77724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Multi-worker collaborative routing within an area</a:t>
            </a:r>
            <a:endParaRPr lang="en-US" sz="1500" dirty="0"/>
          </a:p>
        </p:txBody>
      </p:sp>
      <p:sp>
        <p:nvSpPr>
          <p:cNvPr id="8" name="Shape 6"/>
          <p:cNvSpPr/>
          <p:nvPr/>
        </p:nvSpPr>
        <p:spPr>
          <a:xfrm>
            <a:off x="914400" y="2807208"/>
            <a:ext cx="10332720" cy="777240"/>
          </a:xfrm>
          <a:prstGeom prst="rect">
            <a:avLst/>
          </a:prstGeom>
          <a:solidFill>
            <a:srgbClr val="F4F7F8"/>
          </a:solidFill>
          <a:ln w="9525">
            <a:solidFill>
              <a:srgbClr val="D6DEE2"/>
            </a:solidFill>
            <a:prstDash val="solid"/>
          </a:ln>
        </p:spPr>
        <p:txBody>
          <a:bodyPr/>
          <a:lstStyle/>
          <a:p>
            <a:endParaRPr lang="en-US"/>
          </a:p>
        </p:txBody>
      </p:sp>
      <p:sp>
        <p:nvSpPr>
          <p:cNvPr id="9" name="Shape 7"/>
          <p:cNvSpPr/>
          <p:nvPr/>
        </p:nvSpPr>
        <p:spPr>
          <a:xfrm>
            <a:off x="1097280" y="2944368"/>
            <a:ext cx="502920" cy="502920"/>
          </a:xfrm>
          <a:prstGeom prst="ellipse">
            <a:avLst/>
          </a:prstGeom>
          <a:solidFill>
            <a:srgbClr val="028090"/>
          </a:solidFill>
          <a:ln w="12700">
            <a:solidFill>
              <a:srgbClr val="028090"/>
            </a:solidFill>
            <a:prstDash val="solid"/>
          </a:ln>
        </p:spPr>
        <p:txBody>
          <a:bodyPr/>
          <a:lstStyle/>
          <a:p>
            <a:endParaRPr lang="en-US"/>
          </a:p>
        </p:txBody>
      </p:sp>
      <p:sp>
        <p:nvSpPr>
          <p:cNvPr id="10" name="Text 8"/>
          <p:cNvSpPr/>
          <p:nvPr/>
        </p:nvSpPr>
        <p:spPr>
          <a:xfrm>
            <a:off x="1097280" y="2944368"/>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1783080" y="2807208"/>
            <a:ext cx="9281160" cy="777240"/>
          </a:xfrm>
          <a:prstGeom prst="rect">
            <a:avLst/>
          </a:prstGeom>
          <a:noFill/>
          <a:ln/>
        </p:spPr>
        <p:txBody>
          <a:bodyPr wrap="square" lIns="0" tIns="0" rIns="0" bIns="0" rtlCol="0" anchor="ctr"/>
          <a:lstStyle/>
          <a:p>
            <a:pPr marL="0" indent="0">
              <a:buNone/>
            </a:pPr>
            <a:r>
              <a:rPr lang="en-US" sz="1500" dirty="0">
                <a:solidFill>
                  <a:srgbClr val="0B1F2A"/>
                </a:solidFill>
                <a:latin typeface="Calibri" pitchFamily="34" charset="0"/>
                <a:ea typeface="Calibri" pitchFamily="34" charset="-122"/>
                <a:cs typeface="Calibri" pitchFamily="34" charset="-120"/>
              </a:rPr>
              <a:t>Dynamic re-optimisation mid-route on critical events</a:t>
            </a:r>
            <a:endParaRPr lang="en-US" sz="1500" dirty="0"/>
          </a:p>
        </p:txBody>
      </p:sp>
      <p:sp>
        <p:nvSpPr>
          <p:cNvPr id="12" name="Shape 10"/>
          <p:cNvSpPr/>
          <p:nvPr/>
        </p:nvSpPr>
        <p:spPr>
          <a:xfrm>
            <a:off x="914400" y="3694176"/>
            <a:ext cx="10332720" cy="777240"/>
          </a:xfrm>
          <a:prstGeom prst="rect">
            <a:avLst/>
          </a:prstGeom>
          <a:solidFill>
            <a:srgbClr val="F4F7F8"/>
          </a:solidFill>
          <a:ln w="9525">
            <a:solidFill>
              <a:srgbClr val="D6DEE2"/>
            </a:solidFill>
            <a:prstDash val="solid"/>
          </a:ln>
        </p:spPr>
        <p:txBody>
          <a:bodyPr/>
          <a:lstStyle/>
          <a:p>
            <a:endParaRPr lang="en-US"/>
          </a:p>
        </p:txBody>
      </p:sp>
      <p:sp>
        <p:nvSpPr>
          <p:cNvPr id="13" name="Shape 11"/>
          <p:cNvSpPr/>
          <p:nvPr/>
        </p:nvSpPr>
        <p:spPr>
          <a:xfrm>
            <a:off x="1097280" y="3831336"/>
            <a:ext cx="502920" cy="502920"/>
          </a:xfrm>
          <a:prstGeom prst="ellipse">
            <a:avLst/>
          </a:prstGeom>
          <a:solidFill>
            <a:srgbClr val="028090"/>
          </a:solidFill>
          <a:ln w="12700">
            <a:solidFill>
              <a:srgbClr val="028090"/>
            </a:solidFill>
            <a:prstDash val="solid"/>
          </a:ln>
        </p:spPr>
        <p:txBody>
          <a:bodyPr/>
          <a:lstStyle/>
          <a:p>
            <a:endParaRPr lang="en-US"/>
          </a:p>
        </p:txBody>
      </p:sp>
      <p:sp>
        <p:nvSpPr>
          <p:cNvPr id="14" name="Text 12"/>
          <p:cNvSpPr/>
          <p:nvPr/>
        </p:nvSpPr>
        <p:spPr>
          <a:xfrm>
            <a:off x="1097280" y="3831336"/>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1783080" y="3694176"/>
            <a:ext cx="9281160" cy="777240"/>
          </a:xfrm>
          <a:prstGeom prst="rect">
            <a:avLst/>
          </a:prstGeom>
          <a:noFill/>
          <a:ln/>
        </p:spPr>
        <p:txBody>
          <a:bodyPr wrap="square" lIns="0" tIns="0" rIns="0" bIns="0" rtlCol="0" anchor="ctr"/>
          <a:lstStyle/>
          <a:p>
            <a:pPr marL="0" indent="0">
              <a:buNone/>
            </a:pPr>
            <a:r>
              <a:rPr lang="en-US" sz="1500" dirty="0">
                <a:solidFill>
                  <a:srgbClr val="0B1F2A"/>
                </a:solidFill>
                <a:latin typeface="Calibri" pitchFamily="34" charset="0"/>
                <a:ea typeface="Calibri" pitchFamily="34" charset="-122"/>
                <a:cs typeface="Calibri" pitchFamily="34" charset="-120"/>
              </a:rPr>
              <a:t>ML-driven threshold suggestion from fill curves</a:t>
            </a:r>
            <a:endParaRPr lang="en-US" sz="1500" dirty="0"/>
          </a:p>
        </p:txBody>
      </p:sp>
      <p:sp>
        <p:nvSpPr>
          <p:cNvPr id="16" name="Shape 14"/>
          <p:cNvSpPr/>
          <p:nvPr/>
        </p:nvSpPr>
        <p:spPr>
          <a:xfrm>
            <a:off x="914400" y="4581144"/>
            <a:ext cx="10332720" cy="777240"/>
          </a:xfrm>
          <a:prstGeom prst="rect">
            <a:avLst/>
          </a:prstGeom>
          <a:solidFill>
            <a:srgbClr val="F4F7F8"/>
          </a:solidFill>
          <a:ln w="9525">
            <a:solidFill>
              <a:srgbClr val="D6DEE2"/>
            </a:solidFill>
            <a:prstDash val="solid"/>
          </a:ln>
        </p:spPr>
        <p:txBody>
          <a:bodyPr/>
          <a:lstStyle/>
          <a:p>
            <a:endParaRPr lang="en-US"/>
          </a:p>
        </p:txBody>
      </p:sp>
      <p:sp>
        <p:nvSpPr>
          <p:cNvPr id="17" name="Shape 15"/>
          <p:cNvSpPr/>
          <p:nvPr/>
        </p:nvSpPr>
        <p:spPr>
          <a:xfrm>
            <a:off x="1097280" y="4718304"/>
            <a:ext cx="502920" cy="502920"/>
          </a:xfrm>
          <a:prstGeom prst="ellipse">
            <a:avLst/>
          </a:prstGeom>
          <a:solidFill>
            <a:srgbClr val="028090"/>
          </a:solidFill>
          <a:ln w="12700">
            <a:solidFill>
              <a:srgbClr val="028090"/>
            </a:solidFill>
            <a:prstDash val="solid"/>
          </a:ln>
        </p:spPr>
        <p:txBody>
          <a:bodyPr/>
          <a:lstStyle/>
          <a:p>
            <a:endParaRPr lang="en-US"/>
          </a:p>
        </p:txBody>
      </p:sp>
      <p:sp>
        <p:nvSpPr>
          <p:cNvPr id="18" name="Text 16"/>
          <p:cNvSpPr/>
          <p:nvPr/>
        </p:nvSpPr>
        <p:spPr>
          <a:xfrm>
            <a:off x="1097280" y="4718304"/>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1783080" y="4581144"/>
            <a:ext cx="9281160" cy="777240"/>
          </a:xfrm>
          <a:prstGeom prst="rect">
            <a:avLst/>
          </a:prstGeom>
          <a:noFill/>
          <a:ln/>
        </p:spPr>
        <p:txBody>
          <a:bodyPr wrap="square" lIns="0" tIns="0" rIns="0" bIns="0" rtlCol="0" anchor="ctr"/>
          <a:lstStyle/>
          <a:p>
            <a:pPr marL="0" indent="0">
              <a:buNone/>
            </a:pPr>
            <a:r>
              <a:rPr lang="en-US" sz="1500" dirty="0">
                <a:solidFill>
                  <a:srgbClr val="0B1F2A"/>
                </a:solidFill>
                <a:latin typeface="Calibri" pitchFamily="34" charset="0"/>
                <a:ea typeface="Calibri" pitchFamily="34" charset="-122"/>
                <a:cs typeface="Calibri" pitchFamily="34" charset="-120"/>
              </a:rPr>
              <a:t>Retrain waste type classification model on propriety dataset</a:t>
            </a:r>
            <a:endParaRPr lang="en-US" sz="1500" dirty="0"/>
          </a:p>
        </p:txBody>
      </p:sp>
      <p:sp>
        <p:nvSpPr>
          <p:cNvPr id="20" name="Shape 18"/>
          <p:cNvSpPr/>
          <p:nvPr/>
        </p:nvSpPr>
        <p:spPr>
          <a:xfrm>
            <a:off x="914400" y="5468112"/>
            <a:ext cx="10332720" cy="777240"/>
          </a:xfrm>
          <a:prstGeom prst="rect">
            <a:avLst/>
          </a:prstGeom>
          <a:solidFill>
            <a:srgbClr val="F4F7F8"/>
          </a:solidFill>
          <a:ln w="9525">
            <a:solidFill>
              <a:srgbClr val="D6DEE2"/>
            </a:solidFill>
            <a:prstDash val="solid"/>
          </a:ln>
        </p:spPr>
        <p:txBody>
          <a:bodyPr/>
          <a:lstStyle/>
          <a:p>
            <a:endParaRPr lang="en-US"/>
          </a:p>
        </p:txBody>
      </p:sp>
      <p:sp>
        <p:nvSpPr>
          <p:cNvPr id="21" name="Shape 19"/>
          <p:cNvSpPr/>
          <p:nvPr/>
        </p:nvSpPr>
        <p:spPr>
          <a:xfrm>
            <a:off x="1097280" y="5605272"/>
            <a:ext cx="502920" cy="502920"/>
          </a:xfrm>
          <a:prstGeom prst="ellipse">
            <a:avLst/>
          </a:prstGeom>
          <a:solidFill>
            <a:srgbClr val="028090"/>
          </a:solidFill>
          <a:ln w="12700">
            <a:solidFill>
              <a:srgbClr val="028090"/>
            </a:solidFill>
            <a:prstDash val="solid"/>
          </a:ln>
        </p:spPr>
        <p:txBody>
          <a:bodyPr/>
          <a:lstStyle/>
          <a:p>
            <a:endParaRPr lang="en-US"/>
          </a:p>
        </p:txBody>
      </p:sp>
      <p:sp>
        <p:nvSpPr>
          <p:cNvPr id="22" name="Text 20"/>
          <p:cNvSpPr/>
          <p:nvPr/>
        </p:nvSpPr>
        <p:spPr>
          <a:xfrm>
            <a:off x="1097280" y="5605272"/>
            <a:ext cx="50292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1783080" y="5468112"/>
            <a:ext cx="9281160" cy="777240"/>
          </a:xfrm>
          <a:prstGeom prst="rect">
            <a:avLst/>
          </a:prstGeom>
          <a:noFill/>
          <a:ln/>
        </p:spPr>
        <p:txBody>
          <a:bodyPr wrap="square" lIns="0" tIns="0" rIns="0" bIns="0" rtlCol="0" anchor="ctr"/>
          <a:lstStyle/>
          <a:p>
            <a:pPr marL="0" indent="0">
              <a:buNone/>
            </a:pPr>
            <a:r>
              <a:rPr lang="en-US" sz="1500" dirty="0">
                <a:solidFill>
                  <a:srgbClr val="0B1F2A"/>
                </a:solidFill>
                <a:latin typeface="Calibri" pitchFamily="34" charset="0"/>
                <a:ea typeface="Calibri" pitchFamily="34" charset="-122"/>
                <a:cs typeface="Calibri" pitchFamily="34" charset="-120"/>
              </a:rPr>
              <a:t>Offline-first worker app with Firestore persistence</a:t>
            </a:r>
            <a:endParaRPr lang="en-US" sz="15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marL="0" indent="0">
              <a:buNone/>
            </a:pPr>
            <a:r>
              <a:rPr lang="en-US" sz="900" dirty="0">
                <a:solidFill>
                  <a:srgbClr val="5C6B73"/>
                </a:solidFill>
                <a:latin typeface="Calibri" pitchFamily="34" charset="0"/>
                <a:ea typeface="Calibri" pitchFamily="34" charset="-122"/>
                <a:cs typeface="Calibri" pitchFamily="34" charset="-120"/>
              </a:rPr>
              <a:t>CleanCore  ·  FYP External Evaluation  ·  COMSATS Wah</a:t>
            </a:r>
            <a:endParaRPr lang="en-US" sz="900" dirty="0"/>
          </a:p>
        </p:txBody>
      </p:sp>
      <p:sp>
        <p:nvSpPr>
          <p:cNvPr id="25" name="Text 23"/>
          <p:cNvSpPr/>
          <p:nvPr/>
        </p:nvSpPr>
        <p:spPr>
          <a:xfrm>
            <a:off x="10728655" y="6446520"/>
            <a:ext cx="1097280" cy="274320"/>
          </a:xfrm>
          <a:prstGeom prst="rect">
            <a:avLst/>
          </a:prstGeom>
          <a:noFill/>
          <a:ln/>
        </p:spPr>
        <p:txBody>
          <a:bodyPr wrap="square" lIns="0" tIns="0" rIns="0" bIns="0" rtlCol="0" anchor="ctr"/>
          <a:lstStyle/>
          <a:p>
            <a:pPr marL="0" indent="0" algn="r">
              <a:buNone/>
            </a:pPr>
            <a:r>
              <a:rPr lang="en-US" sz="900" dirty="0">
                <a:solidFill>
                  <a:srgbClr val="5C6B73"/>
                </a:solidFill>
                <a:latin typeface="Calibri" pitchFamily="34" charset="0"/>
                <a:ea typeface="Calibri" pitchFamily="34" charset="-122"/>
                <a:cs typeface="Calibri" pitchFamily="34" charset="-120"/>
              </a:rPr>
              <a:t>21 / 22</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2">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54864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 name="Shape 1"/>
          <p:cNvSpPr/>
          <p:nvPr/>
        </p:nvSpPr>
        <p:spPr>
          <a:xfrm>
            <a:off x="96012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 name="Shape 2"/>
          <p:cNvSpPr/>
          <p:nvPr/>
        </p:nvSpPr>
        <p:spPr>
          <a:xfrm>
            <a:off x="137160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5" name="Shape 3"/>
          <p:cNvSpPr/>
          <p:nvPr/>
        </p:nvSpPr>
        <p:spPr>
          <a:xfrm>
            <a:off x="1783080" y="9144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6" name="Shape 4"/>
          <p:cNvSpPr/>
          <p:nvPr/>
        </p:nvSpPr>
        <p:spPr>
          <a:xfrm>
            <a:off x="54864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7" name="Shape 5"/>
          <p:cNvSpPr/>
          <p:nvPr/>
        </p:nvSpPr>
        <p:spPr>
          <a:xfrm>
            <a:off x="96012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8" name="Shape 6"/>
          <p:cNvSpPr/>
          <p:nvPr/>
        </p:nvSpPr>
        <p:spPr>
          <a:xfrm>
            <a:off x="137160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9" name="Shape 7"/>
          <p:cNvSpPr/>
          <p:nvPr/>
        </p:nvSpPr>
        <p:spPr>
          <a:xfrm>
            <a:off x="1783080" y="13258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0" name="Shape 8"/>
          <p:cNvSpPr/>
          <p:nvPr/>
        </p:nvSpPr>
        <p:spPr>
          <a:xfrm>
            <a:off x="54864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1" name="Shape 9"/>
          <p:cNvSpPr/>
          <p:nvPr/>
        </p:nvSpPr>
        <p:spPr>
          <a:xfrm>
            <a:off x="96012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2" name="Shape 10"/>
          <p:cNvSpPr/>
          <p:nvPr/>
        </p:nvSpPr>
        <p:spPr>
          <a:xfrm>
            <a:off x="137160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3" name="Shape 11"/>
          <p:cNvSpPr/>
          <p:nvPr/>
        </p:nvSpPr>
        <p:spPr>
          <a:xfrm>
            <a:off x="1783080" y="17373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4" name="Shape 12"/>
          <p:cNvSpPr/>
          <p:nvPr/>
        </p:nvSpPr>
        <p:spPr>
          <a:xfrm>
            <a:off x="54864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5" name="Shape 13"/>
          <p:cNvSpPr/>
          <p:nvPr/>
        </p:nvSpPr>
        <p:spPr>
          <a:xfrm>
            <a:off x="96012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6" name="Shape 14"/>
          <p:cNvSpPr/>
          <p:nvPr/>
        </p:nvSpPr>
        <p:spPr>
          <a:xfrm>
            <a:off x="137160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7" name="Shape 15"/>
          <p:cNvSpPr/>
          <p:nvPr/>
        </p:nvSpPr>
        <p:spPr>
          <a:xfrm>
            <a:off x="1783080" y="21488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8" name="Shape 16"/>
          <p:cNvSpPr/>
          <p:nvPr/>
        </p:nvSpPr>
        <p:spPr>
          <a:xfrm>
            <a:off x="54864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19" name="Shape 17"/>
          <p:cNvSpPr/>
          <p:nvPr/>
        </p:nvSpPr>
        <p:spPr>
          <a:xfrm>
            <a:off x="96012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0" name="Shape 18"/>
          <p:cNvSpPr/>
          <p:nvPr/>
        </p:nvSpPr>
        <p:spPr>
          <a:xfrm>
            <a:off x="137160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1" name="Shape 19"/>
          <p:cNvSpPr/>
          <p:nvPr/>
        </p:nvSpPr>
        <p:spPr>
          <a:xfrm>
            <a:off x="1783080" y="25603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2" name="Shape 20"/>
          <p:cNvSpPr/>
          <p:nvPr/>
        </p:nvSpPr>
        <p:spPr>
          <a:xfrm>
            <a:off x="54864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3" name="Shape 21"/>
          <p:cNvSpPr/>
          <p:nvPr/>
        </p:nvSpPr>
        <p:spPr>
          <a:xfrm>
            <a:off x="96012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4" name="Shape 22"/>
          <p:cNvSpPr/>
          <p:nvPr/>
        </p:nvSpPr>
        <p:spPr>
          <a:xfrm>
            <a:off x="137160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5" name="Shape 23"/>
          <p:cNvSpPr/>
          <p:nvPr/>
        </p:nvSpPr>
        <p:spPr>
          <a:xfrm>
            <a:off x="1783080" y="29718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6" name="Shape 24"/>
          <p:cNvSpPr/>
          <p:nvPr/>
        </p:nvSpPr>
        <p:spPr>
          <a:xfrm>
            <a:off x="54864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7" name="Shape 25"/>
          <p:cNvSpPr/>
          <p:nvPr/>
        </p:nvSpPr>
        <p:spPr>
          <a:xfrm>
            <a:off x="96012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8" name="Shape 26"/>
          <p:cNvSpPr/>
          <p:nvPr/>
        </p:nvSpPr>
        <p:spPr>
          <a:xfrm>
            <a:off x="137160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29" name="Shape 27"/>
          <p:cNvSpPr/>
          <p:nvPr/>
        </p:nvSpPr>
        <p:spPr>
          <a:xfrm>
            <a:off x="1783080" y="338328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0" name="Shape 28"/>
          <p:cNvSpPr/>
          <p:nvPr/>
        </p:nvSpPr>
        <p:spPr>
          <a:xfrm>
            <a:off x="54864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1" name="Shape 29"/>
          <p:cNvSpPr/>
          <p:nvPr/>
        </p:nvSpPr>
        <p:spPr>
          <a:xfrm>
            <a:off x="96012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2" name="Shape 30"/>
          <p:cNvSpPr/>
          <p:nvPr/>
        </p:nvSpPr>
        <p:spPr>
          <a:xfrm>
            <a:off x="137160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3" name="Shape 31"/>
          <p:cNvSpPr/>
          <p:nvPr/>
        </p:nvSpPr>
        <p:spPr>
          <a:xfrm>
            <a:off x="1783080" y="379476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4" name="Shape 32"/>
          <p:cNvSpPr/>
          <p:nvPr/>
        </p:nvSpPr>
        <p:spPr>
          <a:xfrm>
            <a:off x="54864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5" name="Shape 33"/>
          <p:cNvSpPr/>
          <p:nvPr/>
        </p:nvSpPr>
        <p:spPr>
          <a:xfrm>
            <a:off x="96012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6" name="Shape 34"/>
          <p:cNvSpPr/>
          <p:nvPr/>
        </p:nvSpPr>
        <p:spPr>
          <a:xfrm>
            <a:off x="137160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7" name="Shape 35"/>
          <p:cNvSpPr/>
          <p:nvPr/>
        </p:nvSpPr>
        <p:spPr>
          <a:xfrm>
            <a:off x="1783080" y="420624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8" name="Shape 36"/>
          <p:cNvSpPr/>
          <p:nvPr/>
        </p:nvSpPr>
        <p:spPr>
          <a:xfrm>
            <a:off x="548640" y="46177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39" name="Shape 37"/>
          <p:cNvSpPr/>
          <p:nvPr/>
        </p:nvSpPr>
        <p:spPr>
          <a:xfrm>
            <a:off x="960120" y="46177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0" name="Shape 38"/>
          <p:cNvSpPr/>
          <p:nvPr/>
        </p:nvSpPr>
        <p:spPr>
          <a:xfrm>
            <a:off x="1371600" y="46177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1" name="Shape 39"/>
          <p:cNvSpPr/>
          <p:nvPr/>
        </p:nvSpPr>
        <p:spPr>
          <a:xfrm>
            <a:off x="1783080" y="461772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2" name="Shape 40"/>
          <p:cNvSpPr/>
          <p:nvPr/>
        </p:nvSpPr>
        <p:spPr>
          <a:xfrm>
            <a:off x="548640" y="50292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3" name="Shape 41"/>
          <p:cNvSpPr/>
          <p:nvPr/>
        </p:nvSpPr>
        <p:spPr>
          <a:xfrm>
            <a:off x="960120" y="50292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4" name="Shape 42"/>
          <p:cNvSpPr/>
          <p:nvPr/>
        </p:nvSpPr>
        <p:spPr>
          <a:xfrm>
            <a:off x="1371600" y="50292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5" name="Shape 43"/>
          <p:cNvSpPr/>
          <p:nvPr/>
        </p:nvSpPr>
        <p:spPr>
          <a:xfrm>
            <a:off x="1783080" y="5029200"/>
            <a:ext cx="73152" cy="73152"/>
          </a:xfrm>
          <a:prstGeom prst="ellipse">
            <a:avLst/>
          </a:prstGeom>
          <a:solidFill>
            <a:srgbClr val="00A896">
              <a:alpha val="30000"/>
            </a:srgbClr>
          </a:solidFill>
          <a:ln w="12700">
            <a:solidFill>
              <a:srgbClr val="00A896">
                <a:alpha val="30000"/>
              </a:srgbClr>
            </a:solidFill>
            <a:prstDash val="solid"/>
          </a:ln>
        </p:spPr>
        <p:txBody>
          <a:bodyPr/>
          <a:lstStyle/>
          <a:p>
            <a:endParaRPr lang="en-US"/>
          </a:p>
        </p:txBody>
      </p:sp>
      <p:sp>
        <p:nvSpPr>
          <p:cNvPr id="46" name="Text 44"/>
          <p:cNvSpPr/>
          <p:nvPr/>
        </p:nvSpPr>
        <p:spPr>
          <a:xfrm>
            <a:off x="3200400" y="1645920"/>
            <a:ext cx="8229600" cy="1463040"/>
          </a:xfrm>
          <a:prstGeom prst="rect">
            <a:avLst/>
          </a:prstGeom>
          <a:noFill/>
          <a:ln/>
        </p:spPr>
        <p:txBody>
          <a:bodyPr wrap="square" lIns="0" tIns="0" rIns="0" bIns="0" rtlCol="0" anchor="ctr"/>
          <a:lstStyle/>
          <a:p>
            <a:pPr marL="0" indent="0">
              <a:buNone/>
            </a:pPr>
            <a:r>
              <a:rPr lang="en-US" sz="11000" b="1" dirty="0">
                <a:solidFill>
                  <a:srgbClr val="FFFFFF"/>
                </a:solidFill>
                <a:latin typeface="Calibri" pitchFamily="34" charset="0"/>
                <a:ea typeface="Calibri" pitchFamily="34" charset="-122"/>
                <a:cs typeface="Calibri" pitchFamily="34" charset="-120"/>
              </a:rPr>
              <a:t>Q &amp; A</a:t>
            </a:r>
            <a:endParaRPr lang="en-US" sz="11000" dirty="0"/>
          </a:p>
        </p:txBody>
      </p:sp>
      <p:sp>
        <p:nvSpPr>
          <p:cNvPr id="47" name="Shape 45"/>
          <p:cNvSpPr/>
          <p:nvPr/>
        </p:nvSpPr>
        <p:spPr>
          <a:xfrm>
            <a:off x="3200400" y="3154680"/>
            <a:ext cx="548640" cy="54864"/>
          </a:xfrm>
          <a:prstGeom prst="rect">
            <a:avLst/>
          </a:prstGeom>
          <a:solidFill>
            <a:srgbClr val="F4A261"/>
          </a:solidFill>
          <a:ln w="12700">
            <a:solidFill>
              <a:srgbClr val="F4A261"/>
            </a:solidFill>
            <a:prstDash val="solid"/>
          </a:ln>
        </p:spPr>
        <p:txBody>
          <a:bodyPr/>
          <a:lstStyle/>
          <a:p>
            <a:endParaRPr lang="en-US"/>
          </a:p>
        </p:txBody>
      </p:sp>
      <p:sp>
        <p:nvSpPr>
          <p:cNvPr id="48" name="Text 46"/>
          <p:cNvSpPr/>
          <p:nvPr/>
        </p:nvSpPr>
        <p:spPr>
          <a:xfrm>
            <a:off x="3200400" y="3383280"/>
            <a:ext cx="8229600" cy="365760"/>
          </a:xfrm>
          <a:prstGeom prst="rect">
            <a:avLst/>
          </a:prstGeom>
          <a:noFill/>
          <a:ln/>
        </p:spPr>
        <p:txBody>
          <a:bodyPr wrap="square" lIns="0" tIns="0" rIns="0" bIns="0" rtlCol="0" anchor="ctr"/>
          <a:lstStyle/>
          <a:p>
            <a:pPr marL="0" indent="0">
              <a:buNone/>
            </a:pPr>
            <a:r>
              <a:rPr lang="en-US" sz="1400" kern="0" spc="300" dirty="0">
                <a:solidFill>
                  <a:srgbClr val="00A896"/>
                </a:solidFill>
                <a:latin typeface="Calibri" pitchFamily="34" charset="0"/>
                <a:ea typeface="Calibri" pitchFamily="34" charset="-122"/>
                <a:cs typeface="Calibri" pitchFamily="34" charset="-120"/>
              </a:rPr>
              <a:t>Ready to discuss:</a:t>
            </a:r>
            <a:endParaRPr lang="en-US" sz="1400" dirty="0"/>
          </a:p>
        </p:txBody>
      </p:sp>
      <p:sp>
        <p:nvSpPr>
          <p:cNvPr id="49" name="Shape 47"/>
          <p:cNvSpPr/>
          <p:nvPr/>
        </p:nvSpPr>
        <p:spPr>
          <a:xfrm>
            <a:off x="3200400" y="3886200"/>
            <a:ext cx="1554480" cy="502920"/>
          </a:xfrm>
          <a:prstGeom prst="roundRect">
            <a:avLst>
              <a:gd name="adj" fmla="val 9091"/>
            </a:avLst>
          </a:prstGeom>
          <a:solidFill>
            <a:srgbClr val="0B1F2A"/>
          </a:solidFill>
          <a:ln w="12700">
            <a:solidFill>
              <a:srgbClr val="00A896"/>
            </a:solidFill>
            <a:prstDash val="solid"/>
          </a:ln>
        </p:spPr>
        <p:txBody>
          <a:bodyPr/>
          <a:lstStyle/>
          <a:p>
            <a:endParaRPr lang="en-US"/>
          </a:p>
        </p:txBody>
      </p:sp>
      <p:sp>
        <p:nvSpPr>
          <p:cNvPr id="50" name="Text 48"/>
          <p:cNvSpPr/>
          <p:nvPr/>
        </p:nvSpPr>
        <p:spPr>
          <a:xfrm>
            <a:off x="3200400" y="3886200"/>
            <a:ext cx="155448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Architecture</a:t>
            </a:r>
            <a:endParaRPr lang="en-US" sz="1100" dirty="0"/>
          </a:p>
        </p:txBody>
      </p:sp>
      <p:sp>
        <p:nvSpPr>
          <p:cNvPr id="51" name="Shape 49"/>
          <p:cNvSpPr/>
          <p:nvPr/>
        </p:nvSpPr>
        <p:spPr>
          <a:xfrm>
            <a:off x="4892040" y="3886200"/>
            <a:ext cx="1554480" cy="502920"/>
          </a:xfrm>
          <a:prstGeom prst="roundRect">
            <a:avLst>
              <a:gd name="adj" fmla="val 9091"/>
            </a:avLst>
          </a:prstGeom>
          <a:solidFill>
            <a:srgbClr val="0B1F2A"/>
          </a:solidFill>
          <a:ln w="12700">
            <a:solidFill>
              <a:srgbClr val="00A896"/>
            </a:solidFill>
            <a:prstDash val="solid"/>
          </a:ln>
        </p:spPr>
        <p:txBody>
          <a:bodyPr/>
          <a:lstStyle/>
          <a:p>
            <a:endParaRPr lang="en-US"/>
          </a:p>
        </p:txBody>
      </p:sp>
      <p:sp>
        <p:nvSpPr>
          <p:cNvPr id="52" name="Text 50"/>
          <p:cNvSpPr/>
          <p:nvPr/>
        </p:nvSpPr>
        <p:spPr>
          <a:xfrm>
            <a:off x="4892040" y="3886200"/>
            <a:ext cx="155448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AI pipeline</a:t>
            </a:r>
            <a:endParaRPr lang="en-US" sz="1100" dirty="0"/>
          </a:p>
        </p:txBody>
      </p:sp>
      <p:sp>
        <p:nvSpPr>
          <p:cNvPr id="53" name="Shape 51"/>
          <p:cNvSpPr/>
          <p:nvPr/>
        </p:nvSpPr>
        <p:spPr>
          <a:xfrm>
            <a:off x="6583680" y="3886200"/>
            <a:ext cx="1554480" cy="502920"/>
          </a:xfrm>
          <a:prstGeom prst="roundRect">
            <a:avLst>
              <a:gd name="adj" fmla="val 9091"/>
            </a:avLst>
          </a:prstGeom>
          <a:solidFill>
            <a:srgbClr val="0B1F2A"/>
          </a:solidFill>
          <a:ln w="12700">
            <a:solidFill>
              <a:srgbClr val="00A896"/>
            </a:solidFill>
            <a:prstDash val="solid"/>
          </a:ln>
        </p:spPr>
        <p:txBody>
          <a:bodyPr/>
          <a:lstStyle/>
          <a:p>
            <a:endParaRPr lang="en-US"/>
          </a:p>
        </p:txBody>
      </p:sp>
      <p:sp>
        <p:nvSpPr>
          <p:cNvPr id="54" name="Text 52"/>
          <p:cNvSpPr/>
          <p:nvPr/>
        </p:nvSpPr>
        <p:spPr>
          <a:xfrm>
            <a:off x="6583680" y="3886200"/>
            <a:ext cx="155448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Routing &amp; concurrency</a:t>
            </a:r>
            <a:endParaRPr lang="en-US" sz="1100" dirty="0"/>
          </a:p>
        </p:txBody>
      </p:sp>
      <p:sp>
        <p:nvSpPr>
          <p:cNvPr id="55" name="Shape 53"/>
          <p:cNvSpPr/>
          <p:nvPr/>
        </p:nvSpPr>
        <p:spPr>
          <a:xfrm>
            <a:off x="8275320" y="3886200"/>
            <a:ext cx="1554480" cy="502920"/>
          </a:xfrm>
          <a:prstGeom prst="roundRect">
            <a:avLst>
              <a:gd name="adj" fmla="val 9091"/>
            </a:avLst>
          </a:prstGeom>
          <a:solidFill>
            <a:srgbClr val="0B1F2A"/>
          </a:solidFill>
          <a:ln w="12700">
            <a:solidFill>
              <a:srgbClr val="00A896"/>
            </a:solidFill>
            <a:prstDash val="solid"/>
          </a:ln>
        </p:spPr>
        <p:txBody>
          <a:bodyPr/>
          <a:lstStyle/>
          <a:p>
            <a:endParaRPr lang="en-US"/>
          </a:p>
        </p:txBody>
      </p:sp>
      <p:sp>
        <p:nvSpPr>
          <p:cNvPr id="56" name="Text 54"/>
          <p:cNvSpPr/>
          <p:nvPr/>
        </p:nvSpPr>
        <p:spPr>
          <a:xfrm>
            <a:off x="8275320" y="3886200"/>
            <a:ext cx="155448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Compliance &amp; audit</a:t>
            </a:r>
            <a:endParaRPr lang="en-US" sz="1100" dirty="0"/>
          </a:p>
        </p:txBody>
      </p:sp>
      <p:sp>
        <p:nvSpPr>
          <p:cNvPr id="57" name="Shape 55"/>
          <p:cNvSpPr/>
          <p:nvPr/>
        </p:nvSpPr>
        <p:spPr>
          <a:xfrm>
            <a:off x="9966960" y="3886200"/>
            <a:ext cx="1554480" cy="502920"/>
          </a:xfrm>
          <a:prstGeom prst="roundRect">
            <a:avLst>
              <a:gd name="adj" fmla="val 9091"/>
            </a:avLst>
          </a:prstGeom>
          <a:solidFill>
            <a:srgbClr val="0B1F2A"/>
          </a:solidFill>
          <a:ln w="12700">
            <a:solidFill>
              <a:srgbClr val="00A896"/>
            </a:solidFill>
            <a:prstDash val="solid"/>
          </a:ln>
        </p:spPr>
        <p:txBody>
          <a:bodyPr/>
          <a:lstStyle/>
          <a:p>
            <a:endParaRPr lang="en-US"/>
          </a:p>
        </p:txBody>
      </p:sp>
      <p:sp>
        <p:nvSpPr>
          <p:cNvPr id="58" name="Text 56"/>
          <p:cNvSpPr/>
          <p:nvPr/>
        </p:nvSpPr>
        <p:spPr>
          <a:xfrm>
            <a:off x="9966960" y="3886200"/>
            <a:ext cx="1554480" cy="502920"/>
          </a:xfrm>
          <a:prstGeom prst="rect">
            <a:avLst/>
          </a:prstGeom>
          <a:noFill/>
          <a:ln/>
        </p:spPr>
        <p:txBody>
          <a:bodyPr wrap="square" lIns="0" tIns="0" rIns="0" bIns="0"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Limitations &amp; future direction</a:t>
            </a:r>
            <a:endParaRPr lang="en-US" sz="1100" dirty="0"/>
          </a:p>
        </p:txBody>
      </p:sp>
      <p:sp>
        <p:nvSpPr>
          <p:cNvPr id="59" name="Text 57"/>
          <p:cNvSpPr/>
          <p:nvPr/>
        </p:nvSpPr>
        <p:spPr>
          <a:xfrm>
            <a:off x="3200400" y="6126480"/>
            <a:ext cx="8503920" cy="274320"/>
          </a:xfrm>
          <a:prstGeom prst="rect">
            <a:avLst/>
          </a:prstGeom>
          <a:noFill/>
          <a:ln/>
        </p:spPr>
        <p:txBody>
          <a:bodyPr wrap="square" lIns="0" tIns="0" rIns="0" bIns="0" rtlCol="0" anchor="ctr"/>
          <a:lstStyle/>
          <a:p>
            <a:pPr marL="0" indent="0">
              <a:buNone/>
            </a:pPr>
            <a:r>
              <a:rPr lang="en-US" sz="1100" dirty="0">
                <a:solidFill>
                  <a:srgbClr val="9FB3BA"/>
                </a:solidFill>
                <a:latin typeface="Calibri" pitchFamily="34" charset="0"/>
                <a:ea typeface="Calibri" pitchFamily="34" charset="-122"/>
                <a:cs typeface="Calibri" pitchFamily="34" charset="-120"/>
              </a:rPr>
              <a:t>Ayesha Noman · Ayesha Nadeem   ·   Supervisor: Ms. Maha Rasheed   ·   COMSATS Wah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2141</Words>
  <Application>Microsoft Office PowerPoint</Application>
  <PresentationFormat>Widescreen</PresentationFormat>
  <Paragraphs>313</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CleanCore — AI-Powered Smart Waste Management</dc:title>
  <dc:subject>PptxGenJS Presentation</dc:subject>
  <dc:creator>Ayesha Nadeem, Ayesha Noman</dc:creator>
  <cp:lastModifiedBy>Ayesha Noman</cp:lastModifiedBy>
  <cp:revision>2</cp:revision>
  <dcterms:created xsi:type="dcterms:W3CDTF">2026-05-17T15:49:26Z</dcterms:created>
  <dcterms:modified xsi:type="dcterms:W3CDTF">2026-05-17T17:24:21Z</dcterms:modified>
</cp:coreProperties>
</file>